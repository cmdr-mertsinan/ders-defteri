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0" r:id="rId7"/>
    <p:sldId id="281" r:id="rId8"/>
    <p:sldId id="282" r:id="rId9"/>
    <p:sldId id="283" r:id="rId10"/>
    <p:sldId id="284" r:id="rId11"/>
    <p:sldId id="295" r:id="rId12"/>
    <p:sldId id="296" r:id="rId13"/>
    <p:sldId id="285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262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274" r:id="rId36"/>
    <p:sldId id="320" r:id="rId37"/>
    <p:sldId id="318" r:id="rId38"/>
    <p:sldId id="275" r:id="rId39"/>
    <p:sldId id="321" r:id="rId40"/>
    <p:sldId id="276" r:id="rId41"/>
    <p:sldId id="277" r:id="rId42"/>
    <p:sldId id="319" r:id="rId43"/>
    <p:sldId id="27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felsefe.gen.tr/ibn-i-heysem-kimdir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D07E-FCEC-7B03-E1F7-2E67A637B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376" y="802298"/>
            <a:ext cx="11010121" cy="2541431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Century Gothic" panose="020B0502020202020204" pitchFamily="34" charset="0"/>
              </a:rPr>
              <a:t>Sosyolojiye</a:t>
            </a:r>
            <a:r>
              <a:rPr lang="en-US" sz="4000" b="1" dirty="0">
                <a:latin typeface="Century Gothic" panose="020B0502020202020204" pitchFamily="34" charset="0"/>
              </a:rPr>
              <a:t> </a:t>
            </a:r>
            <a:r>
              <a:rPr lang="en-US" sz="4000" b="1" dirty="0" err="1">
                <a:latin typeface="Century Gothic" panose="020B0502020202020204" pitchFamily="34" charset="0"/>
              </a:rPr>
              <a:t>Giriş</a:t>
            </a:r>
            <a:r>
              <a:rPr lang="en-US" sz="4000" b="1" dirty="0">
                <a:latin typeface="Century Gothic" panose="020B0502020202020204" pitchFamily="34" charset="0"/>
              </a:rPr>
              <a:t> </a:t>
            </a:r>
            <a:r>
              <a:rPr lang="en-US" sz="4000" b="1" dirty="0" err="1">
                <a:latin typeface="Century Gothic" panose="020B0502020202020204" pitchFamily="34" charset="0"/>
              </a:rPr>
              <a:t>ve</a:t>
            </a:r>
            <a:r>
              <a:rPr lang="en-US" sz="4000" b="1" dirty="0">
                <a:latin typeface="Century Gothic" panose="020B0502020202020204" pitchFamily="34" charset="0"/>
              </a:rPr>
              <a:t> </a:t>
            </a:r>
            <a:r>
              <a:rPr lang="en-US" sz="4000" b="1" dirty="0" err="1">
                <a:latin typeface="Century Gothic" panose="020B0502020202020204" pitchFamily="34" charset="0"/>
              </a:rPr>
              <a:t>Sosyolojinin</a:t>
            </a:r>
            <a:r>
              <a:rPr lang="en-US" sz="4000" b="1" dirty="0">
                <a:latin typeface="Century Gothic" panose="020B0502020202020204" pitchFamily="34" charset="0"/>
              </a:rPr>
              <a:t> </a:t>
            </a:r>
            <a:r>
              <a:rPr lang="tr-TR" sz="4000" b="1" dirty="0">
                <a:latin typeface="Century Gothic" panose="020B0502020202020204" pitchFamily="34" charset="0"/>
              </a:rPr>
              <a:t>                             		</a:t>
            </a:r>
            <a:r>
              <a:rPr lang="en-US" sz="4000" b="1" dirty="0" err="1">
                <a:latin typeface="Century Gothic" panose="020B0502020202020204" pitchFamily="34" charset="0"/>
              </a:rPr>
              <a:t>Sosyal</a:t>
            </a:r>
            <a:r>
              <a:rPr lang="en-US" sz="4000" b="1" dirty="0">
                <a:latin typeface="Century Gothic" panose="020B0502020202020204" pitchFamily="34" charset="0"/>
              </a:rPr>
              <a:t> </a:t>
            </a:r>
            <a:r>
              <a:rPr lang="en-US" sz="4000" b="1" dirty="0" err="1">
                <a:latin typeface="Century Gothic" panose="020B0502020202020204" pitchFamily="34" charset="0"/>
              </a:rPr>
              <a:t>Bilimlerle</a:t>
            </a:r>
            <a:r>
              <a:rPr lang="en-US" sz="4000" b="1" dirty="0">
                <a:latin typeface="Century Gothic" panose="020B0502020202020204" pitchFamily="34" charset="0"/>
              </a:rPr>
              <a:t> </a:t>
            </a:r>
            <a:r>
              <a:rPr lang="en-US" sz="4000" b="1" dirty="0" err="1">
                <a:latin typeface="Century Gothic" panose="020B0502020202020204" pitchFamily="34" charset="0"/>
              </a:rPr>
              <a:t>İlişkisi</a:t>
            </a: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C7CDF-82C9-80A9-DA90-1E77697AF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8376" y="4012163"/>
            <a:ext cx="10056476" cy="1091682"/>
          </a:xfrm>
        </p:spPr>
        <p:txBody>
          <a:bodyPr>
            <a:normAutofit fontScale="32500" lnSpcReduction="20000"/>
          </a:bodyPr>
          <a:lstStyle/>
          <a:p>
            <a:r>
              <a:rPr lang="tr-TR" dirty="0"/>
              <a:t> </a:t>
            </a:r>
            <a:endParaRPr lang="en-US" dirty="0"/>
          </a:p>
          <a:p>
            <a:r>
              <a:rPr lang="en-US" i="1" dirty="0"/>
              <a:t> </a:t>
            </a:r>
            <a:r>
              <a:rPr lang="tr-TR" sz="5500" i="1" dirty="0">
                <a:latin typeface="Century Gothic" panose="020B0502020202020204" pitchFamily="34" charset="0"/>
              </a:rPr>
              <a:t>yrd</a:t>
            </a:r>
            <a:r>
              <a:rPr lang="en-US" sz="5500" i="1" dirty="0">
                <a:latin typeface="Century Gothic" panose="020B0502020202020204" pitchFamily="34" charset="0"/>
              </a:rPr>
              <a:t>.</a:t>
            </a:r>
            <a:r>
              <a:rPr lang="tr-TR" sz="5500" i="1" dirty="0">
                <a:latin typeface="Century Gothic" panose="020B0502020202020204" pitchFamily="34" charset="0"/>
              </a:rPr>
              <a:t>doç.</a:t>
            </a:r>
            <a:r>
              <a:rPr lang="en-US" sz="5500" i="1" dirty="0">
                <a:latin typeface="Century Gothic" panose="020B0502020202020204" pitchFamily="34" charset="0"/>
              </a:rPr>
              <a:t> Dr. </a:t>
            </a:r>
            <a:r>
              <a:rPr lang="tr-TR" sz="5500" i="1" dirty="0">
                <a:latin typeface="Century Gothic" panose="020B0502020202020204" pitchFamily="34" charset="0"/>
              </a:rPr>
              <a:t>Sibel solyalı</a:t>
            </a:r>
          </a:p>
          <a:p>
            <a:r>
              <a:rPr lang="tr-TR" sz="5500" i="1" dirty="0">
                <a:latin typeface="Century Gothic" panose="020B0502020202020204" pitchFamily="34" charset="0"/>
              </a:rPr>
              <a:t> lefke avrupa </a:t>
            </a:r>
            <a:r>
              <a:rPr lang="en-US" sz="5500" i="1" dirty="0" err="1">
                <a:latin typeface="Century Gothic" panose="020B0502020202020204" pitchFamily="34" charset="0"/>
              </a:rPr>
              <a:t>Üniversitesi</a:t>
            </a:r>
            <a:r>
              <a:rPr lang="en-US" sz="5500" i="1" dirty="0">
                <a:latin typeface="Century Gothic" panose="020B0502020202020204" pitchFamily="34" charset="0"/>
              </a:rPr>
              <a:t> </a:t>
            </a:r>
            <a:r>
              <a:rPr lang="en-US" sz="5500" i="1" dirty="0" err="1">
                <a:latin typeface="Century Gothic" panose="020B0502020202020204" pitchFamily="34" charset="0"/>
              </a:rPr>
              <a:t>Eğitim</a:t>
            </a:r>
            <a:r>
              <a:rPr lang="en-US" sz="5500" i="1" dirty="0">
                <a:latin typeface="Century Gothic" panose="020B0502020202020204" pitchFamily="34" charset="0"/>
              </a:rPr>
              <a:t>  </a:t>
            </a:r>
            <a:r>
              <a:rPr lang="en-US" sz="5500" i="1" dirty="0" err="1">
                <a:latin typeface="Century Gothic" panose="020B0502020202020204" pitchFamily="34" charset="0"/>
              </a:rPr>
              <a:t>Fakültesi</a:t>
            </a:r>
            <a:endParaRPr lang="en-US" sz="5500" i="1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D8B54-19D1-2E03-43BA-D4A79620D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82" y="236501"/>
            <a:ext cx="2034073" cy="1642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9B3288-8DCF-E3AC-178F-671A36651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49" y="265998"/>
            <a:ext cx="2034073" cy="164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5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1E9B3-A0C9-52B8-8734-7E6775B5E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tr-TR" dirty="0"/>
              <a:t>       </a:t>
            </a:r>
            <a:r>
              <a:rPr lang="en-US" dirty="0"/>
              <a:t> </a:t>
            </a:r>
            <a:r>
              <a:rPr lang="tr-TR" dirty="0"/>
              <a:t>            </a:t>
            </a:r>
            <a:r>
              <a:rPr lang="en-US" sz="4800" b="1" dirty="0" err="1">
                <a:latin typeface="Century Gothic" panose="020B0502020202020204" pitchFamily="34" charset="0"/>
              </a:rPr>
              <a:t>Sosyoloji</a:t>
            </a:r>
            <a:r>
              <a:rPr lang="en-US" sz="4800" b="1" dirty="0">
                <a:latin typeface="Century Gothic" panose="020B0502020202020204" pitchFamily="34" charset="0"/>
              </a:rPr>
              <a:t> / </a:t>
            </a:r>
            <a:r>
              <a:rPr lang="en-US" sz="4800" b="1" dirty="0" err="1">
                <a:latin typeface="Century Gothic" panose="020B0502020202020204" pitchFamily="34" charset="0"/>
              </a:rPr>
              <a:t>Toplumbilim</a:t>
            </a:r>
            <a:r>
              <a:rPr lang="en-US" sz="4800" b="1" dirty="0">
                <a:latin typeface="Century Gothic" panose="020B0502020202020204" pitchFamily="34" charset="0"/>
              </a:rPr>
              <a:t> </a:t>
            </a:r>
            <a:endParaRPr lang="en-US" sz="4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567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D2AE9-10F1-2291-CAA7-C77002184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82556"/>
            <a:ext cx="9603275" cy="5083790"/>
          </a:xfrm>
        </p:spPr>
        <p:txBody>
          <a:bodyPr/>
          <a:lstStyle/>
          <a:p>
            <a:r>
              <a:rPr lang="en-US" b="1" dirty="0" err="1"/>
              <a:t>Bilim</a:t>
            </a:r>
            <a:r>
              <a:rPr lang="en-US" b="1" dirty="0"/>
              <a:t> Nedir?</a:t>
            </a:r>
            <a:endParaRPr lang="en-US" dirty="0"/>
          </a:p>
          <a:p>
            <a:r>
              <a:rPr lang="en-US" dirty="0">
                <a:latin typeface="Century Gothic" panose="020B0502020202020204" pitchFamily="34" charset="0"/>
              </a:rPr>
              <a:t>En </a:t>
            </a:r>
            <a:r>
              <a:rPr lang="en-US" dirty="0" err="1">
                <a:latin typeface="Century Gothic" panose="020B0502020202020204" pitchFamily="34" charset="0"/>
              </a:rPr>
              <a:t>geniş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anlamı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ile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sistematik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bilgi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kümesidir</a:t>
            </a:r>
            <a:r>
              <a:rPr lang="en-US" dirty="0">
                <a:latin typeface="Century Gothic" panose="020B0502020202020204" pitchFamily="34" charset="0"/>
              </a:rPr>
              <a:t>. </a:t>
            </a:r>
          </a:p>
          <a:p>
            <a:r>
              <a:rPr lang="en-US" dirty="0">
                <a:latin typeface="Century Gothic" panose="020B0502020202020204" pitchFamily="34" charset="0"/>
              </a:rPr>
              <a:t>Daha </a:t>
            </a:r>
            <a:r>
              <a:rPr lang="en-US" dirty="0" err="1">
                <a:latin typeface="Century Gothic" panose="020B0502020202020204" pitchFamily="34" charset="0"/>
              </a:rPr>
              <a:t>dar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bir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tanımla</a:t>
            </a:r>
            <a:r>
              <a:rPr lang="en-US" dirty="0">
                <a:latin typeface="Century Gothic" panose="020B0502020202020204" pitchFamily="34" charset="0"/>
              </a:rPr>
              <a:t>; </a:t>
            </a:r>
            <a:r>
              <a:rPr lang="en-US" dirty="0" err="1">
                <a:latin typeface="Century Gothic" panose="020B0502020202020204" pitchFamily="34" charset="0"/>
              </a:rPr>
              <a:t>bilim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b="1" dirty="0" err="1">
                <a:latin typeface="Century Gothic" panose="020B0502020202020204" pitchFamily="34" charset="0"/>
              </a:rPr>
              <a:t>deneysel</a:t>
            </a:r>
            <a:r>
              <a:rPr lang="en-US" b="1" dirty="0">
                <a:latin typeface="Century Gothic" panose="020B0502020202020204" pitchFamily="34" charset="0"/>
              </a:rPr>
              <a:t> (</a:t>
            </a:r>
            <a:r>
              <a:rPr lang="en-US" b="1" dirty="0" err="1">
                <a:latin typeface="Century Gothic" panose="020B0502020202020204" pitchFamily="34" charset="0"/>
              </a:rPr>
              <a:t>görgül</a:t>
            </a:r>
            <a:r>
              <a:rPr lang="en-US" b="1" dirty="0">
                <a:latin typeface="Century Gothic" panose="020B0502020202020204" pitchFamily="34" charset="0"/>
              </a:rPr>
              <a:t>) </a:t>
            </a:r>
            <a:r>
              <a:rPr lang="en-US" b="1" dirty="0" err="1">
                <a:latin typeface="Century Gothic" panose="020B0502020202020204" pitchFamily="34" charset="0"/>
              </a:rPr>
              <a:t>ve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nesnel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bir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konusu</a:t>
            </a:r>
            <a:r>
              <a:rPr lang="tr-TR" b="1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olan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b="1" dirty="0" err="1">
                <a:latin typeface="Century Gothic" panose="020B0502020202020204" pitchFamily="34" charset="0"/>
              </a:rPr>
              <a:t>aralarında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mantıksal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ve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olgusal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ilişkilerin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bulunduğu</a:t>
            </a:r>
            <a:r>
              <a:rPr lang="tr-TR" b="1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sistemli</a:t>
            </a:r>
            <a:r>
              <a:rPr lang="en-US" dirty="0">
                <a:latin typeface="Century Gothic" panose="020B0502020202020204" pitchFamily="34" charset="0"/>
              </a:rPr>
              <a:t> (</a:t>
            </a:r>
            <a:r>
              <a:rPr lang="en-US" dirty="0" err="1">
                <a:latin typeface="Century Gothic" panose="020B0502020202020204" pitchFamily="34" charset="0"/>
              </a:rPr>
              <a:t>dizgeli</a:t>
            </a:r>
            <a:r>
              <a:rPr lang="en-US" dirty="0">
                <a:latin typeface="Century Gothic" panose="020B0502020202020204" pitchFamily="34" charset="0"/>
              </a:rPr>
              <a:t>) </a:t>
            </a:r>
            <a:r>
              <a:rPr lang="en-US" dirty="0" err="1">
                <a:latin typeface="Century Gothic" panose="020B0502020202020204" pitchFamily="34" charset="0"/>
              </a:rPr>
              <a:t>bir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bilgi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birikimi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ya</a:t>
            </a:r>
            <a:r>
              <a:rPr lang="en-US" dirty="0">
                <a:latin typeface="Century Gothic" panose="020B0502020202020204" pitchFamily="34" charset="0"/>
              </a:rPr>
              <a:t> da </a:t>
            </a:r>
            <a:r>
              <a:rPr lang="en-US" dirty="0" err="1">
                <a:latin typeface="Century Gothic" panose="020B0502020202020204" pitchFamily="34" charset="0"/>
              </a:rPr>
              <a:t>bilgiler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bütünüdür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tr-TR" dirty="0">
              <a:latin typeface="Century Gothic" panose="020B0502020202020204" pitchFamily="34" charset="0"/>
            </a:endParaRPr>
          </a:p>
          <a:p>
            <a:endParaRPr lang="tr-TR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E3EEB2-D936-0C81-D361-7F65056441CC}"/>
              </a:ext>
            </a:extLst>
          </p:cNvPr>
          <p:cNvSpPr txBox="1">
            <a:spLocks/>
          </p:cNvSpPr>
          <p:nvPr/>
        </p:nvSpPr>
        <p:spPr>
          <a:xfrm>
            <a:off x="1451578" y="391885"/>
            <a:ext cx="9603275" cy="5074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Bilim</a:t>
            </a:r>
            <a:r>
              <a:rPr lang="en-US" b="1" dirty="0"/>
              <a:t> Nedir?</a:t>
            </a:r>
            <a:endParaRPr lang="en-US" dirty="0"/>
          </a:p>
          <a:p>
            <a:r>
              <a:rPr lang="en-US" dirty="0">
                <a:latin typeface="Century Gothic" panose="020B0502020202020204" pitchFamily="34" charset="0"/>
              </a:rPr>
              <a:t>En </a:t>
            </a:r>
            <a:r>
              <a:rPr lang="en-US" dirty="0" err="1">
                <a:latin typeface="Century Gothic" panose="020B0502020202020204" pitchFamily="34" charset="0"/>
              </a:rPr>
              <a:t>geniş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anlamı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ile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sistematik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bilgi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kümesidir</a:t>
            </a:r>
            <a:r>
              <a:rPr lang="en-US" dirty="0">
                <a:latin typeface="Century Gothic" panose="020B0502020202020204" pitchFamily="34" charset="0"/>
              </a:rPr>
              <a:t>. </a:t>
            </a:r>
          </a:p>
          <a:p>
            <a:r>
              <a:rPr lang="en-US" dirty="0">
                <a:latin typeface="Century Gothic" panose="020B0502020202020204" pitchFamily="34" charset="0"/>
              </a:rPr>
              <a:t>Daha </a:t>
            </a:r>
            <a:r>
              <a:rPr lang="en-US" dirty="0" err="1">
                <a:latin typeface="Century Gothic" panose="020B0502020202020204" pitchFamily="34" charset="0"/>
              </a:rPr>
              <a:t>dar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bir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tanımla</a:t>
            </a:r>
            <a:r>
              <a:rPr lang="en-US" dirty="0">
                <a:latin typeface="Century Gothic" panose="020B0502020202020204" pitchFamily="34" charset="0"/>
              </a:rPr>
              <a:t>; </a:t>
            </a:r>
            <a:r>
              <a:rPr lang="en-US" dirty="0" err="1">
                <a:latin typeface="Century Gothic" panose="020B0502020202020204" pitchFamily="34" charset="0"/>
              </a:rPr>
              <a:t>bilim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b="1" dirty="0" err="1">
                <a:latin typeface="Century Gothic" panose="020B0502020202020204" pitchFamily="34" charset="0"/>
              </a:rPr>
              <a:t>deneysel</a:t>
            </a:r>
            <a:r>
              <a:rPr lang="en-US" b="1" dirty="0">
                <a:latin typeface="Century Gothic" panose="020B0502020202020204" pitchFamily="34" charset="0"/>
              </a:rPr>
              <a:t> (</a:t>
            </a:r>
            <a:r>
              <a:rPr lang="en-US" b="1" dirty="0" err="1">
                <a:latin typeface="Century Gothic" panose="020B0502020202020204" pitchFamily="34" charset="0"/>
              </a:rPr>
              <a:t>görgül</a:t>
            </a:r>
            <a:r>
              <a:rPr lang="en-US" b="1" dirty="0">
                <a:latin typeface="Century Gothic" panose="020B0502020202020204" pitchFamily="34" charset="0"/>
              </a:rPr>
              <a:t>) </a:t>
            </a:r>
            <a:r>
              <a:rPr lang="en-US" b="1" dirty="0" err="1">
                <a:latin typeface="Century Gothic" panose="020B0502020202020204" pitchFamily="34" charset="0"/>
              </a:rPr>
              <a:t>ve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nesnel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bir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konusu</a:t>
            </a:r>
            <a:r>
              <a:rPr lang="tr-TR" b="1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olan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b="1" dirty="0" err="1">
                <a:latin typeface="Century Gothic" panose="020B0502020202020204" pitchFamily="34" charset="0"/>
              </a:rPr>
              <a:t>aralarında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mantıksal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ve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olgusal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ilişkilerin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bulunduğu</a:t>
            </a:r>
            <a:r>
              <a:rPr lang="tr-TR" b="1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sistemli</a:t>
            </a:r>
            <a:r>
              <a:rPr lang="en-US" dirty="0">
                <a:latin typeface="Century Gothic" panose="020B0502020202020204" pitchFamily="34" charset="0"/>
              </a:rPr>
              <a:t> (</a:t>
            </a:r>
            <a:r>
              <a:rPr lang="en-US" dirty="0" err="1">
                <a:latin typeface="Century Gothic" panose="020B0502020202020204" pitchFamily="34" charset="0"/>
              </a:rPr>
              <a:t>dizgeli</a:t>
            </a:r>
            <a:r>
              <a:rPr lang="en-US" dirty="0">
                <a:latin typeface="Century Gothic" panose="020B0502020202020204" pitchFamily="34" charset="0"/>
              </a:rPr>
              <a:t>) </a:t>
            </a:r>
            <a:r>
              <a:rPr lang="en-US" dirty="0" err="1">
                <a:latin typeface="Century Gothic" panose="020B0502020202020204" pitchFamily="34" charset="0"/>
              </a:rPr>
              <a:t>bir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bilgi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birikimi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ya</a:t>
            </a:r>
            <a:r>
              <a:rPr lang="en-US" dirty="0">
                <a:latin typeface="Century Gothic" panose="020B0502020202020204" pitchFamily="34" charset="0"/>
              </a:rPr>
              <a:t> da </a:t>
            </a:r>
            <a:r>
              <a:rPr lang="en-US" dirty="0" err="1">
                <a:latin typeface="Century Gothic" panose="020B0502020202020204" pitchFamily="34" charset="0"/>
              </a:rPr>
              <a:t>bilgiler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bütünüdür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tr-TR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8" name="Picture 2" descr="Bilim Nedir? | Felsefe hakkında her şey...">
            <a:extLst>
              <a:ext uri="{FF2B5EF4-FFF2-40B4-BE49-F238E27FC236}">
                <a16:creationId xmlns:a16="http://schemas.microsoft.com/office/drawing/2014/main" id="{87EA9F95-9E96-8E80-2054-6552C8102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865" y="2878202"/>
            <a:ext cx="6867331" cy="211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4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BF568-7F5E-5C10-A032-3C7894E5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4989" y="401216"/>
            <a:ext cx="9869866" cy="5065130"/>
          </a:xfrm>
        </p:spPr>
        <p:txBody>
          <a:bodyPr/>
          <a:lstStyle/>
          <a:p>
            <a:r>
              <a:rPr lang="en-US" b="1" i="1" dirty="0" err="1"/>
              <a:t>Bilimsel</a:t>
            </a:r>
            <a:r>
              <a:rPr lang="en-US" b="1" i="1" dirty="0"/>
              <a:t> Bilgi</a:t>
            </a:r>
            <a:endParaRPr lang="en-US" dirty="0"/>
          </a:p>
          <a:p>
            <a:r>
              <a:rPr lang="en-US" b="1" dirty="0" err="1"/>
              <a:t>Akla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aklın</a:t>
            </a:r>
            <a:r>
              <a:rPr lang="en-US" b="1" dirty="0"/>
              <a:t> </a:t>
            </a:r>
            <a:r>
              <a:rPr lang="en-US" b="1" dirty="0" err="1"/>
              <a:t>yönettiği</a:t>
            </a:r>
            <a:r>
              <a:rPr lang="en-US" b="1" dirty="0"/>
              <a:t> </a:t>
            </a:r>
            <a:r>
              <a:rPr lang="en-US" b="1" dirty="0" err="1"/>
              <a:t>deneylere</a:t>
            </a:r>
            <a:r>
              <a:rPr lang="en-US" b="1" dirty="0"/>
              <a:t> </a:t>
            </a:r>
            <a:r>
              <a:rPr lang="en-US" b="1" dirty="0" err="1"/>
              <a:t>dayanarak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yöntem</a:t>
            </a:r>
            <a:r>
              <a:rPr lang="en-US" b="1" dirty="0"/>
              <a:t> </a:t>
            </a:r>
            <a:r>
              <a:rPr lang="en-US" b="1" dirty="0" err="1"/>
              <a:t>kullanarak</a:t>
            </a:r>
            <a:r>
              <a:rPr lang="en-US" b="1" dirty="0"/>
              <a:t> </a:t>
            </a:r>
            <a:r>
              <a:rPr lang="en-US" b="1" dirty="0" err="1"/>
              <a:t>elde</a:t>
            </a:r>
            <a:r>
              <a:rPr lang="en-US" b="1" dirty="0"/>
              <a:t> </a:t>
            </a:r>
            <a:r>
              <a:rPr lang="en-US" b="1" dirty="0" err="1"/>
              <a:t>edilen</a:t>
            </a:r>
            <a:r>
              <a:rPr lang="en-US" b="1" dirty="0"/>
              <a:t> </a:t>
            </a:r>
            <a:r>
              <a:rPr lang="en-US" b="1" dirty="0" err="1"/>
              <a:t>sistemli</a:t>
            </a:r>
            <a:r>
              <a:rPr lang="en-US" b="1" dirty="0"/>
              <a:t> </a:t>
            </a:r>
            <a:r>
              <a:rPr lang="en-US" b="1" dirty="0" err="1"/>
              <a:t>bilgidir</a:t>
            </a:r>
            <a:r>
              <a:rPr lang="en-US" dirty="0"/>
              <a:t>. </a:t>
            </a:r>
          </a:p>
          <a:p>
            <a:r>
              <a:rPr lang="en-US" dirty="0"/>
              <a:t>** </a:t>
            </a:r>
            <a:r>
              <a:rPr lang="en-US" dirty="0" err="1"/>
              <a:t>Evreni</a:t>
            </a:r>
            <a:r>
              <a:rPr lang="en-US" dirty="0"/>
              <a:t>, </a:t>
            </a:r>
            <a:r>
              <a:rPr lang="tr-TR" dirty="0"/>
              <a:t> </a:t>
            </a:r>
            <a:r>
              <a:rPr lang="en-US" dirty="0" err="1"/>
              <a:t>evrenin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varlıkları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insanı</a:t>
            </a:r>
            <a:r>
              <a:rPr lang="tr-TR" dirty="0"/>
              <a:t> nede</a:t>
            </a:r>
            <a:r>
              <a:rPr lang="en-US" b="1" dirty="0"/>
              <a:t>n-</a:t>
            </a:r>
            <a:r>
              <a:rPr lang="en-US" b="1" dirty="0" err="1"/>
              <a:t>sonuç</a:t>
            </a:r>
            <a:r>
              <a:rPr lang="en-US" b="1" dirty="0"/>
              <a:t> </a:t>
            </a:r>
            <a:r>
              <a:rPr lang="en-US" b="1" dirty="0" err="1"/>
              <a:t>ilişkisine</a:t>
            </a:r>
            <a:r>
              <a:rPr lang="en-US" b="1" dirty="0"/>
              <a:t> </a:t>
            </a:r>
            <a:r>
              <a:rPr lang="en-US" b="1" dirty="0" err="1"/>
              <a:t>göre</a:t>
            </a:r>
            <a:r>
              <a:rPr lang="tr-TR" b="1" dirty="0"/>
              <a:t> </a:t>
            </a:r>
            <a:r>
              <a:rPr lang="en-US" dirty="0" err="1"/>
              <a:t>araştırır</a:t>
            </a:r>
            <a:r>
              <a:rPr lang="en-US" dirty="0"/>
              <a:t>.</a:t>
            </a:r>
          </a:p>
          <a:p>
            <a:r>
              <a:rPr lang="en-US" dirty="0"/>
              <a:t>** </a:t>
            </a:r>
            <a:r>
              <a:rPr lang="en-US" dirty="0" err="1"/>
              <a:t>Konusu</a:t>
            </a:r>
            <a:r>
              <a:rPr lang="en-US" dirty="0"/>
              <a:t>, </a:t>
            </a:r>
            <a:r>
              <a:rPr lang="en-US" dirty="0" err="1"/>
              <a:t>yöntemi</a:t>
            </a:r>
            <a:r>
              <a:rPr lang="en-US" dirty="0"/>
              <a:t>, </a:t>
            </a:r>
            <a:r>
              <a:rPr lang="en-US" dirty="0" err="1"/>
              <a:t>nesnelliği</a:t>
            </a:r>
            <a:r>
              <a:rPr lang="en-US" dirty="0"/>
              <a:t>, </a:t>
            </a:r>
            <a:r>
              <a:rPr lang="en-US" dirty="0" err="1"/>
              <a:t>sistemli</a:t>
            </a:r>
            <a:r>
              <a:rPr lang="en-US" dirty="0"/>
              <a:t> </a:t>
            </a:r>
            <a:r>
              <a:rPr lang="en-US" dirty="0" err="1"/>
              <a:t>oluşu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edilebilmesi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türlerinden</a:t>
            </a:r>
            <a:r>
              <a:rPr lang="en-US" dirty="0"/>
              <a:t> </a:t>
            </a:r>
            <a:r>
              <a:rPr lang="en-US" dirty="0" err="1"/>
              <a:t>ayrılır</a:t>
            </a:r>
            <a:r>
              <a:rPr lang="en-US" dirty="0"/>
              <a:t>. </a:t>
            </a:r>
            <a:endParaRPr lang="tr-TR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F290BA-4F1E-6A4C-7F60-218C953BF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403" y="2655804"/>
            <a:ext cx="5394054" cy="282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7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B3F7C-2F2B-E7CF-8BD7-AA85B64D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727788"/>
            <a:ext cx="9603275" cy="4738557"/>
          </a:xfrm>
        </p:spPr>
        <p:txBody>
          <a:bodyPr/>
          <a:lstStyle/>
          <a:p>
            <a:r>
              <a:rPr lang="en-US" b="1" dirty="0" err="1"/>
              <a:t>Bilimsel</a:t>
            </a:r>
            <a:r>
              <a:rPr lang="en-US" b="1" dirty="0"/>
              <a:t> </a:t>
            </a:r>
            <a:r>
              <a:rPr lang="en-US" b="1" dirty="0" err="1"/>
              <a:t>Bilginin</a:t>
            </a:r>
            <a:r>
              <a:rPr lang="en-US" b="1" dirty="0"/>
              <a:t> </a:t>
            </a:r>
            <a:r>
              <a:rPr lang="en-US" b="1" dirty="0" err="1"/>
              <a:t>Türleri</a:t>
            </a:r>
            <a:endParaRPr lang="en-US" b="1" dirty="0"/>
          </a:p>
          <a:p>
            <a:r>
              <a:rPr lang="en-US" b="1" dirty="0"/>
              <a:t>a</a:t>
            </a:r>
            <a:r>
              <a:rPr lang="en-US" dirty="0"/>
              <a:t>) Formel </a:t>
            </a:r>
            <a:r>
              <a:rPr lang="en-US" dirty="0" err="1"/>
              <a:t>Bilimler</a:t>
            </a:r>
            <a:r>
              <a:rPr lang="en-US" dirty="0"/>
              <a:t> ( </a:t>
            </a:r>
            <a:r>
              <a:rPr lang="en-US" dirty="0" err="1"/>
              <a:t>doğada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, </a:t>
            </a:r>
            <a:r>
              <a:rPr lang="en-US" dirty="0" err="1"/>
              <a:t>düşünsel</a:t>
            </a:r>
            <a:r>
              <a:rPr lang="en-US" dirty="0"/>
              <a:t> </a:t>
            </a:r>
            <a:r>
              <a:rPr lang="en-US" dirty="0" err="1"/>
              <a:t>bilgiler</a:t>
            </a:r>
            <a:r>
              <a:rPr lang="en-US" dirty="0"/>
              <a:t>. </a:t>
            </a:r>
            <a:r>
              <a:rPr lang="en-US" dirty="0" err="1"/>
              <a:t>Matematik</a:t>
            </a:r>
            <a:r>
              <a:rPr lang="en-US" dirty="0"/>
              <a:t>, </a:t>
            </a:r>
            <a:r>
              <a:rPr lang="en-US" dirty="0" err="1"/>
              <a:t>mantık</a:t>
            </a:r>
            <a:r>
              <a:rPr lang="en-US" dirty="0"/>
              <a:t>, vs)</a:t>
            </a:r>
          </a:p>
          <a:p>
            <a:r>
              <a:rPr lang="en-US" b="1" dirty="0"/>
              <a:t>b)</a:t>
            </a:r>
            <a:r>
              <a:rPr lang="en-US" dirty="0" err="1"/>
              <a:t>Doğa</a:t>
            </a:r>
            <a:r>
              <a:rPr lang="en-US" dirty="0"/>
              <a:t> </a:t>
            </a:r>
            <a:r>
              <a:rPr lang="en-US" dirty="0" err="1"/>
              <a:t>Bilimleri</a:t>
            </a:r>
            <a:r>
              <a:rPr lang="en-US" dirty="0"/>
              <a:t> ( </a:t>
            </a:r>
            <a:r>
              <a:rPr lang="en-US" dirty="0" err="1"/>
              <a:t>fizik</a:t>
            </a:r>
            <a:r>
              <a:rPr lang="en-US" dirty="0"/>
              <a:t>, </a:t>
            </a:r>
            <a:r>
              <a:rPr lang="en-US" dirty="0" err="1"/>
              <a:t>kimya</a:t>
            </a:r>
            <a:r>
              <a:rPr lang="en-US" dirty="0"/>
              <a:t>, vs)</a:t>
            </a:r>
          </a:p>
          <a:p>
            <a:r>
              <a:rPr lang="en-US" b="1" dirty="0"/>
              <a:t>c)</a:t>
            </a:r>
            <a:r>
              <a:rPr lang="en-US" dirty="0" err="1"/>
              <a:t>Beşeri</a:t>
            </a:r>
            <a:r>
              <a:rPr lang="en-US" dirty="0"/>
              <a:t> </a:t>
            </a:r>
            <a:r>
              <a:rPr lang="en-US" dirty="0" err="1"/>
              <a:t>Bilimler</a:t>
            </a:r>
            <a:r>
              <a:rPr lang="en-US" dirty="0"/>
              <a:t> ( </a:t>
            </a:r>
            <a:r>
              <a:rPr lang="en-US" dirty="0" err="1"/>
              <a:t>insanı</a:t>
            </a:r>
            <a:r>
              <a:rPr lang="en-US" dirty="0"/>
              <a:t> </a:t>
            </a:r>
            <a:r>
              <a:rPr lang="en-US" dirty="0" err="1"/>
              <a:t>konu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bilimler</a:t>
            </a:r>
            <a:r>
              <a:rPr lang="en-US" dirty="0"/>
              <a:t>. </a:t>
            </a:r>
            <a:r>
              <a:rPr lang="en-US" dirty="0" err="1"/>
              <a:t>Sosyoloji</a:t>
            </a:r>
            <a:r>
              <a:rPr lang="en-US" dirty="0"/>
              <a:t>, </a:t>
            </a:r>
            <a:r>
              <a:rPr lang="en-US" dirty="0" err="1"/>
              <a:t>psikoloji</a:t>
            </a:r>
            <a:r>
              <a:rPr lang="en-US" dirty="0"/>
              <a:t>, </a:t>
            </a:r>
            <a:r>
              <a:rPr lang="en-US" dirty="0" err="1"/>
              <a:t>tarih</a:t>
            </a:r>
            <a:r>
              <a:rPr lang="en-US" dirty="0"/>
              <a:t>. vs.) </a:t>
            </a:r>
            <a:endParaRPr lang="tr-TR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62EE2E-F786-70B1-18C2-828D87023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307" y="2752724"/>
            <a:ext cx="6251510" cy="25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77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0A600B-E78C-A534-5EA8-B2312449E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941" y="615950"/>
            <a:ext cx="8508443" cy="48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6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6B0F-B0DB-CE84-AA16-DBC52F905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781" y="709128"/>
            <a:ext cx="10299074" cy="4757218"/>
          </a:xfrm>
        </p:spPr>
        <p:txBody>
          <a:bodyPr/>
          <a:lstStyle/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/>
              <a:t>   </a:t>
            </a:r>
            <a:r>
              <a:rPr lang="en-US" b="1" dirty="0" err="1"/>
              <a:t>Bilimsel</a:t>
            </a:r>
            <a:r>
              <a:rPr lang="en-US" b="1" dirty="0"/>
              <a:t> </a:t>
            </a:r>
            <a:r>
              <a:rPr lang="en-US" b="1" dirty="0" err="1"/>
              <a:t>Bilginin</a:t>
            </a:r>
            <a:r>
              <a:rPr lang="en-US" b="1" dirty="0"/>
              <a:t> </a:t>
            </a:r>
            <a:r>
              <a:rPr lang="en-US" b="1" dirty="0" err="1"/>
              <a:t>Özellikleri</a:t>
            </a:r>
            <a:r>
              <a:rPr lang="en-US" b="1" dirty="0"/>
              <a:t> </a:t>
            </a:r>
            <a:r>
              <a:rPr lang="en-US" b="1" dirty="0" err="1"/>
              <a:t>Nelerdir</a:t>
            </a:r>
            <a:r>
              <a:rPr lang="en-US" b="1" dirty="0"/>
              <a:t>?</a:t>
            </a:r>
          </a:p>
          <a:p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bilgiyi</a:t>
            </a:r>
            <a:r>
              <a:rPr lang="en-US" dirty="0"/>
              <a:t>, </a:t>
            </a:r>
            <a:r>
              <a:rPr lang="en-US" dirty="0" err="1"/>
              <a:t>sınırları</a:t>
            </a:r>
            <a:r>
              <a:rPr lang="en-US" dirty="0"/>
              <a:t> </a:t>
            </a:r>
            <a:r>
              <a:rPr lang="en-US" dirty="0" err="1"/>
              <a:t>önceden</a:t>
            </a:r>
            <a:r>
              <a:rPr lang="en-US" dirty="0"/>
              <a:t> </a:t>
            </a:r>
            <a:r>
              <a:rPr lang="en-US" dirty="0" err="1"/>
              <a:t>belirlenmiş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alanda</a:t>
            </a:r>
            <a:r>
              <a:rPr lang="en-US" dirty="0"/>
              <a:t>, </a:t>
            </a:r>
            <a:r>
              <a:rPr lang="en-US" dirty="0" err="1"/>
              <a:t>bilmek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 </a:t>
            </a:r>
            <a:r>
              <a:rPr lang="en-US" dirty="0" err="1"/>
              <a:t>bilgiye</a:t>
            </a:r>
            <a:r>
              <a:rPr lang="en-US" dirty="0"/>
              <a:t> </a:t>
            </a:r>
            <a:r>
              <a:rPr lang="en-US" dirty="0" err="1"/>
              <a:t>ulaşmak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sistemli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, belli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yöntemle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bilgidir</a:t>
            </a:r>
            <a:r>
              <a:rPr lang="en-US" dirty="0"/>
              <a:t>,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tanımlayabilmek</a:t>
            </a:r>
            <a:r>
              <a:rPr lang="en-US" dirty="0"/>
              <a:t> </a:t>
            </a:r>
            <a:r>
              <a:rPr lang="en-US" dirty="0" err="1"/>
              <a:t>mümkündür</a:t>
            </a:r>
            <a:r>
              <a:rPr lang="en-US" dirty="0"/>
              <a:t>.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, belli </a:t>
            </a:r>
            <a:r>
              <a:rPr lang="en-US" dirty="0" err="1"/>
              <a:t>özelliklere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/>
              <a:t>. Bu </a:t>
            </a:r>
            <a:r>
              <a:rPr lang="en-US" dirty="0" err="1"/>
              <a:t>özellikler</a:t>
            </a:r>
            <a:r>
              <a:rPr lang="en-US" dirty="0"/>
              <a:t>,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bilginin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başlığı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toplanabilir</a:t>
            </a:r>
            <a:r>
              <a:rPr lang="en-US" dirty="0"/>
              <a:t>. Bu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sıralamak</a:t>
            </a:r>
            <a:r>
              <a:rPr lang="en-US" dirty="0"/>
              <a:t> </a:t>
            </a:r>
            <a:r>
              <a:rPr lang="en-US" dirty="0" err="1"/>
              <a:t>mümkündür</a:t>
            </a:r>
            <a:r>
              <a:rPr lang="en-US" dirty="0"/>
              <a:t>:</a:t>
            </a:r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16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B3A0-8808-C9E6-8E99-CA81AC7EC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765110"/>
            <a:ext cx="9603275" cy="487058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BİLİMSEL BİLGİNİN ÖZELLİKLERİ</a:t>
            </a:r>
          </a:p>
          <a:p>
            <a:pPr fontAlgn="base"/>
            <a:r>
              <a:rPr lang="en-US" b="1" dirty="0"/>
              <a:t>1. </a:t>
            </a:r>
            <a:r>
              <a:rPr lang="en-US" b="1" dirty="0" err="1"/>
              <a:t>Nesnellik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objektiflik</a:t>
            </a:r>
            <a:endParaRPr lang="en-US" b="1" dirty="0"/>
          </a:p>
          <a:p>
            <a:pPr fontAlgn="base"/>
            <a:r>
              <a:rPr lang="en-US" b="1" dirty="0" err="1"/>
              <a:t>Bilimsel</a:t>
            </a:r>
            <a:r>
              <a:rPr lang="en-US" b="1" dirty="0"/>
              <a:t> </a:t>
            </a:r>
            <a:r>
              <a:rPr lang="en-US" b="1" dirty="0" err="1"/>
              <a:t>bilgi</a:t>
            </a:r>
            <a:r>
              <a:rPr lang="en-US" dirty="0"/>
              <a:t>;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adamlarının</a:t>
            </a:r>
            <a:r>
              <a:rPr lang="en-US" dirty="0"/>
              <a:t> </a:t>
            </a:r>
            <a:r>
              <a:rPr lang="en-US" dirty="0" err="1"/>
              <a:t>inanç</a:t>
            </a:r>
            <a:r>
              <a:rPr lang="en-US" dirty="0"/>
              <a:t>, </a:t>
            </a:r>
            <a:r>
              <a:rPr lang="en-US" dirty="0" err="1"/>
              <a:t>kanaat</a:t>
            </a:r>
            <a:r>
              <a:rPr lang="en-US" dirty="0"/>
              <a:t>, </a:t>
            </a:r>
            <a:r>
              <a:rPr lang="en-US" dirty="0" err="1"/>
              <a:t>bakış</a:t>
            </a:r>
            <a:r>
              <a:rPr lang="en-US" dirty="0"/>
              <a:t> </a:t>
            </a:r>
            <a:r>
              <a:rPr lang="en-US" dirty="0" err="1"/>
              <a:t>açısı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dünya</a:t>
            </a:r>
            <a:r>
              <a:rPr lang="en-US" dirty="0"/>
              <a:t> </a:t>
            </a:r>
            <a:r>
              <a:rPr lang="en-US" dirty="0" err="1"/>
              <a:t>görüşlerinden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konan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türüdür</a:t>
            </a:r>
            <a:r>
              <a:rPr lang="en-US" dirty="0"/>
              <a:t>. Bu da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bilginin</a:t>
            </a:r>
            <a:r>
              <a:rPr lang="en-US" dirty="0"/>
              <a:t> </a:t>
            </a:r>
            <a:r>
              <a:rPr lang="en-US" dirty="0" err="1"/>
              <a:t>kişiden</a:t>
            </a:r>
            <a:r>
              <a:rPr lang="en-US" dirty="0"/>
              <a:t> </a:t>
            </a:r>
            <a:r>
              <a:rPr lang="en-US" dirty="0" err="1"/>
              <a:t>kişiye</a:t>
            </a:r>
            <a:r>
              <a:rPr lang="en-US" dirty="0"/>
              <a:t>, </a:t>
            </a:r>
            <a:r>
              <a:rPr lang="en-US" dirty="0" err="1"/>
              <a:t>toplumdan</a:t>
            </a:r>
            <a:r>
              <a:rPr lang="en-US" dirty="0"/>
              <a:t> </a:t>
            </a:r>
            <a:r>
              <a:rPr lang="en-US" dirty="0" err="1"/>
              <a:t>topluma</a:t>
            </a:r>
            <a:r>
              <a:rPr lang="en-US" dirty="0"/>
              <a:t> </a:t>
            </a:r>
            <a:r>
              <a:rPr lang="en-US" dirty="0" err="1"/>
              <a:t>değişmez</a:t>
            </a:r>
            <a:r>
              <a:rPr lang="en-US" dirty="0"/>
              <a:t> </a:t>
            </a:r>
            <a:r>
              <a:rPr lang="en-US" dirty="0" err="1"/>
              <a:t>oluşunun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göstergesidir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, </a:t>
            </a:r>
            <a:r>
              <a:rPr lang="en-US" dirty="0" err="1"/>
              <a:t>herkes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geçerli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doğruları</a:t>
            </a:r>
            <a:r>
              <a:rPr lang="en-US" dirty="0"/>
              <a:t> </a:t>
            </a:r>
            <a:r>
              <a:rPr lang="en-US" dirty="0" err="1"/>
              <a:t>içerir</a:t>
            </a:r>
            <a:r>
              <a:rPr lang="en-US" dirty="0"/>
              <a:t>. Bu </a:t>
            </a:r>
            <a:r>
              <a:rPr lang="en-US" dirty="0" err="1"/>
              <a:t>doğrular</a:t>
            </a:r>
            <a:r>
              <a:rPr lang="en-US" dirty="0"/>
              <a:t> </a:t>
            </a:r>
            <a:r>
              <a:rPr lang="en-US" dirty="0" err="1"/>
              <a:t>deneysel</a:t>
            </a:r>
            <a:r>
              <a:rPr lang="en-US" dirty="0"/>
              <a:t> </a:t>
            </a:r>
            <a:r>
              <a:rPr lang="en-US" dirty="0" err="1"/>
              <a:t>yollarla</a:t>
            </a:r>
            <a:r>
              <a:rPr lang="en-US" dirty="0"/>
              <a:t> </a:t>
            </a:r>
            <a:r>
              <a:rPr lang="en-US" dirty="0" err="1"/>
              <a:t>kanıtlanabilir</a:t>
            </a:r>
            <a:r>
              <a:rPr lang="en-US" dirty="0"/>
              <a:t> </a:t>
            </a:r>
            <a:r>
              <a:rPr lang="en-US" dirty="0" err="1"/>
              <a:t>olduğundan</a:t>
            </a:r>
            <a:r>
              <a:rPr lang="en-US" dirty="0"/>
              <a:t> da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görmektedir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, normal </a:t>
            </a:r>
            <a:r>
              <a:rPr lang="en-US" dirty="0" err="1"/>
              <a:t>şartlar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dünyanın</a:t>
            </a:r>
            <a:r>
              <a:rPr lang="en-US" dirty="0"/>
              <a:t> her </a:t>
            </a:r>
            <a:r>
              <a:rPr lang="en-US" dirty="0" err="1"/>
              <a:t>yerinde</a:t>
            </a:r>
            <a:r>
              <a:rPr lang="en-US" dirty="0"/>
              <a:t> 100 </a:t>
            </a:r>
            <a:r>
              <a:rPr lang="en-US" dirty="0" err="1"/>
              <a:t>derecede</a:t>
            </a:r>
            <a:r>
              <a:rPr lang="en-US" dirty="0"/>
              <a:t> </a:t>
            </a:r>
            <a:r>
              <a:rPr lang="en-US" dirty="0" err="1"/>
              <a:t>kaynar</a:t>
            </a:r>
            <a:r>
              <a:rPr lang="en-US" dirty="0"/>
              <a:t>. Suyun 100 </a:t>
            </a:r>
            <a:r>
              <a:rPr lang="en-US" dirty="0" err="1"/>
              <a:t>derecede</a:t>
            </a:r>
            <a:r>
              <a:rPr lang="en-US" dirty="0"/>
              <a:t> </a:t>
            </a:r>
            <a:r>
              <a:rPr lang="en-US" dirty="0" err="1"/>
              <a:t>kaynama</a:t>
            </a:r>
            <a:r>
              <a:rPr lang="en-US" dirty="0"/>
              <a:t> </a:t>
            </a:r>
            <a:r>
              <a:rPr lang="en-US" dirty="0" err="1"/>
              <a:t>noktasına</a:t>
            </a:r>
            <a:r>
              <a:rPr lang="en-US" dirty="0"/>
              <a:t> </a:t>
            </a:r>
            <a:r>
              <a:rPr lang="en-US" dirty="0" err="1"/>
              <a:t>çıkıyor</a:t>
            </a:r>
            <a:r>
              <a:rPr lang="en-US" dirty="0"/>
              <a:t> </a:t>
            </a:r>
            <a:r>
              <a:rPr lang="en-US" dirty="0" err="1"/>
              <a:t>oluşu</a:t>
            </a:r>
            <a:r>
              <a:rPr lang="en-US" dirty="0"/>
              <a:t>, </a:t>
            </a:r>
            <a:r>
              <a:rPr lang="en-US" dirty="0" err="1"/>
              <a:t>bilimsel</a:t>
            </a:r>
            <a:r>
              <a:rPr lang="en-US" dirty="0"/>
              <a:t>, </a:t>
            </a:r>
            <a:r>
              <a:rPr lang="en-US" dirty="0" err="1"/>
              <a:t>nesnel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bilgidir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87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650A-F171-4CEB-7EE5-057A10BA6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45" y="475862"/>
            <a:ext cx="9571287" cy="4145250"/>
          </a:xfrm>
        </p:spPr>
        <p:txBody>
          <a:bodyPr/>
          <a:lstStyle/>
          <a:p>
            <a:r>
              <a:rPr lang="tr-TR" dirty="0"/>
              <a:t>* </a:t>
            </a:r>
            <a:r>
              <a:rPr lang="tr-TR" cap="none" dirty="0"/>
              <a:t>Kısaca bilimsel bilgi herkes için geçerli olan doğruları içeriri.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5B40FD-C926-DBF4-6553-A93D21A37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830" y="1533137"/>
            <a:ext cx="9414977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5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8D57D-5F85-00F5-35A5-21CCC253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905070"/>
            <a:ext cx="9603275" cy="4561276"/>
          </a:xfrm>
        </p:spPr>
        <p:txBody>
          <a:bodyPr/>
          <a:lstStyle/>
          <a:p>
            <a:pPr marL="0" indent="0" fontAlgn="base">
              <a:buNone/>
            </a:pPr>
            <a:r>
              <a:rPr lang="tr-TR" b="1" dirty="0"/>
              <a:t>   </a:t>
            </a:r>
            <a:r>
              <a:rPr lang="en-US" b="1" dirty="0"/>
              <a:t>2. </a:t>
            </a:r>
            <a:r>
              <a:rPr lang="en-US" b="1" dirty="0" err="1"/>
              <a:t>Olgusallık</a:t>
            </a:r>
            <a:endParaRPr lang="en-US" b="1" dirty="0"/>
          </a:p>
          <a:p>
            <a:pPr fontAlgn="base"/>
            <a:r>
              <a:rPr lang="en-US" b="1" dirty="0" err="1"/>
              <a:t>Olgusallık</a:t>
            </a:r>
            <a:r>
              <a:rPr lang="en-US" dirty="0"/>
              <a:t>, </a:t>
            </a:r>
            <a:r>
              <a:rPr lang="en-US" dirty="0" err="1"/>
              <a:t>bilimin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aldığı</a:t>
            </a:r>
            <a:r>
              <a:rPr lang="en-US" dirty="0"/>
              <a:t> </a:t>
            </a:r>
            <a:r>
              <a:rPr lang="en-US" dirty="0" err="1"/>
              <a:t>durumların</a:t>
            </a:r>
            <a:r>
              <a:rPr lang="en-US" dirty="0"/>
              <a:t> </a:t>
            </a:r>
            <a:r>
              <a:rPr lang="en-US" dirty="0" err="1"/>
              <a:t>gözlenebilir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gerçekliğin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var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duyu</a:t>
            </a:r>
            <a:r>
              <a:rPr lang="en-US" dirty="0"/>
              <a:t> </a:t>
            </a:r>
            <a:r>
              <a:rPr lang="en-US" dirty="0" err="1"/>
              <a:t>organlarımızla</a:t>
            </a:r>
            <a:r>
              <a:rPr lang="en-US" dirty="0"/>
              <a:t> </a:t>
            </a:r>
            <a:r>
              <a:rPr lang="en-US" dirty="0" err="1"/>
              <a:t>algılanabilir</a:t>
            </a:r>
            <a:r>
              <a:rPr lang="en-US" dirty="0"/>
              <a:t>, </a:t>
            </a:r>
            <a:r>
              <a:rPr lang="en-US" dirty="0" err="1"/>
              <a:t>deneylenebilir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gelmektedir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suyun</a:t>
            </a:r>
            <a:r>
              <a:rPr lang="en-US" dirty="0"/>
              <a:t> </a:t>
            </a:r>
            <a:r>
              <a:rPr lang="en-US" dirty="0" err="1"/>
              <a:t>kaynıyor</a:t>
            </a:r>
            <a:r>
              <a:rPr lang="en-US" dirty="0"/>
              <a:t> </a:t>
            </a:r>
            <a:r>
              <a:rPr lang="en-US" dirty="0" err="1"/>
              <a:t>oluşu</a:t>
            </a:r>
            <a:r>
              <a:rPr lang="en-US" dirty="0"/>
              <a:t>, </a:t>
            </a:r>
            <a:r>
              <a:rPr lang="en-US" dirty="0" err="1"/>
              <a:t>gözlemlenebilir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duyumlarımızla</a:t>
            </a:r>
            <a:r>
              <a:rPr lang="en-US" dirty="0"/>
              <a:t> </a:t>
            </a:r>
            <a:r>
              <a:rPr lang="en-US" dirty="0" err="1"/>
              <a:t>algılanabilirdir</a:t>
            </a:r>
            <a:r>
              <a:rPr lang="en-US" dirty="0"/>
              <a:t>. </a:t>
            </a:r>
            <a:r>
              <a:rPr lang="en-US" dirty="0" err="1"/>
              <a:t>Bizler</a:t>
            </a:r>
            <a:r>
              <a:rPr lang="en-US" dirty="0"/>
              <a:t> </a:t>
            </a:r>
            <a:r>
              <a:rPr lang="en-US" dirty="0" err="1"/>
              <a:t>suyun</a:t>
            </a:r>
            <a:r>
              <a:rPr lang="en-US" dirty="0"/>
              <a:t> hangi </a:t>
            </a:r>
            <a:r>
              <a:rPr lang="en-US" dirty="0" err="1"/>
              <a:t>sıcaklığa</a:t>
            </a:r>
            <a:r>
              <a:rPr lang="en-US" dirty="0"/>
              <a:t> </a:t>
            </a:r>
            <a:r>
              <a:rPr lang="en-US" dirty="0" err="1"/>
              <a:t>çıkınca</a:t>
            </a:r>
            <a:r>
              <a:rPr lang="en-US" dirty="0"/>
              <a:t> </a:t>
            </a:r>
            <a:r>
              <a:rPr lang="en-US" dirty="0" err="1"/>
              <a:t>kaynadığı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, </a:t>
            </a:r>
            <a:r>
              <a:rPr lang="en-US" dirty="0" err="1"/>
              <a:t>suyun</a:t>
            </a:r>
            <a:r>
              <a:rPr lang="en-US" dirty="0"/>
              <a:t> </a:t>
            </a:r>
            <a:r>
              <a:rPr lang="en-US" dirty="0" err="1"/>
              <a:t>olgusal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gözlenmesi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edebiliriz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Özetle</a:t>
            </a:r>
            <a:r>
              <a:rPr lang="en-US" dirty="0"/>
              <a:t> </a:t>
            </a:r>
            <a:r>
              <a:rPr lang="en-US" dirty="0" err="1"/>
              <a:t>olgusallık</a:t>
            </a:r>
            <a:r>
              <a:rPr lang="en-US" dirty="0"/>
              <a:t>,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bilginin</a:t>
            </a:r>
            <a:r>
              <a:rPr lang="en-US" dirty="0"/>
              <a:t> </a:t>
            </a:r>
            <a:r>
              <a:rPr lang="en-US" dirty="0" err="1"/>
              <a:t>somut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karşılığa</a:t>
            </a:r>
            <a:r>
              <a:rPr lang="en-US" dirty="0"/>
              <a:t> </a:t>
            </a:r>
            <a:r>
              <a:rPr lang="en-US" dirty="0" err="1"/>
              <a:t>dayanarak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çıkabiliyor</a:t>
            </a:r>
            <a:r>
              <a:rPr lang="en-US" dirty="0"/>
              <a:t> </a:t>
            </a:r>
            <a:r>
              <a:rPr lang="en-US" dirty="0" err="1"/>
              <a:t>oluşudur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9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F2F7-A4AC-DC9C-137F-77AB25C55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21298"/>
            <a:ext cx="9603275" cy="5345047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    </a:t>
            </a:r>
            <a:r>
              <a:rPr lang="en-US" b="1" dirty="0" err="1"/>
              <a:t>Doğa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Fizik </a:t>
            </a:r>
            <a:r>
              <a:rPr lang="en-US" b="1" dirty="0" err="1"/>
              <a:t>Bilimlerinden</a:t>
            </a:r>
            <a:r>
              <a:rPr lang="en-US" b="1" dirty="0"/>
              <a:t> </a:t>
            </a:r>
            <a:r>
              <a:rPr lang="en-US" b="1" dirty="0" err="1"/>
              <a:t>Olgusal</a:t>
            </a:r>
            <a:r>
              <a:rPr lang="en-US" b="1" dirty="0"/>
              <a:t> </a:t>
            </a:r>
            <a:r>
              <a:rPr lang="en-US" b="1" dirty="0" err="1"/>
              <a:t>Örnekler</a:t>
            </a:r>
            <a:endParaRPr lang="en-US" b="1" dirty="0"/>
          </a:p>
          <a:p>
            <a:r>
              <a:rPr lang="en-US" b="1" dirty="0" err="1"/>
              <a:t>Güneşin</a:t>
            </a:r>
            <a:r>
              <a:rPr lang="en-US" b="1" dirty="0"/>
              <a:t> </a:t>
            </a:r>
            <a:r>
              <a:rPr lang="en-US" b="1" dirty="0" err="1"/>
              <a:t>doğudan</a:t>
            </a:r>
            <a:r>
              <a:rPr lang="en-US" b="1" dirty="0"/>
              <a:t> </a:t>
            </a:r>
            <a:r>
              <a:rPr lang="en-US" b="1" dirty="0" err="1"/>
              <a:t>doğması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batıdan</a:t>
            </a:r>
            <a:r>
              <a:rPr lang="en-US" b="1" dirty="0"/>
              <a:t> </a:t>
            </a:r>
            <a:r>
              <a:rPr lang="en-US" b="1" dirty="0" err="1"/>
              <a:t>batması</a:t>
            </a:r>
            <a:r>
              <a:rPr lang="en-US" dirty="0"/>
              <a:t> → Her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gözlemlenebilir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doğa</a:t>
            </a:r>
            <a:r>
              <a:rPr lang="en-US" dirty="0"/>
              <a:t> </a:t>
            </a:r>
            <a:r>
              <a:rPr lang="en-US" dirty="0" err="1"/>
              <a:t>olayıdır</a:t>
            </a:r>
            <a:r>
              <a:rPr lang="en-US" dirty="0"/>
              <a:t>.</a:t>
            </a:r>
          </a:p>
          <a:p>
            <a:r>
              <a:rPr lang="en-US" b="1" dirty="0" err="1"/>
              <a:t>Demirin</a:t>
            </a:r>
            <a:r>
              <a:rPr lang="en-US" b="1" dirty="0"/>
              <a:t> </a:t>
            </a:r>
            <a:r>
              <a:rPr lang="en-US" b="1" dirty="0" err="1"/>
              <a:t>ısıtıldığında</a:t>
            </a:r>
            <a:r>
              <a:rPr lang="en-US" b="1" dirty="0"/>
              <a:t> </a:t>
            </a:r>
            <a:r>
              <a:rPr lang="en-US" b="1" dirty="0" err="1"/>
              <a:t>genleşmesi</a:t>
            </a:r>
            <a:r>
              <a:rPr lang="en-US" dirty="0"/>
              <a:t> →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ölçülebilir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olgudur</a:t>
            </a:r>
            <a:r>
              <a:rPr lang="en-US" dirty="0"/>
              <a:t>.</a:t>
            </a:r>
          </a:p>
          <a:p>
            <a:r>
              <a:rPr lang="en-US" b="1" dirty="0"/>
              <a:t>Suyun 0°C’de </a:t>
            </a:r>
            <a:r>
              <a:rPr lang="en-US" b="1" dirty="0" err="1"/>
              <a:t>donması</a:t>
            </a:r>
            <a:r>
              <a:rPr lang="en-US" dirty="0"/>
              <a:t> →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koşullarda</a:t>
            </a:r>
            <a:r>
              <a:rPr lang="en-US" dirty="0"/>
              <a:t> her zaman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veren</a:t>
            </a:r>
            <a:r>
              <a:rPr lang="en-US" dirty="0"/>
              <a:t> </a:t>
            </a:r>
            <a:r>
              <a:rPr lang="en-US" dirty="0" err="1"/>
              <a:t>olgusal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durumdur</a:t>
            </a:r>
            <a:r>
              <a:rPr lang="en-US" dirty="0"/>
              <a:t>.</a:t>
            </a:r>
          </a:p>
          <a:p>
            <a:r>
              <a:rPr lang="en-US" b="1" dirty="0" err="1"/>
              <a:t>Yağmurun</a:t>
            </a:r>
            <a:r>
              <a:rPr lang="en-US" b="1" dirty="0"/>
              <a:t> </a:t>
            </a:r>
            <a:r>
              <a:rPr lang="en-US" b="1" dirty="0" err="1"/>
              <a:t>yağması</a:t>
            </a:r>
            <a:r>
              <a:rPr lang="en-US" dirty="0"/>
              <a:t> →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gözlemlenebilir</a:t>
            </a:r>
            <a:r>
              <a:rPr lang="en-US" dirty="0"/>
              <a:t> </a:t>
            </a:r>
            <a:r>
              <a:rPr lang="en-US" dirty="0" err="1"/>
              <a:t>meteorolojik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olaydır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7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43A6C-2435-BAA6-FCBB-CD43F229B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63894"/>
            <a:ext cx="9603275" cy="5102451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    </a:t>
            </a:r>
            <a:r>
              <a:rPr lang="en-US" b="1" dirty="0" err="1"/>
              <a:t>Toplumsal</a:t>
            </a:r>
            <a:r>
              <a:rPr lang="en-US" b="1" dirty="0"/>
              <a:t> </a:t>
            </a:r>
            <a:r>
              <a:rPr lang="en-US" b="1" dirty="0" err="1"/>
              <a:t>Olgulara</a:t>
            </a:r>
            <a:r>
              <a:rPr lang="en-US" b="1" dirty="0"/>
              <a:t> </a:t>
            </a:r>
            <a:r>
              <a:rPr lang="en-US" b="1" dirty="0" err="1"/>
              <a:t>Örnekler</a:t>
            </a:r>
            <a:endParaRPr lang="en-US" b="1" dirty="0"/>
          </a:p>
          <a:p>
            <a:r>
              <a:rPr lang="en-US" b="1" dirty="0"/>
              <a:t>Bir </a:t>
            </a:r>
            <a:r>
              <a:rPr lang="en-US" b="1" dirty="0" err="1"/>
              <a:t>ülkede</a:t>
            </a:r>
            <a:r>
              <a:rPr lang="en-US" b="1" dirty="0"/>
              <a:t> </a:t>
            </a:r>
            <a:r>
              <a:rPr lang="en-US" b="1" dirty="0" err="1"/>
              <a:t>evlilik</a:t>
            </a:r>
            <a:r>
              <a:rPr lang="en-US" b="1" dirty="0"/>
              <a:t> </a:t>
            </a:r>
            <a:r>
              <a:rPr lang="en-US" b="1" dirty="0" err="1"/>
              <a:t>oranlarının</a:t>
            </a:r>
            <a:r>
              <a:rPr lang="en-US" b="1" dirty="0"/>
              <a:t> </a:t>
            </a:r>
            <a:r>
              <a:rPr lang="en-US" b="1" dirty="0" err="1"/>
              <a:t>artması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azalması</a:t>
            </a:r>
            <a:r>
              <a:rPr lang="en-US" dirty="0"/>
              <a:t> → </a:t>
            </a:r>
            <a:r>
              <a:rPr lang="en-US" dirty="0" err="1"/>
              <a:t>İstatistiklerle</a:t>
            </a:r>
            <a:r>
              <a:rPr lang="en-US" dirty="0"/>
              <a:t> </a:t>
            </a:r>
            <a:r>
              <a:rPr lang="en-US" dirty="0" err="1"/>
              <a:t>ölçülebilir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olgudur</a:t>
            </a:r>
            <a:r>
              <a:rPr lang="en-US" dirty="0"/>
              <a:t>.</a:t>
            </a:r>
          </a:p>
          <a:p>
            <a:r>
              <a:rPr lang="en-US" b="1" dirty="0" err="1"/>
              <a:t>Okullaşma</a:t>
            </a:r>
            <a:r>
              <a:rPr lang="en-US" b="1" dirty="0"/>
              <a:t> </a:t>
            </a:r>
            <a:r>
              <a:rPr lang="en-US" b="1" dirty="0" err="1"/>
              <a:t>oranının</a:t>
            </a:r>
            <a:r>
              <a:rPr lang="en-US" b="1" dirty="0"/>
              <a:t> </a:t>
            </a:r>
            <a:r>
              <a:rPr lang="en-US" b="1" dirty="0" err="1"/>
              <a:t>yükselmesi</a:t>
            </a:r>
            <a:r>
              <a:rPr lang="en-US" dirty="0"/>
              <a:t> → </a:t>
            </a:r>
            <a:r>
              <a:rPr lang="en-US" dirty="0" err="1"/>
              <a:t>Gözlenebilir</a:t>
            </a:r>
            <a:r>
              <a:rPr lang="en-US" dirty="0"/>
              <a:t>, </a:t>
            </a:r>
            <a:r>
              <a:rPr lang="en-US" dirty="0" err="1"/>
              <a:t>verilerle</a:t>
            </a:r>
            <a:r>
              <a:rPr lang="en-US" dirty="0"/>
              <a:t> </a:t>
            </a:r>
            <a:r>
              <a:rPr lang="en-US" dirty="0" err="1"/>
              <a:t>kanıtlanabilir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gerçektir</a:t>
            </a:r>
            <a:r>
              <a:rPr lang="en-US" dirty="0"/>
              <a:t>.</a:t>
            </a:r>
          </a:p>
          <a:p>
            <a:r>
              <a:rPr lang="en-US" b="1" dirty="0" err="1"/>
              <a:t>İşsizlik</a:t>
            </a:r>
            <a:r>
              <a:rPr lang="en-US" b="1" dirty="0"/>
              <a:t> </a:t>
            </a:r>
            <a:r>
              <a:rPr lang="en-US" b="1" dirty="0" err="1"/>
              <a:t>oranlarının</a:t>
            </a:r>
            <a:r>
              <a:rPr lang="en-US" b="1" dirty="0"/>
              <a:t> </a:t>
            </a:r>
            <a:r>
              <a:rPr lang="en-US" b="1" dirty="0" err="1"/>
              <a:t>değişmesi</a:t>
            </a:r>
            <a:r>
              <a:rPr lang="en-US" dirty="0"/>
              <a:t> → </a:t>
            </a:r>
            <a:r>
              <a:rPr lang="en-US" dirty="0" err="1"/>
              <a:t>Sayısal</a:t>
            </a:r>
            <a:r>
              <a:rPr lang="en-US" dirty="0"/>
              <a:t> </a:t>
            </a:r>
            <a:r>
              <a:rPr lang="en-US" dirty="0" err="1"/>
              <a:t>verilere</a:t>
            </a:r>
            <a:r>
              <a:rPr lang="en-US" dirty="0"/>
              <a:t> </a:t>
            </a:r>
            <a:r>
              <a:rPr lang="en-US" dirty="0" err="1"/>
              <a:t>dayalı</a:t>
            </a:r>
            <a:r>
              <a:rPr lang="en-US" dirty="0"/>
              <a:t>, </a:t>
            </a:r>
            <a:r>
              <a:rPr lang="en-US" dirty="0" err="1"/>
              <a:t>nesnel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olgudur</a:t>
            </a:r>
            <a:r>
              <a:rPr lang="en-US" dirty="0"/>
              <a:t>.</a:t>
            </a:r>
          </a:p>
          <a:p>
            <a:r>
              <a:rPr lang="en-US" b="1" dirty="0" err="1"/>
              <a:t>Seçimlere</a:t>
            </a:r>
            <a:r>
              <a:rPr lang="en-US" b="1" dirty="0"/>
              <a:t> </a:t>
            </a:r>
            <a:r>
              <a:rPr lang="en-US" b="1" dirty="0" err="1"/>
              <a:t>katılım</a:t>
            </a:r>
            <a:r>
              <a:rPr lang="en-US" b="1" dirty="0"/>
              <a:t> </a:t>
            </a:r>
            <a:r>
              <a:rPr lang="en-US" b="1" dirty="0" err="1"/>
              <a:t>oranı</a:t>
            </a:r>
            <a:r>
              <a:rPr lang="en-US" dirty="0"/>
              <a:t> → </a:t>
            </a:r>
            <a:r>
              <a:rPr lang="en-US" dirty="0" err="1"/>
              <a:t>Ölçülebilir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olgudur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77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569D6-591C-0AD2-4DD0-2EF98C62F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393" y="755780"/>
            <a:ext cx="10112462" cy="4710565"/>
          </a:xfrm>
        </p:spPr>
        <p:txBody>
          <a:bodyPr>
            <a:normAutofit/>
          </a:bodyPr>
          <a:lstStyle/>
          <a:p>
            <a:endParaRPr lang="tr-TR" b="1" dirty="0"/>
          </a:p>
          <a:p>
            <a:r>
              <a:rPr lang="en-US" b="1" dirty="0"/>
              <a:t>3. </a:t>
            </a:r>
            <a:r>
              <a:rPr lang="en-US" b="1" dirty="0" err="1"/>
              <a:t>Genelleyicilik</a:t>
            </a:r>
            <a:endParaRPr lang="en-US" b="1" dirty="0"/>
          </a:p>
          <a:p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olgularla</a:t>
            </a:r>
            <a:r>
              <a:rPr lang="en-US" dirty="0"/>
              <a:t> </a:t>
            </a:r>
            <a:r>
              <a:rPr lang="en-US" dirty="0" err="1"/>
              <a:t>uğraştığı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olguların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içlerindeki</a:t>
            </a:r>
            <a:r>
              <a:rPr lang="en-US" dirty="0"/>
              <a:t> </a:t>
            </a:r>
            <a:r>
              <a:rPr lang="en-US" dirty="0" err="1"/>
              <a:t>benzerlikleri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de </a:t>
            </a:r>
            <a:r>
              <a:rPr lang="en-US" dirty="0" err="1"/>
              <a:t>genellemelere</a:t>
            </a:r>
            <a:r>
              <a:rPr lang="en-US" dirty="0"/>
              <a:t> </a:t>
            </a:r>
            <a:r>
              <a:rPr lang="en-US" dirty="0" err="1"/>
              <a:t>ulaşır</a:t>
            </a:r>
            <a:r>
              <a:rPr lang="en-US" dirty="0"/>
              <a:t>. Somut </a:t>
            </a:r>
            <a:r>
              <a:rPr lang="tr-TR" dirty="0"/>
              <a:t>v</a:t>
            </a:r>
            <a:r>
              <a:rPr lang="en-US" dirty="0" err="1"/>
              <a:t>arlığın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alanını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o </a:t>
            </a:r>
            <a:r>
              <a:rPr lang="en-US" dirty="0" err="1"/>
              <a:t>alanın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parçasını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, </a:t>
            </a:r>
            <a:r>
              <a:rPr lang="en-US" dirty="0" err="1"/>
              <a:t>bunlarla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yasalara</a:t>
            </a:r>
            <a:r>
              <a:rPr lang="en-US" dirty="0"/>
              <a:t> </a:t>
            </a:r>
            <a:r>
              <a:rPr lang="en-US" dirty="0" err="1"/>
              <a:t>ulaşır</a:t>
            </a:r>
            <a:r>
              <a:rPr lang="en-US" dirty="0"/>
              <a:t>. </a:t>
            </a: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olgular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var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ilişkileri</a:t>
            </a:r>
            <a:r>
              <a:rPr lang="en-US" dirty="0"/>
              <a:t> de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koymuş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</a:t>
            </a:r>
          </a:p>
          <a:p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yüksekten</a:t>
            </a:r>
            <a:r>
              <a:rPr lang="en-US" dirty="0"/>
              <a:t> </a:t>
            </a:r>
            <a:r>
              <a:rPr lang="en-US" dirty="0" err="1"/>
              <a:t>bırakılan</a:t>
            </a:r>
            <a:r>
              <a:rPr lang="en-US" dirty="0"/>
              <a:t> </a:t>
            </a:r>
            <a:r>
              <a:rPr lang="en-US" dirty="0" err="1"/>
              <a:t>nesnelerin</a:t>
            </a:r>
            <a:r>
              <a:rPr lang="en-US" dirty="0"/>
              <a:t> </a:t>
            </a:r>
            <a:r>
              <a:rPr lang="en-US" dirty="0" err="1"/>
              <a:t>aşağıya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düşme</a:t>
            </a:r>
            <a:r>
              <a:rPr lang="en-US" dirty="0"/>
              <a:t> </a:t>
            </a:r>
            <a:r>
              <a:rPr lang="en-US" dirty="0" err="1"/>
              <a:t>eğilimini</a:t>
            </a:r>
            <a:r>
              <a:rPr lang="en-US" dirty="0"/>
              <a:t> </a:t>
            </a:r>
            <a:r>
              <a:rPr lang="en-US" dirty="0" err="1"/>
              <a:t>açıklayacak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yaparken</a:t>
            </a:r>
            <a:r>
              <a:rPr lang="en-US" dirty="0"/>
              <a:t> </a:t>
            </a:r>
            <a:r>
              <a:rPr lang="en-US" dirty="0" err="1"/>
              <a:t>taşın</a:t>
            </a:r>
            <a:r>
              <a:rPr lang="en-US" dirty="0"/>
              <a:t> da </a:t>
            </a:r>
            <a:r>
              <a:rPr lang="en-US" dirty="0" err="1"/>
              <a:t>pamuk</a:t>
            </a:r>
            <a:r>
              <a:rPr lang="en-US" dirty="0"/>
              <a:t> </a:t>
            </a:r>
            <a:r>
              <a:rPr lang="en-US" dirty="0" err="1"/>
              <a:t>parçasının</a:t>
            </a:r>
            <a:r>
              <a:rPr lang="en-US" dirty="0"/>
              <a:t> da </a:t>
            </a:r>
            <a:r>
              <a:rPr lang="en-US" dirty="0" err="1"/>
              <a:t>yaprağın</a:t>
            </a:r>
            <a:r>
              <a:rPr lang="en-US" dirty="0"/>
              <a:t> da </a:t>
            </a:r>
            <a:r>
              <a:rPr lang="en-US" dirty="0" err="1"/>
              <a:t>düşme</a:t>
            </a:r>
            <a:r>
              <a:rPr lang="en-US" dirty="0"/>
              <a:t> </a:t>
            </a:r>
            <a:r>
              <a:rPr lang="en-US" dirty="0" err="1"/>
              <a:t>potansiyelini</a:t>
            </a:r>
            <a:r>
              <a:rPr lang="en-US" dirty="0"/>
              <a:t>, </a:t>
            </a:r>
            <a:r>
              <a:rPr lang="en-US" dirty="0" err="1"/>
              <a:t>yerçekimi</a:t>
            </a:r>
            <a:r>
              <a:rPr lang="en-US" dirty="0"/>
              <a:t> </a:t>
            </a:r>
            <a:r>
              <a:rPr lang="en-US" dirty="0" err="1"/>
              <a:t>yasasıyla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. </a:t>
            </a:r>
            <a:r>
              <a:rPr lang="en-US" dirty="0" err="1"/>
              <a:t>Olgusal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durumlar</a:t>
            </a:r>
            <a:r>
              <a:rPr lang="en-US" dirty="0"/>
              <a:t> </a:t>
            </a:r>
            <a:r>
              <a:rPr lang="en-US" dirty="0" err="1"/>
              <a:t>farklıdır</a:t>
            </a:r>
            <a:r>
              <a:rPr lang="en-US" dirty="0"/>
              <a:t>; </a:t>
            </a:r>
            <a:r>
              <a:rPr lang="en-US" dirty="0" err="1"/>
              <a:t>fakat</a:t>
            </a:r>
            <a:r>
              <a:rPr lang="en-US" dirty="0"/>
              <a:t> </a:t>
            </a:r>
            <a:r>
              <a:rPr lang="en-US" dirty="0" err="1"/>
              <a:t>olay</a:t>
            </a:r>
            <a:r>
              <a:rPr lang="en-US" dirty="0"/>
              <a:t>, </a:t>
            </a:r>
            <a:r>
              <a:rPr lang="en-US" dirty="0" err="1"/>
              <a:t>aynıdır</a:t>
            </a:r>
            <a:r>
              <a:rPr lang="en-US" dirty="0"/>
              <a:t>: </a:t>
            </a:r>
            <a:r>
              <a:rPr lang="en-US" dirty="0" err="1"/>
              <a:t>düşme</a:t>
            </a:r>
            <a:r>
              <a:rPr lang="en-US" dirty="0"/>
              <a:t> </a:t>
            </a:r>
            <a:r>
              <a:rPr lang="en-US" dirty="0" err="1"/>
              <a:t>olayı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8959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B1650-5218-04DE-7D0B-D5BEBBA0E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853" y="419100"/>
            <a:ext cx="9622294" cy="4125225"/>
          </a:xfrm>
        </p:spPr>
        <p:txBody>
          <a:bodyPr/>
          <a:lstStyle/>
          <a:p>
            <a:pPr fontAlgn="base"/>
            <a:r>
              <a:rPr lang="en-US" b="1" dirty="0"/>
              <a:t>4. </a:t>
            </a:r>
            <a:r>
              <a:rPr lang="en-US" b="1" dirty="0" err="1"/>
              <a:t>Evrensellik</a:t>
            </a:r>
            <a:endParaRPr lang="en-US" b="1" dirty="0"/>
          </a:p>
          <a:p>
            <a:pPr fontAlgn="base"/>
            <a:r>
              <a:rPr lang="en-US" b="1" dirty="0" err="1"/>
              <a:t>Bilim</a:t>
            </a:r>
            <a:r>
              <a:rPr lang="en-US" b="1" dirty="0"/>
              <a:t> </a:t>
            </a:r>
            <a:r>
              <a:rPr lang="en-US" b="1" dirty="0" err="1"/>
              <a:t>bütün</a:t>
            </a:r>
            <a:r>
              <a:rPr lang="en-US" b="1" dirty="0"/>
              <a:t> </a:t>
            </a:r>
            <a:r>
              <a:rPr lang="en-US" b="1" dirty="0" err="1"/>
              <a:t>insanlığın</a:t>
            </a:r>
            <a:r>
              <a:rPr lang="en-US" b="1" dirty="0"/>
              <a:t> </a:t>
            </a:r>
            <a:r>
              <a:rPr lang="en-US" b="1" dirty="0" err="1"/>
              <a:t>ortak</a:t>
            </a:r>
            <a:r>
              <a:rPr lang="en-US" b="1" dirty="0"/>
              <a:t> </a:t>
            </a:r>
            <a:r>
              <a:rPr lang="en-US" b="1" dirty="0" err="1"/>
              <a:t>mirasıdır</a:t>
            </a:r>
            <a:r>
              <a:rPr lang="en-US" dirty="0"/>
              <a:t>. </a:t>
            </a:r>
            <a:r>
              <a:rPr lang="en-US" dirty="0" err="1"/>
              <a:t>Bilimin</a:t>
            </a:r>
            <a:r>
              <a:rPr lang="en-US" dirty="0"/>
              <a:t> </a:t>
            </a:r>
            <a:r>
              <a:rPr lang="en-US" dirty="0" err="1"/>
              <a:t>bugün</a:t>
            </a:r>
            <a:r>
              <a:rPr lang="en-US" dirty="0"/>
              <a:t> </a:t>
            </a:r>
            <a:r>
              <a:rPr lang="en-US" dirty="0" err="1"/>
              <a:t>bulunduğu</a:t>
            </a:r>
            <a:r>
              <a:rPr lang="en-US" dirty="0"/>
              <a:t> </a:t>
            </a:r>
            <a:r>
              <a:rPr lang="en-US" dirty="0" err="1"/>
              <a:t>gelişmişlik</a:t>
            </a:r>
            <a:r>
              <a:rPr lang="en-US" dirty="0"/>
              <a:t> </a:t>
            </a:r>
            <a:r>
              <a:rPr lang="en-US" dirty="0" err="1"/>
              <a:t>noktası</a:t>
            </a:r>
            <a:r>
              <a:rPr lang="en-US" dirty="0"/>
              <a:t>,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kültürlerde</a:t>
            </a:r>
            <a:r>
              <a:rPr lang="en-US" dirty="0"/>
              <a:t> </a:t>
            </a:r>
            <a:r>
              <a:rPr lang="en-US" dirty="0" err="1"/>
              <a:t>yetişen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adamlarının</a:t>
            </a:r>
            <a:r>
              <a:rPr lang="en-US" dirty="0"/>
              <a:t> </a:t>
            </a:r>
            <a:r>
              <a:rPr lang="en-US" dirty="0" err="1"/>
              <a:t>katkısıyla</a:t>
            </a:r>
            <a:r>
              <a:rPr lang="en-US" dirty="0"/>
              <a:t> </a:t>
            </a:r>
            <a:r>
              <a:rPr lang="en-US" dirty="0" err="1"/>
              <a:t>oluşmuştur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dalında</a:t>
            </a:r>
            <a:r>
              <a:rPr lang="en-US" dirty="0"/>
              <a:t> </a:t>
            </a:r>
            <a:r>
              <a:rPr lang="en-US" dirty="0" err="1"/>
              <a:t>insanlığın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birikimi</a:t>
            </a:r>
            <a:r>
              <a:rPr lang="en-US" dirty="0"/>
              <a:t>, </a:t>
            </a:r>
            <a:r>
              <a:rPr lang="en-US" dirty="0" err="1"/>
              <a:t>yalnızca</a:t>
            </a:r>
            <a:r>
              <a:rPr lang="en-US" dirty="0"/>
              <a:t> o </a:t>
            </a:r>
            <a:r>
              <a:rPr lang="en-US" dirty="0" err="1"/>
              <a:t>bilgiyi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kişinin</a:t>
            </a:r>
            <a:r>
              <a:rPr lang="en-US" dirty="0"/>
              <a:t>, </a:t>
            </a:r>
            <a:r>
              <a:rPr lang="en-US" dirty="0" err="1"/>
              <a:t>grubun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topluluğun</a:t>
            </a:r>
            <a:r>
              <a:rPr lang="en-US" dirty="0"/>
              <a:t> </a:t>
            </a:r>
            <a:r>
              <a:rPr lang="en-US" dirty="0" err="1"/>
              <a:t>malı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insanlığın</a:t>
            </a:r>
            <a:r>
              <a:rPr lang="en-US" dirty="0"/>
              <a:t>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varlığıdır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,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birbirini</a:t>
            </a:r>
            <a:r>
              <a:rPr lang="en-US" dirty="0"/>
              <a:t> </a:t>
            </a:r>
            <a:r>
              <a:rPr lang="en-US" dirty="0" err="1"/>
              <a:t>tamamlayan</a:t>
            </a:r>
            <a:r>
              <a:rPr lang="en-US" dirty="0"/>
              <a:t> </a:t>
            </a:r>
            <a:r>
              <a:rPr lang="en-US" dirty="0" err="1"/>
              <a:t>çalışmaların</a:t>
            </a:r>
            <a:r>
              <a:rPr lang="en-US" dirty="0"/>
              <a:t>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ürünü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çıkmıştır</a:t>
            </a:r>
            <a:r>
              <a:rPr lang="en-US" dirty="0"/>
              <a:t>. Bu </a:t>
            </a:r>
            <a:r>
              <a:rPr lang="en-US" dirty="0" err="1"/>
              <a:t>ürün</a:t>
            </a:r>
            <a:r>
              <a:rPr lang="en-US" dirty="0"/>
              <a:t> de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insanlığın</a:t>
            </a:r>
            <a:r>
              <a:rPr lang="en-US" dirty="0"/>
              <a:t> </a:t>
            </a:r>
            <a:r>
              <a:rPr lang="en-US" dirty="0" err="1"/>
              <a:t>hizmetinde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durumundadır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90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8D45-12CE-4F42-CB56-57E905FE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279" y="198120"/>
            <a:ext cx="9603275" cy="4376685"/>
          </a:xfrm>
        </p:spPr>
        <p:txBody>
          <a:bodyPr/>
          <a:lstStyle/>
          <a:p>
            <a:pPr fontAlgn="base"/>
            <a:r>
              <a:rPr lang="en-US" dirty="0" err="1"/>
              <a:t>Örneğin</a:t>
            </a:r>
            <a:r>
              <a:rPr lang="en-US" dirty="0"/>
              <a:t>, </a:t>
            </a:r>
            <a:r>
              <a:rPr lang="en-US" b="1" dirty="0" err="1"/>
              <a:t>tıp</a:t>
            </a:r>
            <a:r>
              <a:rPr lang="en-US" b="1" dirty="0"/>
              <a:t> </a:t>
            </a:r>
            <a:r>
              <a:rPr lang="en-US" dirty="0" err="1"/>
              <a:t>alanında</a:t>
            </a:r>
            <a:r>
              <a:rPr lang="en-US" dirty="0"/>
              <a:t> </a:t>
            </a: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tedavi</a:t>
            </a:r>
            <a:r>
              <a:rPr lang="en-US" dirty="0"/>
              <a:t> </a:t>
            </a:r>
            <a:r>
              <a:rPr lang="en-US" dirty="0" err="1"/>
              <a:t>yöntemi</a:t>
            </a:r>
            <a:r>
              <a:rPr lang="en-US" dirty="0"/>
              <a:t>, </a:t>
            </a:r>
            <a:r>
              <a:rPr lang="en-US" dirty="0" err="1"/>
              <a:t>yalnızca</a:t>
            </a:r>
            <a:r>
              <a:rPr lang="en-US" dirty="0"/>
              <a:t> o </a:t>
            </a:r>
            <a:r>
              <a:rPr lang="en-US" dirty="0" err="1"/>
              <a:t>yöntemi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kişinin</a:t>
            </a:r>
            <a:r>
              <a:rPr lang="en-US" dirty="0"/>
              <a:t>, </a:t>
            </a:r>
            <a:r>
              <a:rPr lang="en-US" dirty="0" err="1"/>
              <a:t>grubun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toplumun</a:t>
            </a:r>
            <a:r>
              <a:rPr lang="en-US" dirty="0"/>
              <a:t> </a:t>
            </a:r>
            <a:r>
              <a:rPr lang="en-US" dirty="0" err="1"/>
              <a:t>malı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belli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grubuna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insanlığa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tıp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aittir</a:t>
            </a:r>
            <a:r>
              <a:rPr lang="en-US" dirty="0"/>
              <a:t>.</a:t>
            </a:r>
          </a:p>
          <a:p>
            <a:pPr fontAlgn="base"/>
            <a:r>
              <a:rPr lang="en-US" b="1" dirty="0" err="1"/>
              <a:t>Evrensellik</a:t>
            </a:r>
            <a:r>
              <a:rPr lang="en-US" b="1" dirty="0"/>
              <a:t> </a:t>
            </a:r>
            <a:r>
              <a:rPr lang="en-US" dirty="0" err="1"/>
              <a:t>ayrıca</a:t>
            </a:r>
            <a:r>
              <a:rPr lang="en-US" dirty="0"/>
              <a:t>,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yasaların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toplumlarda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edilmesi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da </a:t>
            </a:r>
            <a:r>
              <a:rPr lang="en-US" dirty="0" err="1"/>
              <a:t>karşımıza</a:t>
            </a:r>
            <a:r>
              <a:rPr lang="en-US" dirty="0"/>
              <a:t> </a:t>
            </a:r>
            <a:r>
              <a:rPr lang="en-US" dirty="0" err="1"/>
              <a:t>çıkabilmektedir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kanser</a:t>
            </a:r>
            <a:r>
              <a:rPr lang="en-US" dirty="0"/>
              <a:t> </a:t>
            </a:r>
            <a:r>
              <a:rPr lang="en-US" dirty="0" err="1"/>
              <a:t>hücreleri</a:t>
            </a:r>
            <a:r>
              <a:rPr lang="en-US" dirty="0"/>
              <a:t>, </a:t>
            </a:r>
            <a:r>
              <a:rPr lang="en-US" dirty="0" err="1"/>
              <a:t>dünyanın</a:t>
            </a:r>
            <a:r>
              <a:rPr lang="en-US" dirty="0"/>
              <a:t> her </a:t>
            </a:r>
            <a:r>
              <a:rPr lang="en-US" dirty="0" err="1"/>
              <a:t>yerinde</a:t>
            </a:r>
            <a:r>
              <a:rPr lang="en-US" dirty="0"/>
              <a:t> </a:t>
            </a:r>
            <a:r>
              <a:rPr lang="en-US" dirty="0" err="1"/>
              <a:t>kanser</a:t>
            </a:r>
            <a:r>
              <a:rPr lang="en-US" dirty="0"/>
              <a:t> </a:t>
            </a:r>
            <a:r>
              <a:rPr lang="en-US" dirty="0" err="1"/>
              <a:t>hücresidir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bunlara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mücadele</a:t>
            </a:r>
            <a:r>
              <a:rPr lang="en-US" dirty="0"/>
              <a:t> de </a:t>
            </a:r>
            <a:r>
              <a:rPr lang="en-US" dirty="0" err="1"/>
              <a:t>evrensel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mücadeledir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569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1FEA-84EF-BB98-738D-880DE15F6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845820"/>
            <a:ext cx="9603275" cy="4620525"/>
          </a:xfrm>
        </p:spPr>
        <p:txBody>
          <a:bodyPr/>
          <a:lstStyle/>
          <a:p>
            <a:r>
              <a:rPr lang="en-US" dirty="0" err="1"/>
              <a:t>Evrensellik</a:t>
            </a:r>
            <a:r>
              <a:rPr lang="en-US" dirty="0"/>
              <a:t>,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yasaların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toplumlarda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edilmesi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da </a:t>
            </a:r>
            <a:r>
              <a:rPr lang="en-US" dirty="0" err="1"/>
              <a:t>karşımıza</a:t>
            </a:r>
            <a:r>
              <a:rPr lang="en-US" dirty="0"/>
              <a:t> </a:t>
            </a:r>
            <a:r>
              <a:rPr lang="en-US" dirty="0" err="1"/>
              <a:t>çıkabilmektedir</a:t>
            </a:r>
            <a:r>
              <a:rPr lang="en-US" dirty="0"/>
              <a:t>.</a:t>
            </a:r>
            <a:endParaRPr lang="tr-TR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312510-3D52-FA5B-1713-5FAD3A06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557" y="1990219"/>
            <a:ext cx="6503903" cy="319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94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45D83F-962C-39F7-9A35-AC876581D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67" y="0"/>
            <a:ext cx="10943383" cy="5465763"/>
          </a:xfrm>
        </p:spPr>
        <p:txBody>
          <a:bodyPr>
            <a:normAutofit/>
          </a:bodyPr>
          <a:lstStyle/>
          <a:p>
            <a:pPr fontAlgn="base"/>
            <a:r>
              <a:rPr lang="en-US" sz="1800" b="1" dirty="0"/>
              <a:t>5. </a:t>
            </a:r>
            <a:r>
              <a:rPr lang="en-US" sz="1800" b="1" dirty="0" err="1"/>
              <a:t>Birikimlilik</a:t>
            </a:r>
            <a:endParaRPr lang="en-US" sz="1800" b="1" dirty="0"/>
          </a:p>
          <a:p>
            <a:pPr fontAlgn="base"/>
            <a:r>
              <a:rPr lang="en-US" sz="1800" dirty="0" err="1"/>
              <a:t>Bilim</a:t>
            </a:r>
            <a:r>
              <a:rPr lang="en-US" sz="1800" dirty="0"/>
              <a:t>, </a:t>
            </a:r>
            <a:r>
              <a:rPr lang="en-US" sz="1800" b="1" dirty="0" err="1"/>
              <a:t>dinamik</a:t>
            </a:r>
            <a:r>
              <a:rPr lang="en-US" sz="1800" b="1" dirty="0"/>
              <a:t> 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süreçtir</a:t>
            </a:r>
            <a:r>
              <a:rPr lang="en-US" sz="1800" dirty="0"/>
              <a:t>; </a:t>
            </a:r>
            <a:r>
              <a:rPr lang="en-US" sz="1800" dirty="0" err="1"/>
              <a:t>düzenli</a:t>
            </a:r>
            <a:r>
              <a:rPr lang="en-US" sz="1800" dirty="0"/>
              <a:t> </a:t>
            </a:r>
            <a:r>
              <a:rPr lang="en-US" sz="1800" dirty="0" err="1"/>
              <a:t>olarak</a:t>
            </a:r>
            <a:r>
              <a:rPr lang="en-US" sz="1800" dirty="0"/>
              <a:t> </a:t>
            </a:r>
            <a:r>
              <a:rPr lang="en-US" sz="1800" dirty="0" err="1"/>
              <a:t>önceki</a:t>
            </a:r>
            <a:r>
              <a:rPr lang="en-US" sz="1800" dirty="0"/>
              <a:t> </a:t>
            </a:r>
            <a:r>
              <a:rPr lang="en-US" sz="1800" dirty="0" err="1"/>
              <a:t>bilimsel</a:t>
            </a:r>
            <a:r>
              <a:rPr lang="en-US" sz="1800" dirty="0"/>
              <a:t> </a:t>
            </a:r>
            <a:r>
              <a:rPr lang="en-US" sz="1800" dirty="0" err="1"/>
              <a:t>çalışmalar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bilimsel</a:t>
            </a:r>
            <a:r>
              <a:rPr lang="en-US" sz="1800" dirty="0"/>
              <a:t> </a:t>
            </a:r>
            <a:r>
              <a:rPr lang="en-US" sz="1800" dirty="0" err="1"/>
              <a:t>teoriler</a:t>
            </a:r>
            <a:r>
              <a:rPr lang="en-US" sz="1800" dirty="0"/>
              <a:t> </a:t>
            </a:r>
            <a:r>
              <a:rPr lang="en-US" sz="1800" dirty="0" err="1"/>
              <a:t>üzerine</a:t>
            </a:r>
            <a:r>
              <a:rPr lang="en-US" sz="1800" dirty="0"/>
              <a:t> </a:t>
            </a:r>
            <a:r>
              <a:rPr lang="en-US" sz="1800" dirty="0" err="1"/>
              <a:t>gelişme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yenilenme</a:t>
            </a:r>
            <a:r>
              <a:rPr lang="en-US" sz="1800" dirty="0"/>
              <a:t> </a:t>
            </a:r>
            <a:r>
              <a:rPr lang="en-US" sz="1800" dirty="0" err="1"/>
              <a:t>gösterir</a:t>
            </a:r>
            <a:r>
              <a:rPr lang="en-US" sz="1800" dirty="0"/>
              <a:t>. Bunun </a:t>
            </a:r>
            <a:r>
              <a:rPr lang="en-US" sz="1800" dirty="0" err="1"/>
              <a:t>sonucu</a:t>
            </a:r>
            <a:r>
              <a:rPr lang="en-US" sz="1800" dirty="0"/>
              <a:t> </a:t>
            </a:r>
            <a:r>
              <a:rPr lang="en-US" sz="1800" dirty="0" err="1"/>
              <a:t>olarak</a:t>
            </a:r>
            <a:r>
              <a:rPr lang="en-US" sz="1800" dirty="0"/>
              <a:t> </a:t>
            </a:r>
            <a:r>
              <a:rPr lang="en-US" sz="1800" dirty="0" err="1"/>
              <a:t>bilimsel</a:t>
            </a:r>
            <a:r>
              <a:rPr lang="en-US" sz="1800" dirty="0"/>
              <a:t> </a:t>
            </a:r>
            <a:r>
              <a:rPr lang="en-US" sz="1800" dirty="0" err="1"/>
              <a:t>bilgi</a:t>
            </a:r>
            <a:r>
              <a:rPr lang="en-US" sz="1800" dirty="0"/>
              <a:t> de </a:t>
            </a:r>
            <a:r>
              <a:rPr lang="en-US" sz="1800" dirty="0" err="1"/>
              <a:t>dinamiktir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gelişip</a:t>
            </a:r>
            <a:r>
              <a:rPr lang="en-US" sz="1800" dirty="0"/>
              <a:t> </a:t>
            </a:r>
            <a:r>
              <a:rPr lang="en-US" sz="1800" dirty="0" err="1"/>
              <a:t>yenilenebilir</a:t>
            </a:r>
            <a:r>
              <a:rPr lang="en-US" sz="1800" dirty="0"/>
              <a:t>.</a:t>
            </a:r>
          </a:p>
          <a:p>
            <a:pPr fontAlgn="base"/>
            <a:r>
              <a:rPr lang="en-US" sz="1800" dirty="0" err="1"/>
              <a:t>Bilimin</a:t>
            </a:r>
            <a:r>
              <a:rPr lang="en-US" sz="1800" dirty="0"/>
              <a:t> </a:t>
            </a:r>
            <a:r>
              <a:rPr lang="en-US" sz="1800" dirty="0" err="1"/>
              <a:t>düzenli</a:t>
            </a:r>
            <a:r>
              <a:rPr lang="en-US" sz="1800" dirty="0"/>
              <a:t> </a:t>
            </a:r>
            <a:r>
              <a:rPr lang="en-US" sz="1800" dirty="0" err="1"/>
              <a:t>olarak</a:t>
            </a:r>
            <a:r>
              <a:rPr lang="en-US" sz="1800" dirty="0"/>
              <a:t> hem </a:t>
            </a:r>
            <a:r>
              <a:rPr lang="en-US" sz="1800" dirty="0" err="1"/>
              <a:t>insanlığın</a:t>
            </a:r>
            <a:r>
              <a:rPr lang="en-US" sz="1800" dirty="0"/>
              <a:t> </a:t>
            </a:r>
            <a:r>
              <a:rPr lang="en-US" sz="1800" dirty="0" err="1"/>
              <a:t>geçmiş</a:t>
            </a:r>
            <a:r>
              <a:rPr lang="en-US" sz="1800" dirty="0"/>
              <a:t> </a:t>
            </a:r>
            <a:r>
              <a:rPr lang="en-US" sz="1800" dirty="0" err="1"/>
              <a:t>bilgi</a:t>
            </a:r>
            <a:r>
              <a:rPr lang="en-US" sz="1800" dirty="0"/>
              <a:t> </a:t>
            </a:r>
            <a:r>
              <a:rPr lang="en-US" sz="1800" dirty="0" err="1"/>
              <a:t>birikiminden</a:t>
            </a:r>
            <a:r>
              <a:rPr lang="en-US" sz="1800" dirty="0"/>
              <a:t> </a:t>
            </a:r>
            <a:r>
              <a:rPr lang="en-US" sz="1800" dirty="0" err="1"/>
              <a:t>faydalanıp</a:t>
            </a:r>
            <a:r>
              <a:rPr lang="en-US" sz="1800" dirty="0"/>
              <a:t> hem de </a:t>
            </a:r>
            <a:r>
              <a:rPr lang="en-US" sz="1800" dirty="0" err="1"/>
              <a:t>geleceğe</a:t>
            </a:r>
            <a:r>
              <a:rPr lang="en-US" sz="1800" dirty="0"/>
              <a:t> </a:t>
            </a:r>
            <a:r>
              <a:rPr lang="en-US" sz="1800" dirty="0" err="1"/>
              <a:t>bilgi</a:t>
            </a:r>
            <a:r>
              <a:rPr lang="en-US" sz="1800" dirty="0"/>
              <a:t> </a:t>
            </a:r>
            <a:r>
              <a:rPr lang="en-US" sz="1800" dirty="0" err="1"/>
              <a:t>aktarımı</a:t>
            </a:r>
            <a:r>
              <a:rPr lang="en-US" sz="1800" dirty="0"/>
              <a:t> </a:t>
            </a:r>
            <a:r>
              <a:rPr lang="en-US" sz="1800" dirty="0" err="1"/>
              <a:t>sağlaması</a:t>
            </a:r>
            <a:r>
              <a:rPr lang="en-US" sz="1800" dirty="0"/>
              <a:t>, </a:t>
            </a:r>
            <a:r>
              <a:rPr lang="en-US" sz="1800" dirty="0" err="1"/>
              <a:t>bilimin</a:t>
            </a:r>
            <a:r>
              <a:rPr lang="en-US" sz="1800" dirty="0"/>
              <a:t> </a:t>
            </a:r>
            <a:r>
              <a:rPr lang="en-US" sz="1800" b="1" dirty="0" err="1"/>
              <a:t>birikimsel</a:t>
            </a:r>
            <a:r>
              <a:rPr lang="en-US" sz="1800" b="1" dirty="0"/>
              <a:t> </a:t>
            </a:r>
            <a:r>
              <a:rPr lang="en-US" sz="1800" dirty="0" err="1"/>
              <a:t>oluşunu</a:t>
            </a:r>
            <a:r>
              <a:rPr lang="en-US" sz="1800" dirty="0"/>
              <a:t> </a:t>
            </a:r>
            <a:r>
              <a:rPr lang="en-US" sz="1800" dirty="0" err="1"/>
              <a:t>tanımlamaktadır</a:t>
            </a:r>
            <a:r>
              <a:rPr lang="en-US" sz="1800" dirty="0"/>
              <a:t>.</a:t>
            </a:r>
          </a:p>
          <a:p>
            <a:pPr fontAlgn="base"/>
            <a:r>
              <a:rPr lang="en-US" sz="1800" b="1" dirty="0" err="1"/>
              <a:t>Birikmek</a:t>
            </a:r>
            <a:r>
              <a:rPr lang="en-US" sz="1800" dirty="0"/>
              <a:t>, </a:t>
            </a:r>
            <a:r>
              <a:rPr lang="en-US" sz="1800" dirty="0" err="1"/>
              <a:t>üzerine</a:t>
            </a:r>
            <a:r>
              <a:rPr lang="en-US" sz="1800" dirty="0"/>
              <a:t> </a:t>
            </a:r>
            <a:r>
              <a:rPr lang="en-US" sz="1800" dirty="0" err="1"/>
              <a:t>koyarak</a:t>
            </a:r>
            <a:r>
              <a:rPr lang="en-US" sz="1800" dirty="0"/>
              <a:t>, </a:t>
            </a:r>
            <a:r>
              <a:rPr lang="en-US" sz="1800" dirty="0" err="1"/>
              <a:t>gelişerek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değişerek</a:t>
            </a:r>
            <a:r>
              <a:rPr lang="en-US" sz="1800" dirty="0"/>
              <a:t> </a:t>
            </a:r>
            <a:r>
              <a:rPr lang="en-US" sz="1800" dirty="0" err="1"/>
              <a:t>yön</a:t>
            </a:r>
            <a:r>
              <a:rPr lang="en-US" sz="1800" dirty="0"/>
              <a:t> </a:t>
            </a:r>
            <a:r>
              <a:rPr lang="en-US" sz="1800" dirty="0" err="1"/>
              <a:t>almak</a:t>
            </a:r>
            <a:r>
              <a:rPr lang="en-US" sz="1800" dirty="0"/>
              <a:t> </a:t>
            </a:r>
            <a:r>
              <a:rPr lang="en-US" sz="1800" dirty="0" err="1"/>
              <a:t>anlamında</a:t>
            </a:r>
            <a:r>
              <a:rPr lang="en-US" sz="1800" dirty="0"/>
              <a:t> </a:t>
            </a:r>
            <a:r>
              <a:rPr lang="en-US" sz="1800" dirty="0" err="1"/>
              <a:t>olduğundan</a:t>
            </a:r>
            <a:r>
              <a:rPr lang="en-US" sz="1800" dirty="0"/>
              <a:t> </a:t>
            </a:r>
            <a:r>
              <a:rPr lang="en-US" sz="1800" dirty="0" err="1"/>
              <a:t>bilim</a:t>
            </a:r>
            <a:r>
              <a:rPr lang="en-US" sz="1800" dirty="0"/>
              <a:t> de </a:t>
            </a:r>
            <a:r>
              <a:rPr lang="en-US" sz="1800" dirty="0" err="1"/>
              <a:t>önceki</a:t>
            </a:r>
            <a:r>
              <a:rPr lang="en-US" sz="1800" dirty="0"/>
              <a:t> </a:t>
            </a:r>
            <a:r>
              <a:rPr lang="en-US" sz="1800" dirty="0" err="1"/>
              <a:t>bilgilerin</a:t>
            </a:r>
            <a:r>
              <a:rPr lang="en-US" sz="1800" dirty="0"/>
              <a:t> </a:t>
            </a:r>
            <a:r>
              <a:rPr lang="en-US" sz="1800" dirty="0" err="1"/>
              <a:t>üzerine</a:t>
            </a:r>
            <a:r>
              <a:rPr lang="en-US" sz="1800" dirty="0"/>
              <a:t> </a:t>
            </a:r>
            <a:r>
              <a:rPr lang="en-US" sz="1800" dirty="0" err="1"/>
              <a:t>koyup</a:t>
            </a:r>
            <a:r>
              <a:rPr lang="en-US" sz="1800" dirty="0"/>
              <a:t> </a:t>
            </a:r>
            <a:r>
              <a:rPr lang="en-US" sz="1800" dirty="0" err="1"/>
              <a:t>gelişirken</a:t>
            </a:r>
            <a:r>
              <a:rPr lang="en-US" sz="1800" dirty="0"/>
              <a:t> </a:t>
            </a:r>
            <a:r>
              <a:rPr lang="en-US" sz="1800" dirty="0" err="1"/>
              <a:t>insanlığın</a:t>
            </a:r>
            <a:r>
              <a:rPr lang="en-US" sz="1800" dirty="0"/>
              <a:t> </a:t>
            </a:r>
            <a:r>
              <a:rPr lang="en-US" sz="1800" dirty="0" err="1"/>
              <a:t>geleceğine</a:t>
            </a:r>
            <a:r>
              <a:rPr lang="en-US" sz="1800" dirty="0"/>
              <a:t> </a:t>
            </a:r>
            <a:r>
              <a:rPr lang="en-US" sz="1800" dirty="0" err="1"/>
              <a:t>dönük</a:t>
            </a:r>
            <a:r>
              <a:rPr lang="en-US" sz="1800" dirty="0"/>
              <a:t> de </a:t>
            </a:r>
            <a:r>
              <a:rPr lang="en-US" sz="1800" dirty="0" err="1"/>
              <a:t>birikim</a:t>
            </a:r>
            <a:r>
              <a:rPr lang="en-US" sz="1800" dirty="0"/>
              <a:t> </a:t>
            </a:r>
            <a:r>
              <a:rPr lang="en-US" sz="1800" dirty="0" err="1"/>
              <a:t>yapmaya</a:t>
            </a:r>
            <a:r>
              <a:rPr lang="en-US" sz="1800" dirty="0"/>
              <a:t> </a:t>
            </a:r>
            <a:r>
              <a:rPr lang="en-US" sz="1800" dirty="0" err="1"/>
              <a:t>devam</a:t>
            </a:r>
            <a:r>
              <a:rPr lang="en-US" sz="1800" dirty="0"/>
              <a:t> </a:t>
            </a:r>
            <a:r>
              <a:rPr lang="en-US" sz="1800" dirty="0" err="1"/>
              <a:t>etmektedir</a:t>
            </a:r>
            <a:r>
              <a:rPr lang="en-US" sz="1800" dirty="0"/>
              <a:t>.</a:t>
            </a:r>
          </a:p>
          <a:p>
            <a:pPr fontAlgn="base"/>
            <a:r>
              <a:rPr lang="en-US" sz="1800" dirty="0" err="1"/>
              <a:t>Örneğin</a:t>
            </a:r>
            <a:r>
              <a:rPr lang="en-US" sz="1800" dirty="0"/>
              <a:t> </a:t>
            </a:r>
            <a:r>
              <a:rPr lang="en-US" sz="1800" dirty="0" err="1"/>
              <a:t>günümüzde</a:t>
            </a:r>
            <a:r>
              <a:rPr lang="en-US" sz="1800" dirty="0"/>
              <a:t> </a:t>
            </a:r>
            <a:r>
              <a:rPr lang="en-US" sz="1800" dirty="0" err="1"/>
              <a:t>kullanılan</a:t>
            </a:r>
            <a:r>
              <a:rPr lang="en-US" sz="1800" dirty="0"/>
              <a:t> son </a:t>
            </a:r>
            <a:r>
              <a:rPr lang="en-US" sz="1800" dirty="0" err="1"/>
              <a:t>derece</a:t>
            </a:r>
            <a:r>
              <a:rPr lang="en-US" sz="1800" dirty="0"/>
              <a:t> </a:t>
            </a:r>
            <a:r>
              <a:rPr lang="en-US" sz="1800" dirty="0" err="1"/>
              <a:t>ileri</a:t>
            </a:r>
            <a:r>
              <a:rPr lang="en-US" sz="1800" dirty="0"/>
              <a:t> </a:t>
            </a:r>
            <a:r>
              <a:rPr lang="en-US" sz="1800" dirty="0" err="1"/>
              <a:t>teknolojik</a:t>
            </a:r>
            <a:r>
              <a:rPr lang="en-US" sz="1800" dirty="0"/>
              <a:t> </a:t>
            </a:r>
            <a:r>
              <a:rPr lang="en-US" sz="1800" dirty="0" err="1"/>
              <a:t>teleskoplar</a:t>
            </a:r>
            <a:r>
              <a:rPr lang="en-US" sz="1800" dirty="0"/>
              <a:t>, 10. </a:t>
            </a:r>
            <a:r>
              <a:rPr lang="en-US" sz="1800" dirty="0" err="1"/>
              <a:t>yüzyılda</a:t>
            </a:r>
            <a:r>
              <a:rPr lang="en-US" sz="1800" dirty="0"/>
              <a:t> </a:t>
            </a:r>
            <a:r>
              <a:rPr lang="en-US" sz="1800" dirty="0" err="1"/>
              <a:t>yaşamış</a:t>
            </a:r>
            <a:r>
              <a:rPr lang="en-US" sz="1800" dirty="0"/>
              <a:t> </a:t>
            </a:r>
            <a:r>
              <a:rPr lang="en-US" sz="1800" dirty="0" err="1"/>
              <a:t>olan</a:t>
            </a:r>
            <a:r>
              <a:rPr lang="en-US" sz="1800" dirty="0"/>
              <a:t> </a:t>
            </a:r>
            <a:r>
              <a:rPr lang="en-US" sz="1800" b="1" dirty="0">
                <a:hlinkClick r:id="rId2"/>
              </a:rPr>
              <a:t>İbn-</a:t>
            </a:r>
            <a:r>
              <a:rPr lang="en-US" sz="1800" b="1" dirty="0" err="1">
                <a:hlinkClick r:id="rId2"/>
              </a:rPr>
              <a:t>i</a:t>
            </a:r>
            <a:r>
              <a:rPr lang="en-US" sz="1800" b="1" dirty="0">
                <a:hlinkClick r:id="rId2"/>
              </a:rPr>
              <a:t> </a:t>
            </a:r>
            <a:r>
              <a:rPr lang="en-US" sz="1800" b="1" dirty="0" err="1">
                <a:hlinkClick r:id="rId2"/>
              </a:rPr>
              <a:t>Heysem</a:t>
            </a:r>
            <a:r>
              <a:rPr lang="en-US" sz="1800" dirty="0" err="1"/>
              <a:t>’in</a:t>
            </a:r>
            <a:r>
              <a:rPr lang="en-US" sz="1800" dirty="0"/>
              <a:t> </a:t>
            </a:r>
            <a:r>
              <a:rPr lang="en-US" sz="1800" dirty="0" err="1"/>
              <a:t>optik</a:t>
            </a:r>
            <a:r>
              <a:rPr lang="en-US" sz="1800" dirty="0"/>
              <a:t> </a:t>
            </a:r>
            <a:r>
              <a:rPr lang="en-US" sz="1800" dirty="0" err="1"/>
              <a:t>çalışmalarının</a:t>
            </a:r>
            <a:r>
              <a:rPr lang="en-US" sz="1800" dirty="0"/>
              <a:t> </a:t>
            </a:r>
            <a:r>
              <a:rPr lang="en-US" sz="1800" dirty="0" err="1"/>
              <a:t>sonucunda</a:t>
            </a:r>
            <a:r>
              <a:rPr lang="en-US" sz="1800" dirty="0"/>
              <a:t> </a:t>
            </a:r>
            <a:r>
              <a:rPr lang="en-US" sz="1800" dirty="0" err="1"/>
              <a:t>geliştirilmiştir</a:t>
            </a:r>
            <a:r>
              <a:rPr lang="en-US" sz="1800" dirty="0"/>
              <a:t>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521B77-C89B-31BA-9C0F-4CCB06C65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494" y="3205065"/>
            <a:ext cx="5143718" cy="262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23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97B4A-C33F-FE73-9DB3-A815349E5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5" y="83976"/>
            <a:ext cx="10980209" cy="5382369"/>
          </a:xfrm>
        </p:spPr>
        <p:txBody>
          <a:bodyPr/>
          <a:lstStyle/>
          <a:p>
            <a:pPr fontAlgn="base"/>
            <a:r>
              <a:rPr lang="en-US" b="1" dirty="0"/>
              <a:t>6. </a:t>
            </a:r>
            <a:r>
              <a:rPr lang="en-US" b="1" dirty="0" err="1"/>
              <a:t>Tutarlılık</a:t>
            </a:r>
            <a:endParaRPr lang="en-US" b="1" dirty="0"/>
          </a:p>
          <a:p>
            <a:pPr fontAlgn="base"/>
            <a:r>
              <a:rPr lang="en-US" b="1" dirty="0" err="1"/>
              <a:t>Tutarlılık</a:t>
            </a:r>
            <a:r>
              <a:rPr lang="en-US" dirty="0"/>
              <a:t>, </a:t>
            </a:r>
            <a:r>
              <a:rPr lang="en-US" dirty="0" err="1"/>
              <a:t>mantık</a:t>
            </a:r>
            <a:r>
              <a:rPr lang="en-US" dirty="0"/>
              <a:t> </a:t>
            </a:r>
            <a:r>
              <a:rPr lang="en-US" dirty="0" err="1"/>
              <a:t>biliminin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koyduğu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yapıdır</a:t>
            </a:r>
            <a:r>
              <a:rPr lang="en-US" dirty="0"/>
              <a:t>. </a:t>
            </a:r>
            <a:r>
              <a:rPr lang="en-US" b="1" dirty="0" err="1"/>
              <a:t>Tutarlılık</a:t>
            </a:r>
            <a:r>
              <a:rPr lang="en-US" dirty="0"/>
              <a:t>, </a:t>
            </a:r>
            <a:r>
              <a:rPr lang="en-US" dirty="0" err="1"/>
              <a:t>düşüncelerin</a:t>
            </a:r>
            <a:r>
              <a:rPr lang="en-US" dirty="0"/>
              <a:t>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ilkeyle</a:t>
            </a:r>
            <a:r>
              <a:rPr lang="en-US" dirty="0"/>
              <a:t>; </a:t>
            </a:r>
            <a:r>
              <a:rPr lang="en-US" dirty="0" err="1"/>
              <a:t>bağıntı</a:t>
            </a:r>
            <a:r>
              <a:rPr lang="en-US" dirty="0"/>
              <a:t>, </a:t>
            </a:r>
            <a:r>
              <a:rPr lang="en-US" dirty="0" err="1"/>
              <a:t>düzen</a:t>
            </a:r>
            <a:r>
              <a:rPr lang="en-US" dirty="0"/>
              <a:t>, </a:t>
            </a:r>
            <a:r>
              <a:rPr lang="en-US" dirty="0" err="1"/>
              <a:t>kavram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fikirle</a:t>
            </a:r>
            <a:r>
              <a:rPr lang="en-US" dirty="0"/>
              <a:t> </a:t>
            </a:r>
            <a:r>
              <a:rPr lang="en-US" dirty="0" err="1"/>
              <a:t>birbirine</a:t>
            </a:r>
            <a:r>
              <a:rPr lang="en-US" dirty="0"/>
              <a:t> </a:t>
            </a:r>
            <a:r>
              <a:rPr lang="en-US" dirty="0" err="1"/>
              <a:t>bağlanmış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durumu</a:t>
            </a:r>
            <a:r>
              <a:rPr lang="en-US" dirty="0"/>
              <a:t>; </a:t>
            </a:r>
            <a:r>
              <a:rPr lang="en-US" dirty="0" err="1"/>
              <a:t>mantıklı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bütünün</a:t>
            </a:r>
            <a:r>
              <a:rPr lang="en-US" dirty="0"/>
              <a:t> </a:t>
            </a:r>
            <a:r>
              <a:rPr lang="en-US" dirty="0" err="1"/>
              <a:t>parçaları</a:t>
            </a:r>
            <a:r>
              <a:rPr lang="en-US" dirty="0"/>
              <a:t>, </a:t>
            </a:r>
            <a:r>
              <a:rPr lang="en-US" dirty="0" err="1"/>
              <a:t>ögeleri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, </a:t>
            </a:r>
            <a:r>
              <a:rPr lang="en-US" dirty="0" err="1"/>
              <a:t>karşılıklı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uyum</a:t>
            </a:r>
            <a:r>
              <a:rPr lang="en-US" dirty="0"/>
              <a:t> </a:t>
            </a:r>
            <a:r>
              <a:rPr lang="en-US" dirty="0" err="1"/>
              <a:t>bulunması</a:t>
            </a:r>
            <a:r>
              <a:rPr lang="en-US" dirty="0"/>
              <a:t> </a:t>
            </a:r>
            <a:r>
              <a:rPr lang="en-US" dirty="0" err="1"/>
              <a:t>hâlidir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de hem </a:t>
            </a:r>
            <a:r>
              <a:rPr lang="en-US" dirty="0" err="1"/>
              <a:t>üretilirken</a:t>
            </a:r>
            <a:r>
              <a:rPr lang="en-US" dirty="0"/>
              <a:t> hem de </a:t>
            </a:r>
            <a:r>
              <a:rPr lang="en-US" dirty="0" err="1"/>
              <a:t>doğrulanırken</a:t>
            </a:r>
            <a:r>
              <a:rPr lang="en-US" dirty="0"/>
              <a:t> </a:t>
            </a:r>
            <a:r>
              <a:rPr lang="en-US" dirty="0" err="1"/>
              <a:t>mantık</a:t>
            </a:r>
            <a:r>
              <a:rPr lang="en-US" dirty="0"/>
              <a:t> </a:t>
            </a:r>
            <a:r>
              <a:rPr lang="en-US" dirty="0" err="1"/>
              <a:t>kurallarına</a:t>
            </a:r>
            <a:r>
              <a:rPr lang="en-US" dirty="0"/>
              <a:t> </a:t>
            </a:r>
            <a:r>
              <a:rPr lang="en-US" dirty="0" err="1"/>
              <a:t>uymak</a:t>
            </a:r>
            <a:r>
              <a:rPr lang="en-US" dirty="0"/>
              <a:t> </a:t>
            </a:r>
            <a:r>
              <a:rPr lang="en-US" dirty="0" err="1"/>
              <a:t>durumundadır</a:t>
            </a:r>
            <a:r>
              <a:rPr lang="en-US" dirty="0"/>
              <a:t>. </a:t>
            </a:r>
            <a:r>
              <a:rPr lang="en-US" dirty="0" err="1"/>
              <a:t>Birbirini</a:t>
            </a:r>
            <a:r>
              <a:rPr lang="en-US" dirty="0"/>
              <a:t> </a:t>
            </a:r>
            <a:r>
              <a:rPr lang="en-US" dirty="0" err="1"/>
              <a:t>yanlışlayan</a:t>
            </a:r>
            <a:r>
              <a:rPr lang="en-US" dirty="0"/>
              <a:t> </a:t>
            </a:r>
            <a:r>
              <a:rPr lang="en-US" dirty="0" err="1"/>
              <a:t>bilgilere</a:t>
            </a:r>
            <a:r>
              <a:rPr lang="en-US" dirty="0"/>
              <a:t> </a:t>
            </a:r>
            <a:r>
              <a:rPr lang="en-US" dirty="0" err="1"/>
              <a:t>bilimde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 Bir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oluşturan</a:t>
            </a:r>
            <a:r>
              <a:rPr lang="en-US" dirty="0"/>
              <a:t> </a:t>
            </a:r>
            <a:r>
              <a:rPr lang="en-US" dirty="0" err="1"/>
              <a:t>bilgilerin</a:t>
            </a:r>
            <a:r>
              <a:rPr lang="en-US" dirty="0"/>
              <a:t> </a:t>
            </a:r>
            <a:r>
              <a:rPr lang="en-US" dirty="0" err="1"/>
              <a:t>birbiriyle</a:t>
            </a:r>
            <a:r>
              <a:rPr lang="en-US" dirty="0"/>
              <a:t> </a:t>
            </a:r>
            <a:r>
              <a:rPr lang="en-US" dirty="0" err="1"/>
              <a:t>tutarlı</a:t>
            </a:r>
            <a:r>
              <a:rPr lang="en-US" dirty="0"/>
              <a:t> </a:t>
            </a:r>
            <a:r>
              <a:rPr lang="en-US" dirty="0" err="1"/>
              <a:t>olmasına</a:t>
            </a:r>
            <a:r>
              <a:rPr lang="en-US" dirty="0"/>
              <a:t>, </a:t>
            </a:r>
            <a:r>
              <a:rPr lang="en-US" dirty="0" err="1"/>
              <a:t>çelişkiye</a:t>
            </a:r>
            <a:r>
              <a:rPr lang="en-US" dirty="0"/>
              <a:t> </a:t>
            </a:r>
            <a:r>
              <a:rPr lang="en-US" dirty="0" err="1"/>
              <a:t>düşmemesine</a:t>
            </a:r>
            <a:r>
              <a:rPr lang="en-US" dirty="0"/>
              <a:t> </a:t>
            </a:r>
            <a:r>
              <a:rPr lang="en-US" dirty="0" err="1"/>
              <a:t>özen</a:t>
            </a:r>
            <a:r>
              <a:rPr lang="en-US" dirty="0"/>
              <a:t> </a:t>
            </a:r>
            <a:r>
              <a:rPr lang="en-US" dirty="0" err="1"/>
              <a:t>gösterilir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5D8DA-AA43-58A5-671C-C32AFBA84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149" y="2705879"/>
            <a:ext cx="6458705" cy="285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86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67252-8BED-0741-F05A-C66CDCE2F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11" y="261258"/>
            <a:ext cx="10746944" cy="5205088"/>
          </a:xfrm>
        </p:spPr>
        <p:txBody>
          <a:bodyPr/>
          <a:lstStyle/>
          <a:p>
            <a:pPr fontAlgn="base"/>
            <a:r>
              <a:rPr lang="en-US" b="1" dirty="0"/>
              <a:t>7. </a:t>
            </a:r>
            <a:r>
              <a:rPr lang="en-US" b="1" dirty="0" err="1"/>
              <a:t>Tekrarlanabilirlik</a:t>
            </a:r>
            <a:endParaRPr lang="en-US" b="1" dirty="0"/>
          </a:p>
          <a:p>
            <a:pPr fontAlgn="base"/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incelediği</a:t>
            </a:r>
            <a:r>
              <a:rPr lang="en-US" dirty="0"/>
              <a:t> </a:t>
            </a:r>
            <a:r>
              <a:rPr lang="en-US" dirty="0" err="1"/>
              <a:t>olguları</a:t>
            </a:r>
            <a:r>
              <a:rPr lang="en-US" dirty="0"/>
              <a:t> </a:t>
            </a:r>
            <a:r>
              <a:rPr lang="en-US" b="1" dirty="0"/>
              <a:t>determinist 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anlayışla</a:t>
            </a:r>
            <a:r>
              <a:rPr lang="en-US" dirty="0"/>
              <a:t>,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neden-sonuç</a:t>
            </a:r>
            <a:r>
              <a:rPr lang="en-US" dirty="0"/>
              <a:t> </a:t>
            </a:r>
            <a:r>
              <a:rPr lang="en-US" dirty="0" err="1"/>
              <a:t>ilişkisine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Bu </a:t>
            </a:r>
            <a:r>
              <a:rPr lang="en-US" dirty="0" err="1"/>
              <a:t>neden-sonuç</a:t>
            </a:r>
            <a:r>
              <a:rPr lang="en-US" dirty="0"/>
              <a:t> </a:t>
            </a:r>
            <a:r>
              <a:rPr lang="en-US" dirty="0" err="1"/>
              <a:t>ilişkisi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deneysel</a:t>
            </a:r>
            <a:r>
              <a:rPr lang="en-US" dirty="0"/>
              <a:t> </a:t>
            </a:r>
            <a:r>
              <a:rPr lang="en-US" dirty="0" err="1"/>
              <a:t>yöntemle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çıkarılır</a:t>
            </a:r>
            <a:r>
              <a:rPr lang="en-US" dirty="0"/>
              <a:t>. Bu </a:t>
            </a:r>
            <a:r>
              <a:rPr lang="en-US" dirty="0" err="1"/>
              <a:t>bakımdan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adamları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durumda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laboratuvar</a:t>
            </a:r>
            <a:r>
              <a:rPr lang="en-US" dirty="0"/>
              <a:t> </a:t>
            </a:r>
            <a:r>
              <a:rPr lang="en-US" dirty="0" err="1"/>
              <a:t>koşullarında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ortamında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edilebilir</a:t>
            </a:r>
            <a:r>
              <a:rPr lang="en-US" dirty="0"/>
              <a:t>. Yani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adamları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araştırma</a:t>
            </a:r>
            <a:r>
              <a:rPr lang="en-US" dirty="0"/>
              <a:t> </a:t>
            </a:r>
            <a:r>
              <a:rPr lang="en-US" dirty="0" err="1"/>
              <a:t>koşullarını</a:t>
            </a:r>
            <a:r>
              <a:rPr lang="en-US" dirty="0"/>
              <a:t> </a:t>
            </a:r>
            <a:r>
              <a:rPr lang="en-US" dirty="0" err="1"/>
              <a:t>oluşturarak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sonuçlara</a:t>
            </a:r>
            <a:r>
              <a:rPr lang="en-US" dirty="0"/>
              <a:t> </a:t>
            </a:r>
            <a:r>
              <a:rPr lang="en-US" dirty="0" err="1"/>
              <a:t>ulaşabilirler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suyun</a:t>
            </a:r>
            <a:r>
              <a:rPr lang="en-US" dirty="0"/>
              <a:t> </a:t>
            </a:r>
            <a:r>
              <a:rPr lang="en-US" dirty="0" err="1"/>
              <a:t>donma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r>
              <a:rPr lang="en-US" dirty="0"/>
              <a:t> normal </a:t>
            </a:r>
            <a:r>
              <a:rPr lang="en-US" dirty="0" err="1"/>
              <a:t>şartlar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eksi</a:t>
            </a:r>
            <a:r>
              <a:rPr lang="en-US" dirty="0"/>
              <a:t> </a:t>
            </a:r>
            <a:r>
              <a:rPr lang="en-US" dirty="0" err="1"/>
              <a:t>dört</a:t>
            </a:r>
            <a:r>
              <a:rPr lang="en-US" dirty="0"/>
              <a:t> </a:t>
            </a:r>
            <a:r>
              <a:rPr lang="en-US" dirty="0" err="1"/>
              <a:t>derecedir</a:t>
            </a:r>
            <a:r>
              <a:rPr lang="en-US" dirty="0"/>
              <a:t>. Bu </a:t>
            </a:r>
            <a:r>
              <a:rPr lang="en-US" dirty="0" err="1"/>
              <a:t>bilgiyi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şartlarda</a:t>
            </a:r>
            <a:r>
              <a:rPr lang="en-US" dirty="0"/>
              <a:t> </a:t>
            </a:r>
            <a:r>
              <a:rPr lang="en-US" dirty="0" err="1"/>
              <a:t>sınadığımızda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sonuca</a:t>
            </a:r>
            <a:r>
              <a:rPr lang="en-US" dirty="0"/>
              <a:t> </a:t>
            </a:r>
            <a:r>
              <a:rPr lang="en-US" dirty="0" err="1"/>
              <a:t>ulaşacağımız</a:t>
            </a:r>
            <a:r>
              <a:rPr lang="en-US" dirty="0"/>
              <a:t> </a:t>
            </a:r>
            <a:r>
              <a:rPr lang="en-US" dirty="0" err="1"/>
              <a:t>açıktır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17C5B3-DFED-78F9-27E0-D2FC1D65D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383" y="3087016"/>
            <a:ext cx="4503363" cy="23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94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8ADE8-6517-EE18-CD00-9BDC3867F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41" y="699796"/>
            <a:ext cx="10280413" cy="4766549"/>
          </a:xfrm>
        </p:spPr>
        <p:txBody>
          <a:bodyPr/>
          <a:lstStyle/>
          <a:p>
            <a:pPr fontAlgn="base"/>
            <a:r>
              <a:rPr lang="en-US" b="1" dirty="0"/>
              <a:t>8. </a:t>
            </a:r>
            <a:r>
              <a:rPr lang="en-US" b="1" dirty="0" err="1"/>
              <a:t>Uygulanabilirlik</a:t>
            </a:r>
            <a:endParaRPr lang="en-US" b="1" dirty="0"/>
          </a:p>
          <a:p>
            <a:pPr fontAlgn="base"/>
            <a:r>
              <a:rPr lang="en-US" dirty="0" err="1"/>
              <a:t>Bilimin</a:t>
            </a:r>
            <a:r>
              <a:rPr lang="en-US" dirty="0"/>
              <a:t> </a:t>
            </a:r>
            <a:r>
              <a:rPr lang="en-US" dirty="0" err="1"/>
              <a:t>sonuçları</a:t>
            </a:r>
            <a:r>
              <a:rPr lang="en-US" dirty="0"/>
              <a:t>,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yaşamını</a:t>
            </a:r>
            <a:r>
              <a:rPr lang="en-US" dirty="0"/>
              <a:t> </a:t>
            </a:r>
            <a:r>
              <a:rPr lang="en-US" dirty="0" err="1"/>
              <a:t>kolaylaştırmak</a:t>
            </a:r>
            <a:r>
              <a:rPr lang="en-US" dirty="0"/>
              <a:t> </a:t>
            </a:r>
            <a:r>
              <a:rPr lang="en-US" dirty="0" err="1"/>
              <a:t>amacıyla</a:t>
            </a:r>
            <a:r>
              <a:rPr lang="en-US" dirty="0"/>
              <a:t> </a:t>
            </a:r>
            <a:r>
              <a:rPr lang="en-US" dirty="0" err="1"/>
              <a:t>kullanılabilir</a:t>
            </a:r>
            <a:r>
              <a:rPr lang="en-US" dirty="0"/>
              <a:t>.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bilimin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, </a:t>
            </a:r>
            <a:r>
              <a:rPr lang="en-US" dirty="0" err="1"/>
              <a:t>günlük</a:t>
            </a:r>
            <a:r>
              <a:rPr lang="en-US" dirty="0"/>
              <a:t> </a:t>
            </a:r>
            <a:r>
              <a:rPr lang="en-US" dirty="0" err="1"/>
              <a:t>yaşamda</a:t>
            </a:r>
            <a:r>
              <a:rPr lang="en-US" dirty="0"/>
              <a:t> </a:t>
            </a:r>
            <a:r>
              <a:rPr lang="en-US" dirty="0" err="1"/>
              <a:t>insanlara</a:t>
            </a:r>
            <a:r>
              <a:rPr lang="en-US" dirty="0"/>
              <a:t> </a:t>
            </a:r>
            <a:r>
              <a:rPr lang="en-US" dirty="0" err="1"/>
              <a:t>kolaylıklar</a:t>
            </a:r>
            <a:r>
              <a:rPr lang="en-US" dirty="0"/>
              <a:t> </a:t>
            </a:r>
            <a:r>
              <a:rPr lang="en-US" dirty="0" err="1"/>
              <a:t>getirmek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bilmektir</a:t>
            </a:r>
            <a:r>
              <a:rPr lang="en-US" dirty="0"/>
              <a:t>; ama biz </a:t>
            </a:r>
            <a:r>
              <a:rPr lang="en-US" dirty="0" err="1"/>
              <a:t>bilimin</a:t>
            </a:r>
            <a:r>
              <a:rPr lang="en-US" dirty="0"/>
              <a:t> </a:t>
            </a:r>
            <a:r>
              <a:rPr lang="en-US" dirty="0" err="1"/>
              <a:t>sonuçlarından</a:t>
            </a:r>
            <a:r>
              <a:rPr lang="en-US" dirty="0"/>
              <a:t> </a:t>
            </a:r>
            <a:r>
              <a:rPr lang="en-US" dirty="0" err="1"/>
              <a:t>yararlanmayı</a:t>
            </a:r>
            <a:r>
              <a:rPr lang="en-US" dirty="0"/>
              <a:t> da </a:t>
            </a:r>
            <a:r>
              <a:rPr lang="en-US" dirty="0" err="1"/>
              <a:t>tabii</a:t>
            </a:r>
            <a:r>
              <a:rPr lang="en-US" dirty="0"/>
              <a:t> ki </a:t>
            </a:r>
            <a:r>
              <a:rPr lang="en-US" dirty="0" err="1"/>
              <a:t>ihmal</a:t>
            </a:r>
            <a:r>
              <a:rPr lang="en-US" dirty="0"/>
              <a:t> </a:t>
            </a:r>
            <a:r>
              <a:rPr lang="en-US" dirty="0" err="1"/>
              <a:t>etmemekteyiz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cisimlerin</a:t>
            </a:r>
            <a:r>
              <a:rPr lang="en-US" dirty="0"/>
              <a:t> </a:t>
            </a:r>
            <a:r>
              <a:rPr lang="en-US" dirty="0" err="1"/>
              <a:t>ısıyla</a:t>
            </a:r>
            <a:r>
              <a:rPr lang="en-US" dirty="0"/>
              <a:t> </a:t>
            </a:r>
            <a:r>
              <a:rPr lang="en-US" dirty="0" err="1"/>
              <a:t>genleşmesi</a:t>
            </a:r>
            <a:r>
              <a:rPr lang="en-US" dirty="0"/>
              <a:t>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bilgidir</a:t>
            </a:r>
            <a:r>
              <a:rPr lang="en-US" dirty="0"/>
              <a:t>. Biz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bilgiden</a:t>
            </a:r>
            <a:r>
              <a:rPr lang="en-US" dirty="0"/>
              <a:t> </a:t>
            </a:r>
            <a:r>
              <a:rPr lang="en-US" dirty="0" err="1"/>
              <a:t>yararlanarak</a:t>
            </a:r>
            <a:r>
              <a:rPr lang="en-US" dirty="0"/>
              <a:t> </a:t>
            </a:r>
            <a:r>
              <a:rPr lang="en-US" dirty="0" err="1"/>
              <a:t>aletler</a:t>
            </a:r>
            <a:r>
              <a:rPr lang="en-US" dirty="0"/>
              <a:t> </a:t>
            </a:r>
            <a:r>
              <a:rPr lang="en-US" dirty="0" err="1"/>
              <a:t>üretip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aletlerle</a:t>
            </a:r>
            <a:r>
              <a:rPr lang="en-US" dirty="0"/>
              <a:t> de </a:t>
            </a:r>
            <a:r>
              <a:rPr lang="en-US" dirty="0" err="1"/>
              <a:t>yaşantımızı</a:t>
            </a:r>
            <a:r>
              <a:rPr lang="en-US" dirty="0"/>
              <a:t> </a:t>
            </a:r>
            <a:r>
              <a:rPr lang="en-US" dirty="0" err="1"/>
              <a:t>kolaylaştırabilir</a:t>
            </a:r>
            <a:r>
              <a:rPr lang="en-US" dirty="0"/>
              <a:t>.</a:t>
            </a:r>
            <a:endParaRPr lang="tr-TR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6F3AC-53EE-6205-9ED6-67B5197B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731" y="3083069"/>
            <a:ext cx="5559123" cy="23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5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FF92-CF68-4BB9-4C9A-48FE3D37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669" y="653144"/>
            <a:ext cx="9866453" cy="481320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9. </a:t>
            </a:r>
            <a:r>
              <a:rPr lang="en-US" b="1" dirty="0" err="1"/>
              <a:t>Eleştirellik</a:t>
            </a:r>
            <a:endParaRPr lang="en-US" b="1" dirty="0"/>
          </a:p>
          <a:p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adamı</a:t>
            </a:r>
            <a:r>
              <a:rPr lang="en-US" dirty="0"/>
              <a:t>, </a:t>
            </a:r>
            <a:r>
              <a:rPr lang="en-US" dirty="0" err="1"/>
              <a:t>eleştirel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eleştirmek</a:t>
            </a:r>
            <a:r>
              <a:rPr lang="en-US" dirty="0"/>
              <a:t>,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sorgulamak</a:t>
            </a:r>
            <a:r>
              <a:rPr lang="en-US" dirty="0"/>
              <a:t>, </a:t>
            </a:r>
            <a:r>
              <a:rPr lang="en-US" dirty="0" err="1"/>
              <a:t>bilmenin</a:t>
            </a:r>
            <a:r>
              <a:rPr lang="en-US" dirty="0"/>
              <a:t> </a:t>
            </a:r>
            <a:r>
              <a:rPr lang="en-US" dirty="0" err="1"/>
              <a:t>olmazsa</a:t>
            </a:r>
            <a:r>
              <a:rPr lang="en-US" dirty="0"/>
              <a:t> </a:t>
            </a:r>
            <a:r>
              <a:rPr lang="en-US" dirty="0" err="1"/>
              <a:t>olmaz</a:t>
            </a:r>
            <a:r>
              <a:rPr lang="en-US" dirty="0"/>
              <a:t> </a:t>
            </a:r>
            <a:r>
              <a:rPr lang="en-US" dirty="0" err="1"/>
              <a:t>şartıdır</a:t>
            </a:r>
            <a:r>
              <a:rPr lang="en-US" dirty="0"/>
              <a:t>.</a:t>
            </a:r>
          </a:p>
          <a:p>
            <a:r>
              <a:rPr lang="en-US" dirty="0"/>
              <a:t>Bir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kuram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önerme</a:t>
            </a:r>
            <a:r>
              <a:rPr lang="en-US" dirty="0"/>
              <a:t>, </a:t>
            </a:r>
            <a:r>
              <a:rPr lang="en-US" dirty="0" err="1"/>
              <a:t>olgular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desteklendiği</a:t>
            </a:r>
            <a:r>
              <a:rPr lang="en-US" dirty="0"/>
              <a:t>, </a:t>
            </a:r>
            <a:r>
              <a:rPr lang="en-US" dirty="0" err="1"/>
              <a:t>olgularla</a:t>
            </a:r>
            <a:r>
              <a:rPr lang="en-US" dirty="0"/>
              <a:t> </a:t>
            </a:r>
            <a:r>
              <a:rPr lang="en-US" dirty="0" err="1"/>
              <a:t>uyuştuğu</a:t>
            </a:r>
            <a:r>
              <a:rPr lang="en-US" dirty="0"/>
              <a:t> </a:t>
            </a:r>
            <a:r>
              <a:rPr lang="en-US" dirty="0" err="1"/>
              <a:t>sürece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. </a:t>
            </a: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adamı</a:t>
            </a:r>
            <a:r>
              <a:rPr lang="en-US" dirty="0"/>
              <a:t>, </a:t>
            </a:r>
            <a:r>
              <a:rPr lang="en-US" dirty="0" err="1"/>
              <a:t>olgular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desteklenmeyen</a:t>
            </a:r>
            <a:r>
              <a:rPr lang="en-US" dirty="0"/>
              <a:t>, </a:t>
            </a:r>
            <a:r>
              <a:rPr lang="en-US" dirty="0" err="1"/>
              <a:t>olgular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yanlışlanan</a:t>
            </a:r>
            <a:r>
              <a:rPr lang="en-US" dirty="0"/>
              <a:t> </a:t>
            </a:r>
            <a:r>
              <a:rPr lang="en-US" dirty="0" err="1"/>
              <a:t>bilgilerde</a:t>
            </a:r>
            <a:r>
              <a:rPr lang="en-US" dirty="0"/>
              <a:t> </a:t>
            </a:r>
            <a:r>
              <a:rPr lang="en-US" dirty="0" err="1"/>
              <a:t>ısrar</a:t>
            </a:r>
            <a:r>
              <a:rPr lang="en-US" dirty="0"/>
              <a:t> </a:t>
            </a:r>
            <a:r>
              <a:rPr lang="en-US" dirty="0" err="1"/>
              <a:t>etmeyen</a:t>
            </a:r>
            <a:r>
              <a:rPr lang="en-US" dirty="0"/>
              <a:t>, 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olanların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doğrularını</a:t>
            </a:r>
            <a:r>
              <a:rPr lang="en-US" dirty="0"/>
              <a:t> </a:t>
            </a:r>
            <a:r>
              <a:rPr lang="en-US" dirty="0" err="1"/>
              <a:t>koyabilen</a:t>
            </a:r>
            <a:r>
              <a:rPr lang="en-US" dirty="0"/>
              <a:t>, </a:t>
            </a:r>
            <a:r>
              <a:rPr lang="en-US" dirty="0" err="1"/>
              <a:t>kendisini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yapıp</a:t>
            </a:r>
            <a:r>
              <a:rPr lang="en-US" dirty="0"/>
              <a:t> </a:t>
            </a:r>
            <a:r>
              <a:rPr lang="en-US" dirty="0" err="1"/>
              <a:t>etmelerini</a:t>
            </a:r>
            <a:r>
              <a:rPr lang="en-US" dirty="0"/>
              <a:t> </a:t>
            </a:r>
            <a:r>
              <a:rPr lang="en-US" dirty="0" err="1"/>
              <a:t>eleştirebilen</a:t>
            </a:r>
            <a:r>
              <a:rPr lang="en-US" dirty="0"/>
              <a:t> </a:t>
            </a:r>
            <a:r>
              <a:rPr lang="en-US" dirty="0" err="1"/>
              <a:t>insandır</a:t>
            </a:r>
            <a:r>
              <a:rPr lang="en-US" dirty="0"/>
              <a:t>.</a:t>
            </a:r>
            <a:endParaRPr lang="tr-TR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92856-01D2-F2A2-62A5-6722A52CF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347" y="3205057"/>
            <a:ext cx="3293706" cy="279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05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F57AF-3E25-201E-E740-8FBEF9A9E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79" y="569168"/>
            <a:ext cx="10177776" cy="4897178"/>
          </a:xfrm>
        </p:spPr>
        <p:txBody>
          <a:bodyPr/>
          <a:lstStyle/>
          <a:p>
            <a:r>
              <a:rPr lang="en-US" b="1" dirty="0"/>
              <a:t>10. </a:t>
            </a:r>
            <a:r>
              <a:rPr lang="en-US" b="1" dirty="0" err="1"/>
              <a:t>Sistemlilik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Düzenlilik</a:t>
            </a:r>
            <a:endParaRPr lang="en-US" b="1" dirty="0"/>
          </a:p>
          <a:p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belli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yöntem</a:t>
            </a:r>
            <a:r>
              <a:rPr lang="en-US" dirty="0"/>
              <a:t> </a:t>
            </a:r>
            <a:r>
              <a:rPr lang="en-US" dirty="0" err="1"/>
              <a:t>dâhilinde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. Tek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olaylardan</a:t>
            </a:r>
            <a:r>
              <a:rPr lang="en-US" dirty="0"/>
              <a:t> </a:t>
            </a:r>
            <a:r>
              <a:rPr lang="en-US" dirty="0" err="1"/>
              <a:t>hareketle</a:t>
            </a:r>
            <a:r>
              <a:rPr lang="en-US" dirty="0"/>
              <a:t> </a:t>
            </a:r>
            <a:r>
              <a:rPr lang="en-US" dirty="0" err="1"/>
              <a:t>olgular</a:t>
            </a:r>
            <a:r>
              <a:rPr lang="en-US" dirty="0"/>
              <a:t>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yasalara</a:t>
            </a:r>
            <a:r>
              <a:rPr lang="en-US" dirty="0"/>
              <a:t> </a:t>
            </a:r>
            <a:r>
              <a:rPr lang="en-US" dirty="0" err="1"/>
              <a:t>ulaşır</a:t>
            </a:r>
            <a:r>
              <a:rPr lang="en-US" dirty="0"/>
              <a:t>. Yani </a:t>
            </a:r>
            <a:r>
              <a:rPr lang="en-US" dirty="0" err="1"/>
              <a:t>tepeden</a:t>
            </a:r>
            <a:r>
              <a:rPr lang="en-US" dirty="0"/>
              <a:t> </a:t>
            </a:r>
            <a:r>
              <a:rPr lang="en-US" dirty="0" err="1"/>
              <a:t>inme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biçimde</a:t>
            </a:r>
            <a:r>
              <a:rPr lang="en-US" dirty="0"/>
              <a:t>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oluşturulmaz</a:t>
            </a:r>
            <a:r>
              <a:rPr lang="en-US" dirty="0"/>
              <a:t>.</a:t>
            </a:r>
          </a:p>
          <a:p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dirty="0" err="1"/>
              <a:t>laboratuvar</a:t>
            </a:r>
            <a:r>
              <a:rPr lang="en-US" dirty="0"/>
              <a:t> </a:t>
            </a:r>
            <a:r>
              <a:rPr lang="en-US" dirty="0" err="1"/>
              <a:t>ortamında</a:t>
            </a:r>
            <a:r>
              <a:rPr lang="en-US" dirty="0"/>
              <a:t> </a:t>
            </a:r>
            <a:r>
              <a:rPr lang="en-US" dirty="0" err="1"/>
              <a:t>yapılacak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belli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yöntem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izlenir</a:t>
            </a:r>
            <a:r>
              <a:rPr lang="en-US" dirty="0"/>
              <a:t>. Bu durum, </a:t>
            </a:r>
            <a:r>
              <a:rPr lang="en-US" dirty="0" err="1"/>
              <a:t>bilimin</a:t>
            </a:r>
            <a:r>
              <a:rPr lang="en-US" dirty="0"/>
              <a:t> </a:t>
            </a:r>
            <a:r>
              <a:rPr lang="en-US" dirty="0" err="1"/>
              <a:t>sistemli</a:t>
            </a:r>
            <a:r>
              <a:rPr lang="en-US" dirty="0"/>
              <a:t> </a:t>
            </a:r>
            <a:r>
              <a:rPr lang="en-US" dirty="0" err="1"/>
              <a:t>oluşunu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Bir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ilerlemeyen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anlayışı</a:t>
            </a:r>
            <a:r>
              <a:rPr lang="en-US" dirty="0"/>
              <a:t>, </a:t>
            </a:r>
            <a:r>
              <a:rPr lang="en-US" dirty="0" err="1"/>
              <a:t>şüphesiz</a:t>
            </a:r>
            <a:r>
              <a:rPr lang="en-US" dirty="0"/>
              <a:t> ki </a:t>
            </a:r>
            <a:r>
              <a:rPr lang="en-US" dirty="0" err="1"/>
              <a:t>kaosa</a:t>
            </a:r>
            <a:r>
              <a:rPr lang="en-US" dirty="0"/>
              <a:t> </a:t>
            </a:r>
            <a:r>
              <a:rPr lang="en-US" dirty="0" err="1"/>
              <a:t>sebep</a:t>
            </a:r>
            <a:r>
              <a:rPr lang="en-US" dirty="0"/>
              <a:t> </a:t>
            </a:r>
            <a:r>
              <a:rPr lang="en-US" dirty="0" err="1"/>
              <a:t>olabilecektir</a:t>
            </a:r>
            <a:r>
              <a:rPr lang="en-US" dirty="0"/>
              <a:t>.</a:t>
            </a:r>
            <a:endParaRPr lang="tr-TR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212D0-ECFD-8953-5A9C-A3BAF6B9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689" y="3125754"/>
            <a:ext cx="7343192" cy="284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6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2270D-2D7C-1F72-E7DA-557258C82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569168"/>
            <a:ext cx="9603275" cy="489717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b="1" dirty="0"/>
              <a:t>    </a:t>
            </a:r>
            <a:r>
              <a:rPr lang="en-US" b="1" dirty="0" err="1"/>
              <a:t>Bilim</a:t>
            </a:r>
            <a:r>
              <a:rPr lang="en-US" b="1" dirty="0"/>
              <a:t> </a:t>
            </a:r>
            <a:r>
              <a:rPr lang="en-US" b="1" dirty="0" err="1"/>
              <a:t>Sınıflaması</a:t>
            </a:r>
            <a:r>
              <a:rPr lang="en-US" b="1" dirty="0"/>
              <a:t> </a:t>
            </a:r>
            <a:endParaRPr lang="tr-TR" b="1" dirty="0"/>
          </a:p>
          <a:p>
            <a:r>
              <a:rPr lang="en-US" b="1" dirty="0"/>
              <a:t>1) </a:t>
            </a:r>
            <a:r>
              <a:rPr lang="en-US" b="1" dirty="0" err="1"/>
              <a:t>Aksiyomatik</a:t>
            </a:r>
            <a:r>
              <a:rPr lang="tr-TR" b="1" dirty="0"/>
              <a:t> </a:t>
            </a:r>
            <a:r>
              <a:rPr lang="en-US" b="1" dirty="0" err="1"/>
              <a:t>Bilimler</a:t>
            </a:r>
            <a:r>
              <a:rPr lang="en-US" dirty="0"/>
              <a:t>: </a:t>
            </a:r>
          </a:p>
          <a:p>
            <a:r>
              <a:rPr lang="en-US" dirty="0" err="1"/>
              <a:t>Önceden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sayılan</a:t>
            </a:r>
            <a:r>
              <a:rPr lang="en-US" dirty="0"/>
              <a:t> </a:t>
            </a:r>
            <a:r>
              <a:rPr lang="en-US" dirty="0" err="1"/>
              <a:t>bilgilerden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varsayımlardan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çıkarak</a:t>
            </a:r>
            <a:r>
              <a:rPr lang="en-US" dirty="0"/>
              <a:t> </a:t>
            </a:r>
            <a:r>
              <a:rPr lang="en-US" b="1" dirty="0" err="1"/>
              <a:t>tümdengelim</a:t>
            </a:r>
            <a:r>
              <a:rPr lang="en-US" b="1" dirty="0"/>
              <a:t> </a:t>
            </a:r>
            <a:r>
              <a:rPr lang="en-US" dirty="0" err="1"/>
              <a:t>yöntemi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üretir</a:t>
            </a:r>
            <a:r>
              <a:rPr lang="en-US" dirty="0"/>
              <a:t> (</a:t>
            </a:r>
            <a:r>
              <a:rPr lang="en-US" dirty="0" err="1"/>
              <a:t>Matematik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Mantık</a:t>
            </a:r>
            <a:r>
              <a:rPr lang="en-US" dirty="0"/>
              <a:t>) </a:t>
            </a:r>
          </a:p>
          <a:p>
            <a:r>
              <a:rPr lang="tr-TR" b="1" dirty="0"/>
              <a:t>K</a:t>
            </a:r>
            <a:r>
              <a:rPr lang="en-US" b="1" dirty="0" err="1"/>
              <a:t>ısaca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Aksiyomatik</a:t>
            </a:r>
            <a:r>
              <a:rPr lang="en-US" dirty="0"/>
              <a:t> </a:t>
            </a:r>
            <a:r>
              <a:rPr lang="en-US" dirty="0" err="1"/>
              <a:t>bilimlerde</a:t>
            </a:r>
            <a:r>
              <a:rPr lang="en-US" dirty="0"/>
              <a:t> “</a:t>
            </a:r>
            <a:r>
              <a:rPr lang="en-US" dirty="0" err="1"/>
              <a:t>deney</a:t>
            </a:r>
            <a:r>
              <a:rPr lang="en-US" dirty="0"/>
              <a:t>”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b="1" dirty="0" err="1"/>
              <a:t>akıl</a:t>
            </a:r>
            <a:r>
              <a:rPr lang="en-US" b="1" dirty="0"/>
              <a:t> </a:t>
            </a:r>
            <a:r>
              <a:rPr lang="en-US" b="1" dirty="0" err="1"/>
              <a:t>yürütme</a:t>
            </a:r>
            <a:r>
              <a:rPr lang="en-US" dirty="0"/>
              <a:t>, “</a:t>
            </a:r>
            <a:r>
              <a:rPr lang="en-US" dirty="0" err="1"/>
              <a:t>gözlem</a:t>
            </a:r>
            <a:r>
              <a:rPr lang="en-US" dirty="0"/>
              <a:t>”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b="1" dirty="0" err="1"/>
              <a:t>mantık</a:t>
            </a:r>
            <a:r>
              <a:rPr lang="en-US" b="1" dirty="0"/>
              <a:t> </a:t>
            </a:r>
            <a:r>
              <a:rPr lang="en-US" b="1" dirty="0" err="1"/>
              <a:t>zinciri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Yeni </a:t>
            </a:r>
            <a:r>
              <a:rPr lang="en-US" dirty="0" err="1"/>
              <a:t>bilgiye</a:t>
            </a:r>
            <a:r>
              <a:rPr lang="en-US" dirty="0"/>
              <a:t> </a:t>
            </a:r>
            <a:r>
              <a:rPr lang="en-US" dirty="0" err="1"/>
              <a:t>ulaşmak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bunlar</a:t>
            </a:r>
            <a:r>
              <a:rPr lang="en-US" dirty="0"/>
              <a:t> </a:t>
            </a:r>
            <a:r>
              <a:rPr lang="en-US" dirty="0" err="1"/>
              <a:t>doğruysa</a:t>
            </a:r>
            <a:r>
              <a:rPr lang="en-US" dirty="0"/>
              <a:t>, o </a:t>
            </a:r>
            <a:r>
              <a:rPr lang="en-US" dirty="0" err="1"/>
              <a:t>halde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da </a:t>
            </a:r>
            <a:r>
              <a:rPr lang="en-US" dirty="0" err="1"/>
              <a:t>doğrudur</a:t>
            </a:r>
            <a:r>
              <a:rPr lang="en-US" dirty="0"/>
              <a:t>” </a:t>
            </a:r>
            <a:r>
              <a:rPr lang="en-US" dirty="0" err="1"/>
              <a:t>mantığı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b="1" dirty="0"/>
              <a:t>Basit </a:t>
            </a:r>
            <a:r>
              <a:rPr lang="en-US" b="1" dirty="0" err="1"/>
              <a:t>Günlük</a:t>
            </a:r>
            <a:r>
              <a:rPr lang="en-US" b="1" dirty="0"/>
              <a:t> Örnek:</a:t>
            </a:r>
            <a:endParaRPr lang="en-US" dirty="0"/>
          </a:p>
          <a:p>
            <a:r>
              <a:rPr lang="en-US" dirty="0" err="1"/>
              <a:t>Aksiyom</a:t>
            </a:r>
            <a:r>
              <a:rPr lang="en-US" dirty="0"/>
              <a:t>: “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insanlar</a:t>
            </a:r>
            <a:r>
              <a:rPr lang="en-US" dirty="0"/>
              <a:t> </a:t>
            </a:r>
            <a:r>
              <a:rPr lang="en-US" dirty="0" err="1"/>
              <a:t>ölümlüdür</a:t>
            </a:r>
            <a:r>
              <a:rPr lang="en-US" dirty="0"/>
              <a:t>.”</a:t>
            </a:r>
          </a:p>
          <a:p>
            <a:r>
              <a:rPr lang="en-US" dirty="0" err="1"/>
              <a:t>Önermeler</a:t>
            </a:r>
            <a:r>
              <a:rPr lang="en-US" dirty="0"/>
              <a:t>: “Sokrates </a:t>
            </a:r>
            <a:r>
              <a:rPr lang="en-US" dirty="0" err="1"/>
              <a:t>insandır</a:t>
            </a:r>
            <a:r>
              <a:rPr lang="en-US" dirty="0"/>
              <a:t>.”</a:t>
            </a:r>
          </a:p>
          <a:p>
            <a:r>
              <a:rPr lang="en-US" dirty="0" err="1"/>
              <a:t>Sonuç</a:t>
            </a:r>
            <a:r>
              <a:rPr lang="en-US" dirty="0"/>
              <a:t> (</a:t>
            </a:r>
            <a:r>
              <a:rPr lang="en-US" dirty="0" err="1"/>
              <a:t>tümdengelimle</a:t>
            </a:r>
            <a:r>
              <a:rPr lang="en-US" dirty="0"/>
              <a:t>): “O </a:t>
            </a:r>
            <a:r>
              <a:rPr lang="en-US" dirty="0" err="1"/>
              <a:t>halde</a:t>
            </a:r>
            <a:r>
              <a:rPr lang="en-US" dirty="0"/>
              <a:t> Sokrates </a:t>
            </a:r>
            <a:r>
              <a:rPr lang="en-US" dirty="0" err="1"/>
              <a:t>ölümlüdür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97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B82A2-BB13-557F-A0D0-F8DBA9A3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632460"/>
            <a:ext cx="9603275" cy="4833885"/>
          </a:xfrm>
        </p:spPr>
        <p:txBody>
          <a:bodyPr/>
          <a:lstStyle/>
          <a:p>
            <a:r>
              <a:rPr lang="en-US" b="1" dirty="0"/>
              <a:t>2)</a:t>
            </a:r>
            <a:r>
              <a:rPr lang="en-US" b="1" dirty="0" err="1"/>
              <a:t>Pozitif</a:t>
            </a:r>
            <a:r>
              <a:rPr lang="tr-TR" b="1" dirty="0"/>
              <a:t> </a:t>
            </a:r>
            <a:r>
              <a:rPr lang="en-US" b="1" dirty="0" err="1"/>
              <a:t>Bilimler</a:t>
            </a:r>
            <a:r>
              <a:rPr lang="en-US" b="1" dirty="0"/>
              <a:t>:</a:t>
            </a:r>
            <a:r>
              <a:rPr lang="tr-TR" b="1" dirty="0"/>
              <a:t> </a:t>
            </a:r>
            <a:r>
              <a:rPr lang="en-US" dirty="0" err="1"/>
              <a:t>Olguların</a:t>
            </a:r>
            <a:r>
              <a:rPr lang="tr-TR" dirty="0"/>
              <a:t> </a:t>
            </a:r>
            <a:r>
              <a:rPr lang="en-US" dirty="0" err="1"/>
              <a:t>gözlenmesi</a:t>
            </a:r>
            <a:r>
              <a:rPr lang="tr-TR" dirty="0"/>
              <a:t> </a:t>
            </a:r>
            <a:r>
              <a:rPr lang="en-US" dirty="0" err="1"/>
              <a:t>ile</a:t>
            </a:r>
            <a:r>
              <a:rPr lang="tr-TR" dirty="0"/>
              <a:t> </a:t>
            </a:r>
            <a:r>
              <a:rPr lang="en-US" dirty="0" err="1"/>
              <a:t>genellemelere</a:t>
            </a:r>
            <a:r>
              <a:rPr lang="tr-TR" dirty="0"/>
              <a:t> </a:t>
            </a:r>
            <a:r>
              <a:rPr lang="en-US" dirty="0" err="1"/>
              <a:t>ulaşır</a:t>
            </a:r>
            <a:r>
              <a:rPr lang="en-US" dirty="0"/>
              <a:t>,</a:t>
            </a:r>
            <a:r>
              <a:rPr lang="tr-TR" dirty="0"/>
              <a:t> </a:t>
            </a:r>
            <a:r>
              <a:rPr lang="en-US" dirty="0" err="1"/>
              <a:t>çıkarımlarda</a:t>
            </a:r>
            <a:r>
              <a:rPr lang="tr-TR" dirty="0"/>
              <a:t> </a:t>
            </a:r>
            <a:r>
              <a:rPr lang="en-US" dirty="0" err="1"/>
              <a:t>bulunur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 err="1"/>
              <a:t>Yöntem</a:t>
            </a:r>
            <a:r>
              <a:rPr lang="tr-TR" dirty="0"/>
              <a:t> </a:t>
            </a:r>
            <a:r>
              <a:rPr lang="en-US" b="1" dirty="0" err="1"/>
              <a:t>tüm</a:t>
            </a:r>
            <a:r>
              <a:rPr lang="tr-TR" b="1" dirty="0"/>
              <a:t>evarım</a:t>
            </a:r>
            <a:r>
              <a:rPr lang="en-US" dirty="0" err="1"/>
              <a:t>dır</a:t>
            </a:r>
            <a:r>
              <a:rPr lang="en-US" dirty="0"/>
              <a:t>.</a:t>
            </a:r>
            <a:r>
              <a:rPr lang="tr-TR" dirty="0"/>
              <a:t> </a:t>
            </a:r>
            <a:r>
              <a:rPr lang="en-US" dirty="0"/>
              <a:t>Tek</a:t>
            </a:r>
            <a:r>
              <a:rPr lang="tr-TR" dirty="0"/>
              <a:t> </a:t>
            </a:r>
            <a:r>
              <a:rPr lang="en-US" dirty="0" err="1"/>
              <a:t>tek</a:t>
            </a:r>
            <a:r>
              <a:rPr lang="tr-TR" dirty="0"/>
              <a:t> </a:t>
            </a:r>
            <a:r>
              <a:rPr lang="en-US" dirty="0" err="1"/>
              <a:t>olgular</a:t>
            </a:r>
            <a:r>
              <a:rPr lang="tr-TR" dirty="0"/>
              <a:t> </a:t>
            </a:r>
            <a:r>
              <a:rPr lang="en-US" dirty="0" err="1"/>
              <a:t>elealınır</a:t>
            </a:r>
            <a:r>
              <a:rPr lang="en-US" dirty="0"/>
              <a:t>,</a:t>
            </a:r>
            <a:r>
              <a:rPr lang="tr-TR" dirty="0"/>
              <a:t> </a:t>
            </a:r>
            <a:r>
              <a:rPr lang="en-US" dirty="0" err="1"/>
              <a:t>aralarındaki</a:t>
            </a:r>
            <a:r>
              <a:rPr lang="tr-TR" dirty="0"/>
              <a:t> </a:t>
            </a:r>
            <a:r>
              <a:rPr lang="en-US" dirty="0" err="1"/>
              <a:t>ilişkiler</a:t>
            </a:r>
            <a:r>
              <a:rPr lang="tr-TR" dirty="0"/>
              <a:t> </a:t>
            </a:r>
            <a:r>
              <a:rPr lang="en-US" dirty="0" err="1"/>
              <a:t>incelenir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tr-TR" dirty="0"/>
              <a:t> </a:t>
            </a:r>
            <a:r>
              <a:rPr lang="en-US" dirty="0" err="1"/>
              <a:t>genellemelere</a:t>
            </a:r>
            <a:r>
              <a:rPr lang="tr-TR" dirty="0"/>
              <a:t> </a:t>
            </a:r>
            <a:r>
              <a:rPr lang="en-US" dirty="0" err="1"/>
              <a:t>ulaşılır</a:t>
            </a:r>
            <a:r>
              <a:rPr lang="en-US" dirty="0"/>
              <a:t>.</a:t>
            </a:r>
          </a:p>
          <a:p>
            <a:r>
              <a:rPr lang="en-US" dirty="0" err="1"/>
              <a:t>Doğayı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tr-TR" dirty="0"/>
              <a:t> </a:t>
            </a:r>
            <a:r>
              <a:rPr lang="en-US" dirty="0" err="1"/>
              <a:t>toplumu</a:t>
            </a:r>
            <a:r>
              <a:rPr lang="tr-TR" dirty="0"/>
              <a:t> </a:t>
            </a:r>
            <a:r>
              <a:rPr lang="en-US" dirty="0" err="1"/>
              <a:t>inceleyen</a:t>
            </a:r>
            <a:r>
              <a:rPr lang="tr-TR" dirty="0"/>
              <a:t> </a:t>
            </a:r>
            <a:r>
              <a:rPr lang="en-US" dirty="0" err="1"/>
              <a:t>bilimler</a:t>
            </a:r>
            <a:r>
              <a:rPr lang="tr-TR" dirty="0"/>
              <a:t> </a:t>
            </a:r>
            <a:r>
              <a:rPr lang="en-US" dirty="0" err="1"/>
              <a:t>bu</a:t>
            </a:r>
            <a:r>
              <a:rPr lang="tr-TR" dirty="0"/>
              <a:t> </a:t>
            </a:r>
            <a:r>
              <a:rPr lang="en-US" dirty="0" err="1"/>
              <a:t>başlık</a:t>
            </a:r>
            <a:r>
              <a:rPr lang="tr-TR" dirty="0"/>
              <a:t> </a:t>
            </a:r>
            <a:r>
              <a:rPr lang="en-US" dirty="0" err="1"/>
              <a:t>altında</a:t>
            </a:r>
            <a:r>
              <a:rPr lang="tr-TR" dirty="0"/>
              <a:t> </a:t>
            </a:r>
            <a:r>
              <a:rPr lang="en-US" dirty="0" err="1"/>
              <a:t>toplanır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681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F375-63B1-01C2-14E9-66D5269C3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432560"/>
            <a:ext cx="9603275" cy="4033785"/>
          </a:xfrm>
        </p:spPr>
        <p:txBody>
          <a:bodyPr/>
          <a:lstStyle/>
          <a:p>
            <a:r>
              <a:rPr lang="en-US" b="1" dirty="0" err="1"/>
              <a:t>Pozitif</a:t>
            </a:r>
            <a:r>
              <a:rPr lang="en-US" b="1" dirty="0"/>
              <a:t> </a:t>
            </a:r>
            <a:r>
              <a:rPr lang="en-US" b="1" dirty="0" err="1"/>
              <a:t>Bilimlerin</a:t>
            </a:r>
            <a:r>
              <a:rPr lang="en-US" b="1" dirty="0"/>
              <a:t> </a:t>
            </a:r>
            <a:r>
              <a:rPr lang="en-US" b="1" dirty="0" err="1"/>
              <a:t>Dalları</a:t>
            </a:r>
            <a:endParaRPr lang="en-US" b="1" dirty="0"/>
          </a:p>
          <a:p>
            <a:r>
              <a:rPr lang="en-US" b="1" dirty="0"/>
              <a:t>1-Doğa </a:t>
            </a:r>
            <a:r>
              <a:rPr lang="en-US" b="1" dirty="0" err="1"/>
              <a:t>bilimleri</a:t>
            </a:r>
            <a:r>
              <a:rPr lang="en-US" b="1" dirty="0"/>
              <a:t>:</a:t>
            </a:r>
            <a:r>
              <a:rPr lang="tr-TR" b="1" dirty="0"/>
              <a:t> </a:t>
            </a:r>
            <a:r>
              <a:rPr lang="en-US" dirty="0" err="1"/>
              <a:t>Evrendeki</a:t>
            </a:r>
            <a:r>
              <a:rPr lang="en-US" dirty="0"/>
              <a:t> </a:t>
            </a:r>
            <a:r>
              <a:rPr lang="en-US" dirty="0" err="1"/>
              <a:t>canlı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cansız</a:t>
            </a:r>
            <a:r>
              <a:rPr lang="en-US" dirty="0"/>
              <a:t> </a:t>
            </a:r>
            <a:r>
              <a:rPr lang="en-US" dirty="0" err="1"/>
              <a:t>varlıkları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bunlarla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olayları</a:t>
            </a:r>
            <a:r>
              <a:rPr lang="en-US" dirty="0"/>
              <a:t> </a:t>
            </a:r>
            <a:r>
              <a:rPr lang="en-US" dirty="0" err="1"/>
              <a:t>kendilerine</a:t>
            </a:r>
            <a:r>
              <a:rPr lang="en-US" dirty="0"/>
              <a:t> </a:t>
            </a:r>
            <a:r>
              <a:rPr lang="en-US" dirty="0" err="1"/>
              <a:t>konu</a:t>
            </a:r>
            <a:r>
              <a:rPr lang="en-US" dirty="0"/>
              <a:t> </a:t>
            </a:r>
            <a:r>
              <a:rPr lang="en-US" dirty="0" err="1"/>
              <a:t>edinirler</a:t>
            </a:r>
            <a:r>
              <a:rPr lang="en-US" dirty="0"/>
              <a:t>.</a:t>
            </a:r>
          </a:p>
          <a:p>
            <a:r>
              <a:rPr lang="en-US" dirty="0"/>
              <a:t>(Fizik, </a:t>
            </a:r>
            <a:r>
              <a:rPr lang="en-US" dirty="0" err="1"/>
              <a:t>kimya</a:t>
            </a:r>
            <a:r>
              <a:rPr lang="en-US" dirty="0"/>
              <a:t>, </a:t>
            </a:r>
            <a:r>
              <a:rPr lang="en-US" dirty="0" err="1"/>
              <a:t>biyoloji</a:t>
            </a:r>
            <a:r>
              <a:rPr lang="en-US" dirty="0"/>
              <a:t>, </a:t>
            </a:r>
            <a:r>
              <a:rPr lang="en-US" dirty="0" err="1"/>
              <a:t>jeoloji</a:t>
            </a:r>
            <a:r>
              <a:rPr lang="en-US" dirty="0"/>
              <a:t>, </a:t>
            </a:r>
            <a:r>
              <a:rPr lang="en-US" dirty="0" err="1"/>
              <a:t>vb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68924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3423-1CCF-C850-92F1-FEEEFE19B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028700"/>
            <a:ext cx="9603275" cy="4437645"/>
          </a:xfrm>
        </p:spPr>
        <p:txBody>
          <a:bodyPr/>
          <a:lstStyle/>
          <a:p>
            <a:r>
              <a:rPr lang="en-US" b="1" dirty="0"/>
              <a:t>2-Sosyal </a:t>
            </a:r>
            <a:r>
              <a:rPr lang="en-US" b="1" dirty="0" err="1"/>
              <a:t>bilimler</a:t>
            </a:r>
            <a:r>
              <a:rPr lang="en-US" dirty="0"/>
              <a:t>: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gerçekliğin</a:t>
            </a:r>
            <a:r>
              <a:rPr lang="en-US" dirty="0"/>
              <a:t> </a:t>
            </a:r>
            <a:r>
              <a:rPr lang="en-US" dirty="0" err="1"/>
              <a:t>içerdiği</a:t>
            </a:r>
            <a:r>
              <a:rPr lang="en-US" dirty="0"/>
              <a:t> </a:t>
            </a:r>
            <a:r>
              <a:rPr lang="en-US" dirty="0" err="1"/>
              <a:t>olgu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olayları</a:t>
            </a:r>
            <a:r>
              <a:rPr lang="en-US" dirty="0"/>
              <a:t> (</a:t>
            </a:r>
            <a:r>
              <a:rPr lang="en-US" dirty="0" err="1"/>
              <a:t>insanlar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ilişkileri</a:t>
            </a:r>
            <a:r>
              <a:rPr lang="en-US" dirty="0"/>
              <a:t>, </a:t>
            </a:r>
            <a:r>
              <a:rPr lang="en-US" dirty="0" err="1"/>
              <a:t>insanın</a:t>
            </a:r>
            <a:r>
              <a:rPr lang="en-US" dirty="0"/>
              <a:t> </a:t>
            </a:r>
            <a:r>
              <a:rPr lang="en-US" dirty="0" err="1"/>
              <a:t>toplumla</a:t>
            </a:r>
            <a:r>
              <a:rPr lang="en-US" dirty="0"/>
              <a:t>,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kurumlarla</a:t>
            </a:r>
            <a:r>
              <a:rPr lang="en-US" dirty="0"/>
              <a:t> </a:t>
            </a:r>
            <a:r>
              <a:rPr lang="en-US" dirty="0" err="1"/>
              <a:t>ilişkilerini</a:t>
            </a:r>
            <a:r>
              <a:rPr lang="en-US" dirty="0"/>
              <a:t>) </a:t>
            </a:r>
            <a:r>
              <a:rPr lang="en-US" dirty="0" err="1"/>
              <a:t>inceleyen</a:t>
            </a:r>
            <a:r>
              <a:rPr lang="en-US" dirty="0"/>
              <a:t> </a:t>
            </a:r>
            <a:r>
              <a:rPr lang="en-US" dirty="0" err="1"/>
              <a:t>bilimlerin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adıdır</a:t>
            </a:r>
            <a:r>
              <a:rPr lang="en-US" dirty="0"/>
              <a:t>. </a:t>
            </a:r>
            <a:r>
              <a:rPr lang="en-US" dirty="0" err="1"/>
              <a:t>İnsan</a:t>
            </a:r>
            <a:r>
              <a:rPr lang="en-US" dirty="0"/>
              <a:t> </a:t>
            </a:r>
            <a:r>
              <a:rPr lang="en-US" dirty="0" err="1"/>
              <a:t>davranışını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kültürel</a:t>
            </a:r>
            <a:r>
              <a:rPr lang="en-US" dirty="0"/>
              <a:t> </a:t>
            </a:r>
            <a:r>
              <a:rPr lang="en-US" dirty="0" err="1"/>
              <a:t>yönleriyle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disiplin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dalları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da </a:t>
            </a:r>
            <a:r>
              <a:rPr lang="en-US" dirty="0" err="1"/>
              <a:t>tanımlanabilir</a:t>
            </a:r>
            <a:r>
              <a:rPr lang="en-US" dirty="0"/>
              <a:t>. </a:t>
            </a:r>
          </a:p>
          <a:p>
            <a:r>
              <a:rPr lang="en-US" dirty="0" err="1"/>
              <a:t>Sosyoloji</a:t>
            </a:r>
            <a:r>
              <a:rPr lang="en-US" dirty="0"/>
              <a:t>, </a:t>
            </a:r>
            <a:r>
              <a:rPr lang="en-US" dirty="0" err="1"/>
              <a:t>tarih</a:t>
            </a:r>
            <a:r>
              <a:rPr lang="en-US" dirty="0"/>
              <a:t>, </a:t>
            </a:r>
            <a:r>
              <a:rPr lang="en-US" dirty="0" err="1"/>
              <a:t>etnoloji</a:t>
            </a:r>
            <a:r>
              <a:rPr lang="en-US" dirty="0"/>
              <a:t>, 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psikoloji</a:t>
            </a:r>
            <a:r>
              <a:rPr lang="en-US" dirty="0"/>
              <a:t>, </a:t>
            </a:r>
            <a:r>
              <a:rPr lang="en-US" dirty="0" err="1"/>
              <a:t>siyaset</a:t>
            </a:r>
            <a:r>
              <a:rPr lang="en-US" dirty="0"/>
              <a:t> </a:t>
            </a:r>
            <a:r>
              <a:rPr lang="en-US" dirty="0" err="1"/>
              <a:t>bilimi</a:t>
            </a:r>
            <a:r>
              <a:rPr lang="en-US" dirty="0"/>
              <a:t> </a:t>
            </a:r>
            <a:r>
              <a:rPr lang="en-US" dirty="0" err="1"/>
              <a:t>iktisat</a:t>
            </a:r>
            <a:r>
              <a:rPr lang="en-US" dirty="0"/>
              <a:t>, </a:t>
            </a:r>
            <a:r>
              <a:rPr lang="en-US" dirty="0" err="1"/>
              <a:t>kültürel</a:t>
            </a:r>
            <a:r>
              <a:rPr lang="en-US" dirty="0"/>
              <a:t> </a:t>
            </a:r>
            <a:r>
              <a:rPr lang="en-US" dirty="0" err="1"/>
              <a:t>antropoloji</a:t>
            </a:r>
            <a:r>
              <a:rPr lang="en-US" dirty="0"/>
              <a:t> (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antropoloji</a:t>
            </a:r>
            <a:r>
              <a:rPr lang="en-US" dirty="0"/>
              <a:t>), </a:t>
            </a:r>
            <a:r>
              <a:rPr lang="en-US" dirty="0" err="1"/>
              <a:t>tarih</a:t>
            </a:r>
            <a:r>
              <a:rPr lang="en-US" dirty="0"/>
              <a:t>, </a:t>
            </a:r>
            <a:r>
              <a:rPr lang="en-US" dirty="0" err="1"/>
              <a:t>coğrafya</a:t>
            </a:r>
            <a:r>
              <a:rPr lang="en-US" dirty="0"/>
              <a:t>, </a:t>
            </a:r>
            <a:r>
              <a:rPr lang="en-US" dirty="0" err="1"/>
              <a:t>eğitim</a:t>
            </a:r>
            <a:r>
              <a:rPr lang="en-US" dirty="0"/>
              <a:t>, vb.</a:t>
            </a:r>
          </a:p>
        </p:txBody>
      </p:sp>
    </p:spTree>
    <p:extLst>
      <p:ext uri="{BB962C8B-B14F-4D97-AF65-F5344CB8AC3E}">
        <p14:creationId xmlns:p14="http://schemas.microsoft.com/office/powerpoint/2010/main" val="306443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40A3F-32E7-8AC6-6B01-09D27DAE8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95300"/>
            <a:ext cx="9603275" cy="4971045"/>
          </a:xfrm>
        </p:spPr>
        <p:txBody>
          <a:bodyPr/>
          <a:lstStyle/>
          <a:p>
            <a:r>
              <a:rPr lang="en-US" b="1" dirty="0" err="1"/>
              <a:t>Doğa</a:t>
            </a:r>
            <a:r>
              <a:rPr lang="en-US" b="1" dirty="0"/>
              <a:t> </a:t>
            </a:r>
            <a:r>
              <a:rPr lang="en-US" b="1" dirty="0" err="1"/>
              <a:t>Bilimleri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Toplum</a:t>
            </a:r>
            <a:r>
              <a:rPr lang="en-US" b="1" dirty="0"/>
              <a:t> </a:t>
            </a:r>
            <a:r>
              <a:rPr lang="en-US" b="1" dirty="0" err="1"/>
              <a:t>Bilimleri</a:t>
            </a:r>
            <a:r>
              <a:rPr lang="en-US" b="1" dirty="0"/>
              <a:t> </a:t>
            </a:r>
            <a:r>
              <a:rPr lang="en-US" b="1" dirty="0" err="1"/>
              <a:t>Arasındaki</a:t>
            </a:r>
            <a:r>
              <a:rPr lang="en-US" b="1" dirty="0"/>
              <a:t> </a:t>
            </a:r>
            <a:r>
              <a:rPr lang="en-US" b="1" dirty="0" err="1"/>
              <a:t>Benzerlikler</a:t>
            </a:r>
            <a:endParaRPr lang="en-US" dirty="0"/>
          </a:p>
          <a:p>
            <a:r>
              <a:rPr lang="en-US" b="1" dirty="0"/>
              <a:t>a)</a:t>
            </a:r>
            <a:r>
              <a:rPr lang="tr-TR" b="1" dirty="0"/>
              <a:t> </a:t>
            </a:r>
            <a:r>
              <a:rPr lang="en-US" dirty="0" err="1"/>
              <a:t>K</a:t>
            </a:r>
            <a:r>
              <a:rPr lang="en-US" b="1" dirty="0" err="1"/>
              <a:t>onu</a:t>
            </a:r>
            <a:r>
              <a:rPr lang="en-US" b="1" dirty="0"/>
              <a:t> </a:t>
            </a:r>
            <a:r>
              <a:rPr lang="en-US" b="1" dirty="0" err="1"/>
              <a:t>Yönünden</a:t>
            </a:r>
            <a:r>
              <a:rPr lang="en-US" b="1" dirty="0"/>
              <a:t>: </a:t>
            </a:r>
            <a:r>
              <a:rPr lang="en-US" dirty="0" err="1"/>
              <a:t>İnceledikleri</a:t>
            </a:r>
            <a:r>
              <a:rPr lang="en-US" dirty="0"/>
              <a:t> </a:t>
            </a:r>
            <a:r>
              <a:rPr lang="en-US" dirty="0" err="1"/>
              <a:t>konular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olgular-olaylar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bunlar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ilişkilerdir</a:t>
            </a:r>
            <a:r>
              <a:rPr lang="en-US" dirty="0"/>
              <a:t>.</a:t>
            </a:r>
          </a:p>
          <a:p>
            <a:r>
              <a:rPr lang="en-US" b="1" dirty="0"/>
              <a:t>b)</a:t>
            </a:r>
            <a:r>
              <a:rPr lang="tr-TR" b="1" dirty="0"/>
              <a:t> </a:t>
            </a:r>
            <a:r>
              <a:rPr lang="en-US" b="1" dirty="0" err="1"/>
              <a:t>AmaçYönünden</a:t>
            </a:r>
            <a:r>
              <a:rPr lang="en-US" dirty="0"/>
              <a:t>:</a:t>
            </a:r>
            <a:r>
              <a:rPr lang="tr-TR" dirty="0"/>
              <a:t> </a:t>
            </a:r>
            <a:r>
              <a:rPr lang="en-US" dirty="0" err="1"/>
              <a:t>Olgular-olaylar</a:t>
            </a:r>
            <a:r>
              <a:rPr lang="tr-TR" dirty="0"/>
              <a:t> </a:t>
            </a:r>
            <a:r>
              <a:rPr lang="en-US" dirty="0" err="1"/>
              <a:t>arasındak</a:t>
            </a:r>
            <a:r>
              <a:rPr lang="tr-TR" dirty="0"/>
              <a:t> </a:t>
            </a:r>
            <a:r>
              <a:rPr lang="en-US" dirty="0" err="1"/>
              <a:t>iilişkileri</a:t>
            </a:r>
            <a:r>
              <a:rPr lang="tr-TR" dirty="0"/>
              <a:t> </a:t>
            </a:r>
            <a:r>
              <a:rPr lang="en-US" dirty="0" err="1"/>
              <a:t>bulmak</a:t>
            </a:r>
            <a:r>
              <a:rPr lang="tr-TR" dirty="0"/>
              <a:t> </a:t>
            </a:r>
            <a:r>
              <a:rPr lang="en-US" dirty="0"/>
              <a:t>,</a:t>
            </a:r>
            <a:r>
              <a:rPr lang="en-US" dirty="0" err="1"/>
              <a:t>bunlardan</a:t>
            </a:r>
            <a:r>
              <a:rPr lang="tr-TR" dirty="0"/>
              <a:t> </a:t>
            </a:r>
            <a:r>
              <a:rPr lang="en-US" dirty="0" err="1"/>
              <a:t>kesin</a:t>
            </a:r>
            <a:r>
              <a:rPr lang="tr-TR" dirty="0"/>
              <a:t> </a:t>
            </a:r>
            <a:r>
              <a:rPr lang="en-US" dirty="0"/>
              <a:t>yada</a:t>
            </a:r>
            <a:r>
              <a:rPr lang="tr-TR" dirty="0"/>
              <a:t> </a:t>
            </a:r>
            <a:r>
              <a:rPr lang="en-US" dirty="0" err="1"/>
              <a:t>kesine</a:t>
            </a:r>
            <a:r>
              <a:rPr lang="tr-TR" dirty="0"/>
              <a:t> 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, </a:t>
            </a:r>
            <a:r>
              <a:rPr lang="en-US" dirty="0" err="1"/>
              <a:t>çıkarımlarda</a:t>
            </a:r>
            <a:r>
              <a:rPr lang="en-US" dirty="0"/>
              <a:t> </a:t>
            </a:r>
            <a:r>
              <a:rPr lang="en-US" dirty="0" err="1"/>
              <a:t>bulunmaktır</a:t>
            </a:r>
            <a:r>
              <a:rPr lang="en-US" dirty="0"/>
              <a:t>. </a:t>
            </a:r>
            <a:r>
              <a:rPr lang="en-US" dirty="0" err="1"/>
              <a:t>Böylece</a:t>
            </a:r>
            <a:r>
              <a:rPr lang="en-US" dirty="0"/>
              <a:t>, 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genellemelere</a:t>
            </a:r>
            <a:r>
              <a:rPr lang="en-US" dirty="0"/>
              <a:t> </a:t>
            </a:r>
            <a:r>
              <a:rPr lang="en-US" dirty="0" err="1"/>
              <a:t>gidilebilir</a:t>
            </a:r>
            <a:r>
              <a:rPr lang="en-US" dirty="0"/>
              <a:t>.</a:t>
            </a:r>
          </a:p>
          <a:p>
            <a:r>
              <a:rPr lang="en-US" b="1" dirty="0"/>
              <a:t>c) </a:t>
            </a:r>
            <a:r>
              <a:rPr lang="en-US" b="1" dirty="0" err="1"/>
              <a:t>Yöntem</a:t>
            </a:r>
            <a:r>
              <a:rPr lang="en-US" b="1" dirty="0"/>
              <a:t> </a:t>
            </a:r>
            <a:r>
              <a:rPr lang="en-US" b="1" dirty="0" err="1"/>
              <a:t>Açısından</a:t>
            </a:r>
            <a:r>
              <a:rPr lang="en-US" dirty="0"/>
              <a:t>: </a:t>
            </a:r>
            <a:r>
              <a:rPr lang="en-US" dirty="0" err="1"/>
              <a:t>Tümevarım</a:t>
            </a:r>
            <a:r>
              <a:rPr lang="tr-TR" dirty="0"/>
              <a:t> </a:t>
            </a:r>
            <a:r>
              <a:rPr lang="en-US" dirty="0" err="1"/>
              <a:t>yöntemi</a:t>
            </a:r>
            <a:r>
              <a:rPr lang="en-US" dirty="0"/>
              <a:t>, her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tr-TR" dirty="0"/>
              <a:t> </a:t>
            </a:r>
            <a:r>
              <a:rPr lang="en-US" dirty="0" err="1"/>
              <a:t>kümesinde</a:t>
            </a:r>
            <a:r>
              <a:rPr lang="en-US" dirty="0"/>
              <a:t> de </a:t>
            </a:r>
            <a:r>
              <a:rPr lang="en-US" dirty="0" err="1"/>
              <a:t>izlenir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428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28AD7-F84B-B0F3-40B3-6AE481B68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800100"/>
            <a:ext cx="9603275" cy="4666245"/>
          </a:xfrm>
        </p:spPr>
        <p:txBody>
          <a:bodyPr>
            <a:normAutofit/>
          </a:bodyPr>
          <a:lstStyle/>
          <a:p>
            <a:r>
              <a:rPr lang="en-US" b="1" dirty="0" err="1"/>
              <a:t>Doğa</a:t>
            </a:r>
            <a:r>
              <a:rPr lang="en-US" b="1" dirty="0"/>
              <a:t> </a:t>
            </a:r>
            <a:r>
              <a:rPr lang="en-US" b="1" dirty="0" err="1"/>
              <a:t>Bilimleri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Toplum</a:t>
            </a:r>
            <a:r>
              <a:rPr lang="en-US" b="1" dirty="0"/>
              <a:t> </a:t>
            </a:r>
            <a:r>
              <a:rPr lang="en-US" b="1" dirty="0" err="1"/>
              <a:t>Bilimleri</a:t>
            </a:r>
            <a:r>
              <a:rPr lang="en-US" b="1" dirty="0"/>
              <a:t> </a:t>
            </a:r>
            <a:r>
              <a:rPr lang="en-US" b="1" dirty="0" err="1"/>
              <a:t>Arasındaki</a:t>
            </a:r>
            <a:r>
              <a:rPr lang="en-US" b="1" dirty="0"/>
              <a:t> </a:t>
            </a:r>
            <a:r>
              <a:rPr lang="en-US" b="1" dirty="0" err="1"/>
              <a:t>Ayrılıklar</a:t>
            </a:r>
            <a:endParaRPr lang="en-US" dirty="0"/>
          </a:p>
          <a:p>
            <a:r>
              <a:rPr lang="en-US" b="1" dirty="0"/>
              <a:t>a) </a:t>
            </a:r>
            <a:r>
              <a:rPr lang="en-US" dirty="0" err="1"/>
              <a:t>İnceledikleri</a:t>
            </a:r>
            <a:r>
              <a:rPr lang="en-US" dirty="0"/>
              <a:t> </a:t>
            </a:r>
            <a:r>
              <a:rPr lang="en-US" dirty="0" err="1"/>
              <a:t>konuların</a:t>
            </a:r>
            <a:r>
              <a:rPr lang="en-US" dirty="0"/>
              <a:t> </a:t>
            </a:r>
            <a:r>
              <a:rPr lang="en-US" b="1" dirty="0" err="1"/>
              <a:t>niteliği</a:t>
            </a:r>
            <a:r>
              <a:rPr lang="tr-TR" b="1" dirty="0"/>
              <a:t> </a:t>
            </a:r>
            <a:r>
              <a:rPr lang="en-US" dirty="0" err="1"/>
              <a:t>farklıdır</a:t>
            </a:r>
            <a:r>
              <a:rPr lang="en-US" dirty="0"/>
              <a:t>.</a:t>
            </a:r>
          </a:p>
          <a:p>
            <a:r>
              <a:rPr lang="en-US" b="1" dirty="0"/>
              <a:t>b)</a:t>
            </a:r>
            <a:r>
              <a:rPr lang="en-US" dirty="0" err="1"/>
              <a:t>Doğa</a:t>
            </a:r>
            <a:r>
              <a:rPr lang="en-US" dirty="0"/>
              <a:t> </a:t>
            </a:r>
            <a:r>
              <a:rPr lang="en-US" dirty="0" err="1"/>
              <a:t>bilimlerinde</a:t>
            </a:r>
            <a:r>
              <a:rPr lang="en-US" dirty="0"/>
              <a:t> </a:t>
            </a:r>
            <a:r>
              <a:rPr lang="en-US" dirty="0" err="1"/>
              <a:t>inceleme</a:t>
            </a:r>
            <a:r>
              <a:rPr lang="en-US" dirty="0"/>
              <a:t> </a:t>
            </a:r>
            <a:r>
              <a:rPr lang="en-US" b="1" dirty="0" err="1"/>
              <a:t>sonuçları</a:t>
            </a:r>
            <a:r>
              <a:rPr lang="en-US" b="1" dirty="0"/>
              <a:t> </a:t>
            </a:r>
            <a:r>
              <a:rPr lang="en-US" b="1" dirty="0" err="1"/>
              <a:t>kesindir</a:t>
            </a:r>
            <a:r>
              <a:rPr lang="tr-TR" b="1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değişmez</a:t>
            </a:r>
            <a:r>
              <a:rPr lang="en-US" dirty="0"/>
              <a:t>. </a:t>
            </a:r>
            <a:r>
              <a:rPr lang="en-US" dirty="0" err="1"/>
              <a:t>Toplum</a:t>
            </a:r>
            <a:r>
              <a:rPr lang="en-US" dirty="0"/>
              <a:t> </a:t>
            </a:r>
            <a:r>
              <a:rPr lang="en-US" dirty="0" err="1"/>
              <a:t>bilimlerinde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olaylarda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koşullarda</a:t>
            </a:r>
            <a:r>
              <a:rPr lang="en-US" dirty="0"/>
              <a:t> </a:t>
            </a:r>
            <a:r>
              <a:rPr lang="en-US" b="1" dirty="0" err="1"/>
              <a:t>değişebilir</a:t>
            </a:r>
            <a:r>
              <a:rPr lang="en-US" dirty="0"/>
              <a:t>.</a:t>
            </a:r>
          </a:p>
          <a:p>
            <a:r>
              <a:rPr lang="en-US" b="1" dirty="0"/>
              <a:t>c)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bilimlerde</a:t>
            </a:r>
            <a:r>
              <a:rPr lang="en-US" dirty="0"/>
              <a:t> </a:t>
            </a:r>
            <a:r>
              <a:rPr lang="en-US" b="1" dirty="0" err="1"/>
              <a:t>normatif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kuralcı</a:t>
            </a:r>
            <a:r>
              <a:rPr lang="en-US" dirty="0"/>
              <a:t>), </a:t>
            </a:r>
            <a:r>
              <a:rPr lang="en-US" dirty="0" err="1"/>
              <a:t>doğa</a:t>
            </a:r>
            <a:r>
              <a:rPr lang="en-US" dirty="0"/>
              <a:t> </a:t>
            </a:r>
            <a:r>
              <a:rPr lang="en-US" dirty="0" err="1"/>
              <a:t>bilimlerinde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b="1" dirty="0" err="1"/>
              <a:t>pozitif</a:t>
            </a:r>
            <a:r>
              <a:rPr lang="en-US" dirty="0"/>
              <a:t>(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yasa</a:t>
            </a:r>
            <a:r>
              <a:rPr lang="en-US" dirty="0"/>
              <a:t>) </a:t>
            </a:r>
            <a:r>
              <a:rPr lang="en-US" dirty="0" err="1"/>
              <a:t>taraf</a:t>
            </a:r>
            <a:r>
              <a:rPr lang="en-US" dirty="0"/>
              <a:t> </a:t>
            </a: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basar</a:t>
            </a:r>
            <a:r>
              <a:rPr lang="en-US" dirty="0"/>
              <a:t>.</a:t>
            </a:r>
          </a:p>
          <a:p>
            <a:r>
              <a:rPr lang="en-US" b="1" dirty="0"/>
              <a:t>d) </a:t>
            </a:r>
            <a:r>
              <a:rPr lang="en-US" dirty="0" err="1"/>
              <a:t>Doğa</a:t>
            </a:r>
            <a:r>
              <a:rPr lang="en-US" dirty="0"/>
              <a:t> </a:t>
            </a:r>
            <a:r>
              <a:rPr lang="en-US" dirty="0" err="1"/>
              <a:t>bilimlerinde</a:t>
            </a:r>
            <a:r>
              <a:rPr lang="en-US" dirty="0"/>
              <a:t> </a:t>
            </a:r>
            <a:r>
              <a:rPr lang="en-US" dirty="0" err="1"/>
              <a:t>kontrollü</a:t>
            </a:r>
            <a:r>
              <a:rPr lang="en-US" dirty="0"/>
              <a:t> </a:t>
            </a:r>
            <a:r>
              <a:rPr lang="en-US" dirty="0" err="1"/>
              <a:t>deneyler</a:t>
            </a:r>
            <a:r>
              <a:rPr lang="en-US" dirty="0"/>
              <a:t> </a:t>
            </a:r>
            <a:r>
              <a:rPr lang="en-US" dirty="0" err="1"/>
              <a:t>olanaklıdır</a:t>
            </a:r>
            <a:r>
              <a:rPr lang="en-US" dirty="0"/>
              <a:t>. </a:t>
            </a:r>
            <a:r>
              <a:rPr lang="en-US" dirty="0" err="1"/>
              <a:t>İnsanla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bilimlerde</a:t>
            </a:r>
            <a:r>
              <a:rPr lang="en-US" dirty="0"/>
              <a:t> </a:t>
            </a:r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olanaklı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04606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E18B-FBBF-9899-1B5D-E0D78D10A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41120"/>
            <a:ext cx="9603275" cy="4125225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    </a:t>
            </a:r>
            <a:r>
              <a:rPr lang="en-US" b="1" dirty="0" err="1"/>
              <a:t>Sosyal</a:t>
            </a:r>
            <a:r>
              <a:rPr lang="en-US" b="1" dirty="0"/>
              <a:t> </a:t>
            </a:r>
            <a:r>
              <a:rPr lang="en-US" b="1" dirty="0" err="1"/>
              <a:t>Bilimlerin</a:t>
            </a:r>
            <a:r>
              <a:rPr lang="en-US" b="1" dirty="0"/>
              <a:t> </a:t>
            </a:r>
            <a:r>
              <a:rPr lang="en-US" b="1" dirty="0" err="1"/>
              <a:t>Alanları</a:t>
            </a:r>
            <a:endParaRPr lang="en-US" dirty="0"/>
          </a:p>
          <a:p>
            <a:r>
              <a:rPr lang="en-US" b="1" dirty="0"/>
              <a:t>1. </a:t>
            </a:r>
            <a:r>
              <a:rPr lang="en-US" b="1" dirty="0" err="1"/>
              <a:t>Normatif</a:t>
            </a:r>
            <a:r>
              <a:rPr lang="en-US" b="1" dirty="0"/>
              <a:t> </a:t>
            </a:r>
            <a:r>
              <a:rPr lang="en-US" b="1" dirty="0" err="1"/>
              <a:t>Alanlar</a:t>
            </a:r>
            <a:r>
              <a:rPr lang="en-US" b="1" dirty="0"/>
              <a:t>: </a:t>
            </a:r>
            <a:r>
              <a:rPr lang="en-US" dirty="0" err="1"/>
              <a:t>Konusunu</a:t>
            </a:r>
            <a:r>
              <a:rPr lang="en-US" dirty="0"/>
              <a:t> </a:t>
            </a:r>
            <a:r>
              <a:rPr lang="en-US" dirty="0" err="1"/>
              <a:t>kuralların</a:t>
            </a:r>
            <a:r>
              <a:rPr lang="en-US" dirty="0"/>
              <a:t> </a:t>
            </a:r>
            <a:r>
              <a:rPr lang="en-US" dirty="0" err="1"/>
              <a:t>oluşturduğu</a:t>
            </a:r>
            <a:r>
              <a:rPr lang="en-US" dirty="0"/>
              <a:t> </a:t>
            </a:r>
            <a:r>
              <a:rPr lang="en-US" dirty="0" err="1"/>
              <a:t>bilimler</a:t>
            </a:r>
            <a:r>
              <a:rPr lang="en-US" dirty="0"/>
              <a:t>. </a:t>
            </a:r>
          </a:p>
          <a:p>
            <a:r>
              <a:rPr lang="en-US" dirty="0" err="1"/>
              <a:t>Normatif</a:t>
            </a:r>
            <a:r>
              <a:rPr lang="en-US" dirty="0"/>
              <a:t> </a:t>
            </a:r>
            <a:r>
              <a:rPr lang="en-US" dirty="0" err="1"/>
              <a:t>alanlar</a:t>
            </a:r>
            <a:r>
              <a:rPr lang="en-US" dirty="0"/>
              <a:t>, </a:t>
            </a:r>
            <a:r>
              <a:rPr lang="en-US" dirty="0" err="1"/>
              <a:t>kuram</a:t>
            </a:r>
            <a:r>
              <a:rPr lang="en-US" dirty="0"/>
              <a:t> </a:t>
            </a:r>
            <a:r>
              <a:rPr lang="en-US" dirty="0" err="1"/>
              <a:t>üretmekten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, </a:t>
            </a:r>
            <a:r>
              <a:rPr lang="en-US" dirty="0" err="1"/>
              <a:t>üretilmiş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kuramları</a:t>
            </a:r>
            <a:r>
              <a:rPr lang="en-US" dirty="0"/>
              <a:t> </a:t>
            </a:r>
            <a:r>
              <a:rPr lang="en-US" dirty="0" err="1"/>
              <a:t>toplumun</a:t>
            </a:r>
            <a:r>
              <a:rPr lang="en-US" dirty="0"/>
              <a:t> </a:t>
            </a:r>
            <a:r>
              <a:rPr lang="en-US" dirty="0" err="1"/>
              <a:t>gereksinimleri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düzenlemeleri</a:t>
            </a:r>
            <a:r>
              <a:rPr lang="en-US" dirty="0"/>
              <a:t> </a:t>
            </a:r>
            <a:r>
              <a:rPr lang="en-US" dirty="0" err="1"/>
              <a:t>doğrultusunda</a:t>
            </a:r>
            <a:r>
              <a:rPr lang="en-US" dirty="0"/>
              <a:t> </a:t>
            </a:r>
            <a:r>
              <a:rPr lang="en-US" dirty="0" err="1"/>
              <a:t>yorumlayarak</a:t>
            </a:r>
            <a:r>
              <a:rPr lang="en-US" dirty="0"/>
              <a:t>, </a:t>
            </a:r>
            <a:r>
              <a:rPr lang="en-US" dirty="0" err="1"/>
              <a:t>kurallar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getirmeyi</a:t>
            </a:r>
            <a:r>
              <a:rPr lang="en-US" dirty="0"/>
              <a:t> </a:t>
            </a:r>
            <a:r>
              <a:rPr lang="en-US" dirty="0" err="1"/>
              <a:t>amaçlar</a:t>
            </a:r>
            <a:r>
              <a:rPr lang="tr-TR" dirty="0"/>
              <a:t> </a:t>
            </a:r>
            <a:r>
              <a:rPr lang="en-US" dirty="0"/>
              <a:t>(</a:t>
            </a:r>
            <a:r>
              <a:rPr lang="en-US" dirty="0" err="1"/>
              <a:t>Örneğin</a:t>
            </a:r>
            <a:r>
              <a:rPr lang="en-US" dirty="0"/>
              <a:t>; </a:t>
            </a:r>
            <a:r>
              <a:rPr lang="en-US" dirty="0" err="1"/>
              <a:t>hukuk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275979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2881-E598-3CEA-6E87-06ECD93A9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579120"/>
            <a:ext cx="9603275" cy="4887225"/>
          </a:xfrm>
        </p:spPr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Pozitif</a:t>
            </a:r>
            <a:r>
              <a:rPr lang="en-US" b="1" dirty="0"/>
              <a:t> </a:t>
            </a:r>
            <a:r>
              <a:rPr lang="en-US" b="1" dirty="0" err="1"/>
              <a:t>Alanlar:</a:t>
            </a:r>
            <a:r>
              <a:rPr lang="en-US" dirty="0" err="1"/>
              <a:t>Toplumun</a:t>
            </a:r>
            <a:r>
              <a:rPr lang="en-US" dirty="0"/>
              <a:t> </a:t>
            </a:r>
            <a:r>
              <a:rPr lang="en-US" dirty="0" err="1"/>
              <a:t>sorunlarına</a:t>
            </a:r>
            <a:r>
              <a:rPr lang="en-US" dirty="0"/>
              <a:t> </a:t>
            </a:r>
            <a:r>
              <a:rPr lang="en-US" dirty="0" err="1"/>
              <a:t>eğilmenin</a:t>
            </a:r>
            <a:r>
              <a:rPr lang="en-US" dirty="0"/>
              <a:t> </a:t>
            </a:r>
            <a:r>
              <a:rPr lang="en-US" dirty="0" err="1"/>
              <a:t>yanında</a:t>
            </a:r>
            <a:r>
              <a:rPr lang="en-US" dirty="0"/>
              <a:t>, </a:t>
            </a:r>
            <a:r>
              <a:rPr lang="en-US" dirty="0" err="1"/>
              <a:t>kuram</a:t>
            </a:r>
            <a:r>
              <a:rPr lang="en-US" dirty="0"/>
              <a:t> </a:t>
            </a:r>
            <a:r>
              <a:rPr lang="en-US" dirty="0" err="1"/>
              <a:t>geliştirmeyi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sonuçlarını</a:t>
            </a:r>
            <a:r>
              <a:rPr lang="en-US" dirty="0"/>
              <a:t> </a:t>
            </a:r>
            <a:r>
              <a:rPr lang="en-US" dirty="0" err="1"/>
              <a:t>topluma</a:t>
            </a:r>
            <a:r>
              <a:rPr lang="en-US" dirty="0"/>
              <a:t> </a:t>
            </a:r>
            <a:r>
              <a:rPr lang="en-US" dirty="0" err="1"/>
              <a:t>genellemeyi</a:t>
            </a:r>
            <a:r>
              <a:rPr lang="en-US" dirty="0"/>
              <a:t> de </a:t>
            </a:r>
            <a:r>
              <a:rPr lang="en-US" dirty="0" err="1"/>
              <a:t>amaçlayan</a:t>
            </a:r>
            <a:r>
              <a:rPr lang="en-US" dirty="0"/>
              <a:t> </a:t>
            </a:r>
            <a:r>
              <a:rPr lang="en-US" dirty="0" err="1"/>
              <a:t>alanlardır</a:t>
            </a:r>
            <a:r>
              <a:rPr lang="en-US" dirty="0"/>
              <a:t>. </a:t>
            </a:r>
          </a:p>
          <a:p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sosyoloji</a:t>
            </a:r>
            <a:r>
              <a:rPr lang="en-US" dirty="0"/>
              <a:t>, </a:t>
            </a:r>
            <a:r>
              <a:rPr lang="en-US" dirty="0" err="1"/>
              <a:t>psikoloji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bilimleri</a:t>
            </a:r>
            <a:r>
              <a:rPr lang="en-US" dirty="0"/>
              <a:t> </a:t>
            </a:r>
            <a:r>
              <a:rPr lang="en-US" dirty="0" err="1"/>
              <a:t>alanları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kategoriye</a:t>
            </a:r>
            <a:r>
              <a:rPr lang="en-US" dirty="0"/>
              <a:t> </a:t>
            </a:r>
            <a:r>
              <a:rPr lang="en-US" dirty="0" err="1"/>
              <a:t>sokulabilir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0392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D506-EDFA-FAC7-1EE3-D2911B5B8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440180"/>
            <a:ext cx="9603275" cy="4026165"/>
          </a:xfrm>
        </p:spPr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Metafizik</a:t>
            </a:r>
            <a:r>
              <a:rPr lang="en-US" b="1" dirty="0"/>
              <a:t> </a:t>
            </a:r>
            <a:r>
              <a:rPr lang="en-US" b="1" dirty="0" err="1"/>
              <a:t>Alanlar</a:t>
            </a:r>
            <a:r>
              <a:rPr lang="en-US" b="1" dirty="0"/>
              <a:t>:</a:t>
            </a:r>
            <a:r>
              <a:rPr lang="tr-TR" b="1" dirty="0"/>
              <a:t> </a:t>
            </a:r>
            <a:r>
              <a:rPr lang="en-US" dirty="0"/>
              <a:t>Somut </a:t>
            </a:r>
            <a:r>
              <a:rPr lang="en-US" dirty="0" err="1"/>
              <a:t>olgu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olayların</a:t>
            </a:r>
            <a:r>
              <a:rPr lang="en-US" dirty="0"/>
              <a:t> </a:t>
            </a:r>
            <a:r>
              <a:rPr lang="en-US" dirty="0" err="1"/>
              <a:t>dışındaki</a:t>
            </a:r>
            <a:r>
              <a:rPr lang="en-US" dirty="0"/>
              <a:t> </a:t>
            </a:r>
            <a:r>
              <a:rPr lang="en-US" dirty="0" err="1"/>
              <a:t>konuları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bunları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özgü</a:t>
            </a:r>
            <a:r>
              <a:rPr lang="en-US" dirty="0"/>
              <a:t> </a:t>
            </a:r>
            <a:r>
              <a:rPr lang="en-US" dirty="0" err="1"/>
              <a:t>yöntem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tekniklerle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  </a:t>
            </a:r>
          </a:p>
          <a:p>
            <a:r>
              <a:rPr lang="en-US" dirty="0" err="1"/>
              <a:t>Kuramsal</a:t>
            </a:r>
            <a:r>
              <a:rPr lang="en-US" dirty="0"/>
              <a:t> </a:t>
            </a:r>
            <a:r>
              <a:rPr lang="en-US" dirty="0" err="1"/>
              <a:t>temelleri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, </a:t>
            </a:r>
            <a:r>
              <a:rPr lang="en-US" dirty="0" err="1"/>
              <a:t>deneysel</a:t>
            </a:r>
            <a:r>
              <a:rPr lang="en-US" dirty="0"/>
              <a:t> </a:t>
            </a:r>
            <a:r>
              <a:rPr lang="en-US" dirty="0" err="1"/>
              <a:t>yaklaşım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konusu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 (</a:t>
            </a:r>
            <a:r>
              <a:rPr lang="en-US" dirty="0" err="1"/>
              <a:t>örn</a:t>
            </a:r>
            <a:r>
              <a:rPr lang="en-US" dirty="0"/>
              <a:t>; </a:t>
            </a:r>
            <a:r>
              <a:rPr lang="en-US" dirty="0" err="1"/>
              <a:t>teoloji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80722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8D75D-B42A-AA6E-2CCE-097C6FB3F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73380"/>
            <a:ext cx="9603275" cy="509296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  </a:t>
            </a:r>
            <a:r>
              <a:rPr lang="en-US" b="1" dirty="0"/>
              <a:t>SOSYOLOJİ (</a:t>
            </a:r>
            <a:r>
              <a:rPr lang="en-US" b="1" dirty="0" err="1"/>
              <a:t>toplumbilim</a:t>
            </a:r>
            <a:r>
              <a:rPr lang="en-US" b="1" dirty="0"/>
              <a:t>)</a:t>
            </a:r>
          </a:p>
          <a:p>
            <a:r>
              <a:rPr lang="tr-TR" dirty="0"/>
              <a:t>    </a:t>
            </a:r>
            <a:r>
              <a:rPr lang="en-US" dirty="0" err="1"/>
              <a:t>Toplumla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olgular</a:t>
            </a:r>
            <a:r>
              <a:rPr lang="en-US" dirty="0"/>
              <a:t>/</a:t>
            </a:r>
            <a:r>
              <a:rPr lang="en-US" dirty="0" err="1"/>
              <a:t>olaylar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sistematik</a:t>
            </a:r>
            <a:r>
              <a:rPr lang="en-US" dirty="0"/>
              <a:t> </a:t>
            </a:r>
            <a:r>
              <a:rPr lang="en-US" dirty="0" err="1"/>
              <a:t>bilgiler</a:t>
            </a:r>
            <a:r>
              <a:rPr lang="en-US" dirty="0"/>
              <a:t> </a:t>
            </a:r>
            <a:r>
              <a:rPr lang="en-US" dirty="0" err="1"/>
              <a:t>bütünü</a:t>
            </a:r>
            <a:r>
              <a:rPr lang="en-US" dirty="0"/>
              <a:t>. </a:t>
            </a:r>
          </a:p>
          <a:p>
            <a:r>
              <a:rPr lang="tr-TR" dirty="0"/>
              <a:t>    </a:t>
            </a:r>
            <a:r>
              <a:rPr lang="en-US" dirty="0" err="1"/>
              <a:t>Toplumun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yasalarını</a:t>
            </a:r>
            <a:r>
              <a:rPr lang="en-US" dirty="0"/>
              <a:t>, </a:t>
            </a:r>
            <a:r>
              <a:rPr lang="en-US" dirty="0" err="1"/>
              <a:t>yasa</a:t>
            </a:r>
            <a:r>
              <a:rPr lang="en-US" dirty="0"/>
              <a:t> 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düzenlilikleri</a:t>
            </a:r>
            <a:r>
              <a:rPr lang="en-US" dirty="0"/>
              <a:t>, </a:t>
            </a:r>
            <a:r>
              <a:rPr lang="en-US" dirty="0" err="1"/>
              <a:t>eğilimleri</a:t>
            </a:r>
            <a:r>
              <a:rPr lang="en-US" dirty="0"/>
              <a:t>,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olgular</a:t>
            </a:r>
            <a:r>
              <a:rPr lang="en-US" dirty="0"/>
              <a:t> </a:t>
            </a:r>
            <a:r>
              <a:rPr lang="tr-TR" dirty="0"/>
              <a:t> 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neden-sonuç</a:t>
            </a:r>
            <a:r>
              <a:rPr lang="en-US" dirty="0"/>
              <a:t> </a:t>
            </a:r>
            <a:r>
              <a:rPr lang="en-US" dirty="0" err="1"/>
              <a:t>ilişkilerini</a:t>
            </a:r>
            <a:r>
              <a:rPr lang="en-US" dirty="0"/>
              <a:t> </a:t>
            </a:r>
            <a:r>
              <a:rPr lang="en-US" dirty="0" err="1"/>
              <a:t>saptamaya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Amaç: </a:t>
            </a:r>
            <a:r>
              <a:rPr lang="en-US" b="1" dirty="0" err="1"/>
              <a:t>toplumun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toplumsal</a:t>
            </a:r>
            <a:r>
              <a:rPr lang="en-US" b="1" dirty="0"/>
              <a:t> </a:t>
            </a:r>
            <a:r>
              <a:rPr lang="en-US" b="1" dirty="0" err="1"/>
              <a:t>ilişkilerin</a:t>
            </a:r>
            <a:r>
              <a:rPr lang="en-US" b="1" dirty="0"/>
              <a:t> </a:t>
            </a:r>
            <a:r>
              <a:rPr lang="en-US" b="1" dirty="0" err="1"/>
              <a:t>bilimsel</a:t>
            </a:r>
            <a:r>
              <a:rPr lang="en-US" b="1" dirty="0"/>
              <a:t> </a:t>
            </a:r>
            <a:r>
              <a:rPr lang="en-US" b="1" dirty="0" err="1"/>
              <a:t>olarak</a:t>
            </a:r>
            <a:r>
              <a:rPr lang="en-US" b="1" dirty="0"/>
              <a:t> </a:t>
            </a:r>
            <a:r>
              <a:rPr lang="en-US" b="1" dirty="0" err="1"/>
              <a:t>incelenmesidir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10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A4A8D-B31A-1E37-C092-B35C0EBC6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5740"/>
            <a:ext cx="9603275" cy="5260605"/>
          </a:xfrm>
        </p:spPr>
        <p:txBody>
          <a:bodyPr/>
          <a:lstStyle/>
          <a:p>
            <a:r>
              <a:rPr lang="en-US" b="1" dirty="0" err="1"/>
              <a:t>Sosyologların</a:t>
            </a:r>
            <a:r>
              <a:rPr lang="en-US" b="1" dirty="0"/>
              <a:t> </a:t>
            </a:r>
            <a:r>
              <a:rPr lang="en-US" b="1" dirty="0" err="1"/>
              <a:t>sosyal</a:t>
            </a:r>
            <a:r>
              <a:rPr lang="en-US" b="1" dirty="0"/>
              <a:t> </a:t>
            </a:r>
            <a:r>
              <a:rPr lang="en-US" b="1" dirty="0" err="1"/>
              <a:t>davranışı</a:t>
            </a:r>
            <a:r>
              <a:rPr lang="en-US" b="1" dirty="0"/>
              <a:t> </a:t>
            </a:r>
            <a:r>
              <a:rPr lang="en-US" b="1" dirty="0" err="1"/>
              <a:t>ele</a:t>
            </a:r>
            <a:r>
              <a:rPr lang="en-US" b="1" dirty="0"/>
              <a:t> </a:t>
            </a:r>
            <a:r>
              <a:rPr lang="en-US" b="1" dirty="0" err="1"/>
              <a:t>alış</a:t>
            </a:r>
            <a:r>
              <a:rPr lang="en-US" b="1" dirty="0"/>
              <a:t> </a:t>
            </a:r>
            <a:r>
              <a:rPr lang="en-US" b="1" dirty="0" err="1"/>
              <a:t>tarzı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1.Kişilere </a:t>
            </a:r>
            <a:r>
              <a:rPr lang="en-US" dirty="0" err="1"/>
              <a:t>ilişkin</a:t>
            </a:r>
            <a:r>
              <a:rPr lang="en-US" dirty="0"/>
              <a:t> </a:t>
            </a:r>
            <a:r>
              <a:rPr lang="en-US" dirty="0" err="1"/>
              <a:t>sorular</a:t>
            </a:r>
            <a:r>
              <a:rPr lang="en-US" dirty="0"/>
              <a:t> </a:t>
            </a:r>
            <a:r>
              <a:rPr lang="en-US" dirty="0" err="1"/>
              <a:t>sormak</a:t>
            </a:r>
            <a:endParaRPr lang="en-US" dirty="0"/>
          </a:p>
          <a:p>
            <a:r>
              <a:rPr lang="en-US" dirty="0"/>
              <a:t>2.Yöntembilimsel(</a:t>
            </a:r>
            <a:r>
              <a:rPr lang="en-US" dirty="0" err="1"/>
              <a:t>metodolojik</a:t>
            </a:r>
            <a:r>
              <a:rPr lang="en-US" dirty="0"/>
              <a:t>)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çerçevede</a:t>
            </a:r>
            <a:r>
              <a:rPr lang="en-US" dirty="0"/>
              <a:t> </a:t>
            </a:r>
            <a:r>
              <a:rPr lang="en-US" dirty="0" err="1"/>
              <a:t>kişilerin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davrandıklarını</a:t>
            </a:r>
            <a:r>
              <a:rPr lang="en-US" dirty="0"/>
              <a:t> </a:t>
            </a:r>
            <a:r>
              <a:rPr lang="en-US" dirty="0" err="1"/>
              <a:t>gözlemlemek</a:t>
            </a:r>
            <a:endParaRPr lang="en-US" dirty="0"/>
          </a:p>
          <a:p>
            <a:r>
              <a:rPr lang="en-US" dirty="0"/>
              <a:t>3.Grup </a:t>
            </a:r>
            <a:r>
              <a:rPr lang="en-US" dirty="0" err="1"/>
              <a:t>yaşamının</a:t>
            </a:r>
            <a:r>
              <a:rPr lang="en-US" dirty="0"/>
              <a:t>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formlarına</a:t>
            </a:r>
            <a:r>
              <a:rPr lang="en-US" dirty="0"/>
              <a:t> </a:t>
            </a:r>
            <a:r>
              <a:rPr lang="en-US" dirty="0" err="1"/>
              <a:t>katılmak</a:t>
            </a:r>
            <a:r>
              <a:rPr lang="tr-TR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825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FDEE-256C-B1AE-D0AD-547122C1C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0"/>
            <a:ext cx="9603275" cy="5466345"/>
          </a:xfrm>
        </p:spPr>
        <p:txBody>
          <a:bodyPr/>
          <a:lstStyle/>
          <a:p>
            <a:r>
              <a:rPr lang="en-US" b="1" dirty="0" err="1"/>
              <a:t>Bilim</a:t>
            </a:r>
            <a:r>
              <a:rPr lang="en-US" b="1" dirty="0"/>
              <a:t> </a:t>
            </a:r>
            <a:r>
              <a:rPr lang="en-US" b="1" dirty="0" err="1"/>
              <a:t>Olarak</a:t>
            </a:r>
            <a:r>
              <a:rPr lang="en-US" b="1" dirty="0"/>
              <a:t> </a:t>
            </a:r>
            <a:r>
              <a:rPr lang="en-US" b="1" dirty="0" err="1"/>
              <a:t>Sosyoloji</a:t>
            </a:r>
            <a:r>
              <a:rPr lang="en-US" b="1" dirty="0"/>
              <a:t> </a:t>
            </a:r>
            <a:r>
              <a:rPr lang="en-US" b="1" dirty="0" err="1"/>
              <a:t>Tanımları</a:t>
            </a:r>
            <a:endParaRPr lang="tr-TR" b="1" dirty="0"/>
          </a:p>
          <a:p>
            <a:r>
              <a:rPr lang="tr-TR" b="1" dirty="0"/>
              <a:t>1. </a:t>
            </a:r>
            <a:r>
              <a:rPr lang="en-US" b="1" dirty="0" err="1"/>
              <a:t>Sosyal</a:t>
            </a:r>
            <a:r>
              <a:rPr lang="en-US" b="1" dirty="0"/>
              <a:t> </a:t>
            </a:r>
            <a:r>
              <a:rPr lang="en-US" b="1" dirty="0" err="1"/>
              <a:t>davranış</a:t>
            </a:r>
            <a:r>
              <a:rPr lang="en-US" b="1" dirty="0"/>
              <a:t> </a:t>
            </a:r>
            <a:r>
              <a:rPr lang="en-US" b="1" dirty="0" err="1"/>
              <a:t>bilimi</a:t>
            </a:r>
            <a:r>
              <a:rPr lang="en-US" b="1" dirty="0"/>
              <a:t>:</a:t>
            </a:r>
            <a:r>
              <a:rPr lang="tr-TR" b="1" dirty="0"/>
              <a:t> </a:t>
            </a:r>
            <a:r>
              <a:rPr lang="en-US" dirty="0" err="1"/>
              <a:t>İnsanların</a:t>
            </a:r>
            <a:r>
              <a:rPr lang="en-US" dirty="0"/>
              <a:t> </a:t>
            </a:r>
            <a:r>
              <a:rPr lang="en-US" dirty="0" err="1"/>
              <a:t>toplum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davranışlarını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  <a:endParaRPr lang="tr-TR" dirty="0"/>
          </a:p>
          <a:p>
            <a:r>
              <a:rPr lang="tr-TR" b="1" dirty="0"/>
              <a:t>2. </a:t>
            </a:r>
            <a:r>
              <a:rPr lang="en-US" b="1" dirty="0" err="1"/>
              <a:t>Sosyal</a:t>
            </a:r>
            <a:r>
              <a:rPr lang="en-US" b="1" dirty="0"/>
              <a:t> </a:t>
            </a:r>
            <a:r>
              <a:rPr lang="en-US" b="1" dirty="0" err="1"/>
              <a:t>ilişkiler</a:t>
            </a:r>
            <a:r>
              <a:rPr lang="en-US" b="1" dirty="0"/>
              <a:t> </a:t>
            </a:r>
            <a:r>
              <a:rPr lang="en-US" b="1" dirty="0" err="1"/>
              <a:t>bilimi</a:t>
            </a:r>
            <a:r>
              <a:rPr lang="en-US" b="1" dirty="0"/>
              <a:t>:</a:t>
            </a:r>
            <a:r>
              <a:rPr lang="tr-TR" b="1" dirty="0"/>
              <a:t> </a:t>
            </a:r>
            <a:r>
              <a:rPr lang="en-US" dirty="0" err="1"/>
              <a:t>Bireylerin</a:t>
            </a:r>
            <a:r>
              <a:rPr lang="en-US" dirty="0"/>
              <a:t> </a:t>
            </a:r>
            <a:r>
              <a:rPr lang="en-US" dirty="0" err="1"/>
              <a:t>birbirleriyle</a:t>
            </a:r>
            <a:r>
              <a:rPr lang="en-US" dirty="0"/>
              <a:t> </a:t>
            </a:r>
            <a:r>
              <a:rPr lang="en-US" dirty="0" err="1"/>
              <a:t>kurduğu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etkileşimleri</a:t>
            </a:r>
            <a:r>
              <a:rPr lang="en-US" dirty="0"/>
              <a:t> </a:t>
            </a:r>
            <a:r>
              <a:rPr lang="en-US" dirty="0" err="1"/>
              <a:t>araştırır</a:t>
            </a:r>
            <a:r>
              <a:rPr lang="en-US" dirty="0"/>
              <a:t>.</a:t>
            </a:r>
            <a:endParaRPr lang="tr-TR" dirty="0"/>
          </a:p>
          <a:p>
            <a:r>
              <a:rPr lang="tr-TR" b="1" dirty="0"/>
              <a:t>3. </a:t>
            </a:r>
            <a:r>
              <a:rPr lang="en-US" b="1" dirty="0" err="1"/>
              <a:t>Sosyal</a:t>
            </a:r>
            <a:r>
              <a:rPr lang="en-US" b="1" dirty="0"/>
              <a:t> </a:t>
            </a:r>
            <a:r>
              <a:rPr lang="en-US" b="1" dirty="0" err="1"/>
              <a:t>kurumlar</a:t>
            </a:r>
            <a:r>
              <a:rPr lang="en-US" b="1" dirty="0"/>
              <a:t> </a:t>
            </a:r>
            <a:r>
              <a:rPr lang="en-US" b="1" dirty="0" err="1"/>
              <a:t>bilimi</a:t>
            </a:r>
            <a:r>
              <a:rPr lang="en-US" dirty="0"/>
              <a:t>:</a:t>
            </a:r>
            <a:r>
              <a:rPr lang="tr-TR" dirty="0"/>
              <a:t> </a:t>
            </a:r>
            <a:r>
              <a:rPr lang="en-US" dirty="0"/>
              <a:t>Aile, </a:t>
            </a:r>
            <a:r>
              <a:rPr lang="en-US" dirty="0" err="1"/>
              <a:t>eğitim</a:t>
            </a:r>
            <a:r>
              <a:rPr lang="en-US" dirty="0"/>
              <a:t>, </a:t>
            </a:r>
            <a:r>
              <a:rPr lang="en-US" dirty="0" err="1"/>
              <a:t>ekonomi</a:t>
            </a:r>
            <a:r>
              <a:rPr lang="en-US" dirty="0"/>
              <a:t>, din, </a:t>
            </a:r>
            <a:r>
              <a:rPr lang="en-US" dirty="0" err="1"/>
              <a:t>siyaset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kurumların</a:t>
            </a:r>
            <a:r>
              <a:rPr lang="en-US" dirty="0"/>
              <a:t> </a:t>
            </a:r>
            <a:r>
              <a:rPr lang="en-US" dirty="0" err="1"/>
              <a:t>toplumdaki</a:t>
            </a:r>
            <a:r>
              <a:rPr lang="en-US" dirty="0"/>
              <a:t> </a:t>
            </a:r>
            <a:r>
              <a:rPr lang="en-US" dirty="0" err="1"/>
              <a:t>işlevlerini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.</a:t>
            </a:r>
            <a:endParaRPr lang="tr-TR" dirty="0"/>
          </a:p>
          <a:p>
            <a:r>
              <a:rPr lang="tr-TR" b="1" dirty="0"/>
              <a:t>4. </a:t>
            </a:r>
            <a:r>
              <a:rPr lang="en-US" b="1" dirty="0" err="1"/>
              <a:t>Sosyal</a:t>
            </a:r>
            <a:r>
              <a:rPr lang="en-US" b="1" dirty="0"/>
              <a:t> </a:t>
            </a:r>
            <a:r>
              <a:rPr lang="en-US" b="1" dirty="0" err="1"/>
              <a:t>süreçler</a:t>
            </a:r>
            <a:r>
              <a:rPr lang="en-US" b="1" dirty="0"/>
              <a:t> </a:t>
            </a:r>
            <a:r>
              <a:rPr lang="en-US" b="1" dirty="0" err="1"/>
              <a:t>bilimi</a:t>
            </a:r>
            <a:r>
              <a:rPr lang="en-US" b="1" dirty="0"/>
              <a:t>:</a:t>
            </a:r>
            <a:r>
              <a:rPr lang="tr-TR" b="1" dirty="0"/>
              <a:t> </a:t>
            </a:r>
            <a:r>
              <a:rPr lang="en-US" dirty="0" err="1"/>
              <a:t>Toplumda</a:t>
            </a:r>
            <a:r>
              <a:rPr lang="en-US" dirty="0"/>
              <a:t> </a:t>
            </a:r>
            <a:r>
              <a:rPr lang="en-US" dirty="0" err="1"/>
              <a:t>meydana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etkileşim</a:t>
            </a:r>
            <a:r>
              <a:rPr lang="en-US" dirty="0"/>
              <a:t>, </a:t>
            </a:r>
            <a:r>
              <a:rPr lang="en-US" dirty="0" err="1"/>
              <a:t>uyum</a:t>
            </a:r>
            <a:r>
              <a:rPr lang="en-US" dirty="0"/>
              <a:t>, </a:t>
            </a:r>
            <a:r>
              <a:rPr lang="en-US" dirty="0" err="1"/>
              <a:t>çatışma</a:t>
            </a:r>
            <a:r>
              <a:rPr lang="en-US" dirty="0"/>
              <a:t>, </a:t>
            </a:r>
            <a:r>
              <a:rPr lang="en-US" dirty="0" err="1"/>
              <a:t>değişim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süreçleri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  <a:endParaRPr lang="tr-TR" dirty="0"/>
          </a:p>
          <a:p>
            <a:r>
              <a:rPr lang="tr-TR" b="1" dirty="0"/>
              <a:t>5. </a:t>
            </a:r>
            <a:r>
              <a:rPr lang="en-US" b="1" dirty="0" err="1"/>
              <a:t>Sosyal</a:t>
            </a:r>
            <a:r>
              <a:rPr lang="en-US" b="1" dirty="0"/>
              <a:t> </a:t>
            </a:r>
            <a:r>
              <a:rPr lang="en-US" b="1" dirty="0" err="1"/>
              <a:t>değişme</a:t>
            </a:r>
            <a:r>
              <a:rPr lang="en-US" b="1" dirty="0"/>
              <a:t> </a:t>
            </a:r>
            <a:r>
              <a:rPr lang="en-US" b="1" dirty="0" err="1"/>
              <a:t>bilimi</a:t>
            </a:r>
            <a:r>
              <a:rPr lang="en-US" b="1" dirty="0"/>
              <a:t>:</a:t>
            </a:r>
            <a:r>
              <a:rPr lang="tr-TR" b="1" dirty="0"/>
              <a:t> </a:t>
            </a:r>
            <a:r>
              <a:rPr lang="en-US" dirty="0" err="1"/>
              <a:t>Toplumların</a:t>
            </a:r>
            <a:r>
              <a:rPr lang="en-US" dirty="0"/>
              <a:t> zaman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değiştiğini</a:t>
            </a:r>
            <a:r>
              <a:rPr lang="en-US" dirty="0"/>
              <a:t> </a:t>
            </a:r>
            <a:r>
              <a:rPr lang="en-US" dirty="0" err="1"/>
              <a:t>araştırır</a:t>
            </a:r>
            <a:r>
              <a:rPr lang="en-US" dirty="0"/>
              <a:t>.</a:t>
            </a:r>
            <a:endParaRPr lang="tr-TR" dirty="0"/>
          </a:p>
          <a:p>
            <a:r>
              <a:rPr lang="tr-TR" b="1" dirty="0"/>
              <a:t>6. </a:t>
            </a:r>
            <a:r>
              <a:rPr lang="en-US" b="1" dirty="0"/>
              <a:t>Genel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soyut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kavram</a:t>
            </a:r>
            <a:r>
              <a:rPr lang="en-US" b="1" dirty="0"/>
              <a:t> </a:t>
            </a:r>
            <a:r>
              <a:rPr lang="en-US" b="1" dirty="0" err="1"/>
              <a:t>olarak</a:t>
            </a:r>
            <a:r>
              <a:rPr lang="en-US" b="1" dirty="0"/>
              <a:t> “</a:t>
            </a:r>
            <a:r>
              <a:rPr lang="en-US" b="1" dirty="0" err="1"/>
              <a:t>toplum”u</a:t>
            </a:r>
            <a:r>
              <a:rPr lang="en-US" b="1" dirty="0"/>
              <a:t> </a:t>
            </a:r>
            <a:r>
              <a:rPr lang="en-US" b="1" dirty="0" err="1"/>
              <a:t>inceleyen</a:t>
            </a:r>
            <a:r>
              <a:rPr lang="en-US" b="1" dirty="0"/>
              <a:t> </a:t>
            </a:r>
            <a:r>
              <a:rPr lang="en-US" b="1" dirty="0" err="1"/>
              <a:t>bilim</a:t>
            </a:r>
            <a:r>
              <a:rPr lang="en-US" b="1" dirty="0"/>
              <a:t>:</a:t>
            </a:r>
            <a:r>
              <a:rPr lang="tr-TR" b="1" dirty="0"/>
              <a:t> </a:t>
            </a:r>
            <a:r>
              <a:rPr lang="en-US" dirty="0" err="1"/>
              <a:t>Toplumu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yapısını</a:t>
            </a:r>
            <a:r>
              <a:rPr lang="en-US" dirty="0"/>
              <a:t>, </a:t>
            </a:r>
            <a:r>
              <a:rPr lang="en-US" dirty="0" err="1"/>
              <a:t>işleyişini</a:t>
            </a:r>
            <a:r>
              <a:rPr lang="en-US" dirty="0"/>
              <a:t> </a:t>
            </a:r>
            <a:r>
              <a:rPr lang="en-US" dirty="0" err="1"/>
              <a:t>anlamaya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199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4C484-7957-C1D8-C2F3-0A7FE24C6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73224"/>
            <a:ext cx="9603275" cy="5318449"/>
          </a:xfrm>
        </p:spPr>
        <p:txBody>
          <a:bodyPr>
            <a:normAutofit lnSpcReduction="10000"/>
          </a:bodyPr>
          <a:lstStyle/>
          <a:p>
            <a:endParaRPr lang="tr-TR" b="1" dirty="0"/>
          </a:p>
          <a:p>
            <a:r>
              <a:rPr lang="tr-TR" b="1" dirty="0"/>
              <a:t>Sosyolojinin Dalları</a:t>
            </a:r>
          </a:p>
          <a:p>
            <a:pPr marL="0" indent="0">
              <a:buNone/>
            </a:pPr>
            <a:r>
              <a:rPr lang="en-US" b="1" dirty="0" err="1"/>
              <a:t>Ahlâk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r>
              <a:rPr lang="en-US" dirty="0" err="1"/>
              <a:t>:Toplumdaki</a:t>
            </a:r>
            <a:r>
              <a:rPr lang="en-US" dirty="0"/>
              <a:t> </a:t>
            </a:r>
            <a:r>
              <a:rPr lang="en-US" dirty="0" err="1"/>
              <a:t>ahlaki</a:t>
            </a:r>
            <a:r>
              <a:rPr lang="en-US" dirty="0"/>
              <a:t> </a:t>
            </a:r>
            <a:r>
              <a:rPr lang="en-US" dirty="0" err="1"/>
              <a:t>değerlerin</a:t>
            </a:r>
            <a:r>
              <a:rPr lang="en-US" dirty="0"/>
              <a:t>, </a:t>
            </a:r>
            <a:r>
              <a:rPr lang="en-US" dirty="0" err="1"/>
              <a:t>normların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davranışların</a:t>
            </a:r>
            <a:r>
              <a:rPr lang="en-US" dirty="0"/>
              <a:t> </a:t>
            </a:r>
            <a:r>
              <a:rPr lang="en-US" dirty="0" err="1"/>
              <a:t>oluşumunu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 </a:t>
            </a:r>
            <a:r>
              <a:rPr lang="en-US" b="1" dirty="0"/>
              <a:t>Aile </a:t>
            </a:r>
            <a:r>
              <a:rPr lang="en-US" b="1" dirty="0" err="1"/>
              <a:t>Sosyolojisi</a:t>
            </a:r>
            <a:r>
              <a:rPr lang="en-US" dirty="0" err="1"/>
              <a:t>:Ailenin</a:t>
            </a:r>
            <a:r>
              <a:rPr lang="en-US" dirty="0"/>
              <a:t> </a:t>
            </a:r>
            <a:r>
              <a:rPr lang="en-US" dirty="0" err="1"/>
              <a:t>yapısı</a:t>
            </a:r>
            <a:r>
              <a:rPr lang="en-US" dirty="0"/>
              <a:t>, </a:t>
            </a:r>
            <a:r>
              <a:rPr lang="en-US" dirty="0" err="1"/>
              <a:t>işlevleri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değişim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rolünü</a:t>
            </a:r>
            <a:r>
              <a:rPr lang="en-US" dirty="0"/>
              <a:t> </a:t>
            </a:r>
            <a:r>
              <a:rPr lang="en-US" dirty="0" err="1"/>
              <a:t>araştırır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 </a:t>
            </a:r>
            <a:r>
              <a:rPr lang="en-US" b="1" dirty="0" err="1"/>
              <a:t>Askerî</a:t>
            </a:r>
            <a:r>
              <a:rPr lang="en-US" b="1" dirty="0"/>
              <a:t> </a:t>
            </a:r>
            <a:r>
              <a:rPr lang="en-US" b="1" dirty="0" err="1"/>
              <a:t>Sosyoloji</a:t>
            </a:r>
            <a:r>
              <a:rPr lang="en-US" dirty="0"/>
              <a:t>:</a:t>
            </a:r>
            <a:r>
              <a:rPr lang="tr-TR" dirty="0"/>
              <a:t> </a:t>
            </a:r>
            <a:r>
              <a:rPr lang="en-US" dirty="0" err="1"/>
              <a:t>Ordu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toplum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ilişkileri</a:t>
            </a:r>
            <a:r>
              <a:rPr lang="en-US" dirty="0"/>
              <a:t>, </a:t>
            </a:r>
            <a:r>
              <a:rPr lang="en-US" dirty="0" err="1"/>
              <a:t>askerî</a:t>
            </a:r>
            <a:r>
              <a:rPr lang="en-US" dirty="0"/>
              <a:t> </a:t>
            </a:r>
            <a:r>
              <a:rPr lang="en-US" dirty="0" err="1"/>
              <a:t>kurumların</a:t>
            </a:r>
            <a:r>
              <a:rPr lang="en-US" dirty="0"/>
              <a:t> 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etkilerini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b="1" dirty="0"/>
              <a:t>Beden </a:t>
            </a:r>
            <a:r>
              <a:rPr lang="en-US" b="1" dirty="0" err="1"/>
              <a:t>Sosyolojisi:</a:t>
            </a:r>
            <a:r>
              <a:rPr lang="en-US" dirty="0" err="1"/>
              <a:t>Bedenin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anlamlarını</a:t>
            </a:r>
            <a:r>
              <a:rPr lang="en-US" dirty="0"/>
              <a:t>, </a:t>
            </a:r>
            <a:r>
              <a:rPr lang="en-US" dirty="0" err="1"/>
              <a:t>güzellik</a:t>
            </a:r>
            <a:r>
              <a:rPr lang="en-US" dirty="0"/>
              <a:t>, </a:t>
            </a:r>
            <a:r>
              <a:rPr lang="en-US" dirty="0" err="1"/>
              <a:t>sağlık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ilişkilerini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  <a:r>
              <a:rPr lang="tr-TR" b="1" dirty="0"/>
              <a:t> </a:t>
            </a:r>
            <a:r>
              <a:rPr lang="en-US" b="1" dirty="0"/>
              <a:t>Bilgi </a:t>
            </a:r>
            <a:r>
              <a:rPr lang="en-US" b="1" dirty="0" err="1"/>
              <a:t>Sosyolojisi</a:t>
            </a:r>
            <a:r>
              <a:rPr lang="en-US" dirty="0" err="1"/>
              <a:t>:Bilginin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kökenlerini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üretimini</a:t>
            </a:r>
            <a:r>
              <a:rPr lang="en-US" dirty="0"/>
              <a:t> </a:t>
            </a:r>
            <a:r>
              <a:rPr lang="en-US" dirty="0" err="1"/>
              <a:t>etkileyen</a:t>
            </a:r>
            <a:r>
              <a:rPr lang="en-US" dirty="0"/>
              <a:t> 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faktörleri</a:t>
            </a:r>
            <a:r>
              <a:rPr lang="en-US" dirty="0"/>
              <a:t> </a:t>
            </a:r>
            <a:r>
              <a:rPr lang="en-US" dirty="0" err="1"/>
              <a:t>araştırır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b="1" dirty="0" err="1"/>
              <a:t>Bilim</a:t>
            </a:r>
            <a:r>
              <a:rPr lang="en-US" b="1" dirty="0"/>
              <a:t> </a:t>
            </a:r>
            <a:r>
              <a:rPr lang="en-US" b="1" dirty="0" err="1"/>
              <a:t>Sosyolojisi:</a:t>
            </a:r>
            <a:r>
              <a:rPr lang="en-US" dirty="0" err="1"/>
              <a:t>Bilimsel</a:t>
            </a:r>
            <a:r>
              <a:rPr lang="en-US" dirty="0"/>
              <a:t> </a:t>
            </a:r>
            <a:r>
              <a:rPr lang="en-US" dirty="0" err="1"/>
              <a:t>bilginin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üretildiğini</a:t>
            </a:r>
            <a:r>
              <a:rPr lang="en-US" dirty="0"/>
              <a:t>, </a:t>
            </a:r>
            <a:r>
              <a:rPr lang="en-US" dirty="0" err="1"/>
              <a:t>toplumla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ilişkisini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b="1" dirty="0" err="1"/>
              <a:t>Çalışma</a:t>
            </a:r>
            <a:r>
              <a:rPr lang="en-US" b="1" dirty="0"/>
              <a:t> (</a:t>
            </a:r>
            <a:r>
              <a:rPr lang="en-US" b="1" dirty="0" err="1"/>
              <a:t>Endüstriyel</a:t>
            </a:r>
            <a:r>
              <a:rPr lang="en-US" b="1" dirty="0"/>
              <a:t>) </a:t>
            </a:r>
            <a:r>
              <a:rPr lang="en-US" b="1" dirty="0" err="1"/>
              <a:t>Sosyolojisi:</a:t>
            </a:r>
            <a:r>
              <a:rPr lang="en-US" dirty="0" err="1"/>
              <a:t>İş</a:t>
            </a:r>
            <a:r>
              <a:rPr lang="en-US" dirty="0"/>
              <a:t> </a:t>
            </a:r>
            <a:r>
              <a:rPr lang="en-US" dirty="0" err="1"/>
              <a:t>hayatı</a:t>
            </a:r>
            <a:r>
              <a:rPr lang="en-US" dirty="0"/>
              <a:t>, </a:t>
            </a:r>
            <a:r>
              <a:rPr lang="en-US" dirty="0" err="1"/>
              <a:t>emek</a:t>
            </a:r>
            <a:r>
              <a:rPr lang="en-US" dirty="0"/>
              <a:t>, </a:t>
            </a:r>
            <a:r>
              <a:rPr lang="en-US" dirty="0" err="1"/>
              <a:t>üretim</a:t>
            </a:r>
            <a:r>
              <a:rPr lang="en-US" dirty="0"/>
              <a:t> </a:t>
            </a:r>
            <a:r>
              <a:rPr lang="en-US" dirty="0" err="1"/>
              <a:t>ilişkileri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işçi-işveren</a:t>
            </a:r>
            <a:r>
              <a:rPr lang="en-US" dirty="0"/>
              <a:t> </a:t>
            </a:r>
            <a:r>
              <a:rPr lang="en-US" dirty="0" err="1"/>
              <a:t>dinamiklerini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435573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5E32D-F6B3-7B9A-DAF4-630C3929A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681136"/>
            <a:ext cx="9603275" cy="478521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Din </a:t>
            </a:r>
            <a:r>
              <a:rPr lang="en-US" b="1" dirty="0" err="1"/>
              <a:t>Sosyolojisi</a:t>
            </a:r>
            <a:r>
              <a:rPr lang="en-US" dirty="0" err="1"/>
              <a:t>:Dinin</a:t>
            </a:r>
            <a:r>
              <a:rPr lang="en-US" dirty="0"/>
              <a:t> </a:t>
            </a:r>
            <a:r>
              <a:rPr lang="en-US" dirty="0" err="1"/>
              <a:t>toplum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etkilerini</a:t>
            </a:r>
            <a:r>
              <a:rPr lang="en-US" dirty="0"/>
              <a:t>, </a:t>
            </a:r>
            <a:r>
              <a:rPr lang="en-US" dirty="0" err="1"/>
              <a:t>inanç</a:t>
            </a:r>
            <a:r>
              <a:rPr lang="en-US" dirty="0"/>
              <a:t> </a:t>
            </a:r>
            <a:r>
              <a:rPr lang="en-US" dirty="0" err="1"/>
              <a:t>sistemlerinin</a:t>
            </a:r>
            <a:r>
              <a:rPr lang="en-US" dirty="0"/>
              <a:t> 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yapıyı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şekillendirdiğini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b="1" dirty="0" err="1"/>
              <a:t>Eğitim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r>
              <a:rPr lang="en-US" dirty="0" err="1"/>
              <a:t>:Eğitim</a:t>
            </a:r>
            <a:r>
              <a:rPr lang="en-US" dirty="0"/>
              <a:t> </a:t>
            </a:r>
            <a:r>
              <a:rPr lang="en-US" dirty="0" err="1"/>
              <a:t>kurumlarının</a:t>
            </a:r>
            <a:r>
              <a:rPr lang="en-US" dirty="0"/>
              <a:t> </a:t>
            </a:r>
            <a:r>
              <a:rPr lang="en-US" dirty="0" err="1"/>
              <a:t>birey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toplum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etkilerini</a:t>
            </a:r>
            <a:r>
              <a:rPr lang="en-US" dirty="0"/>
              <a:t> </a:t>
            </a:r>
            <a:r>
              <a:rPr lang="en-US" dirty="0" err="1"/>
              <a:t>araştırır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 </a:t>
            </a:r>
            <a:r>
              <a:rPr lang="en-US" b="1" dirty="0" err="1"/>
              <a:t>Hukuk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r>
              <a:rPr lang="en-US" dirty="0" err="1"/>
              <a:t>:Yasa</a:t>
            </a:r>
            <a:r>
              <a:rPr lang="en-US" dirty="0"/>
              <a:t>, </a:t>
            </a:r>
            <a:r>
              <a:rPr lang="en-US" dirty="0" err="1"/>
              <a:t>adalet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düzen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ilişkiyi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b="1" dirty="0" err="1"/>
              <a:t>İktisat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r>
              <a:rPr lang="en-US" dirty="0" err="1"/>
              <a:t>:Ekonomik</a:t>
            </a:r>
            <a:r>
              <a:rPr lang="en-US" dirty="0"/>
              <a:t> </a:t>
            </a:r>
            <a:r>
              <a:rPr lang="en-US" dirty="0" err="1"/>
              <a:t>davranışların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temellerini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üretim-tüketim</a:t>
            </a:r>
            <a:r>
              <a:rPr lang="en-US" dirty="0"/>
              <a:t> </a:t>
            </a:r>
            <a:r>
              <a:rPr lang="en-US" dirty="0" err="1"/>
              <a:t>ilişkilerini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b="1" dirty="0" err="1"/>
              <a:t>İnsan</a:t>
            </a:r>
            <a:r>
              <a:rPr lang="en-US" b="1" dirty="0"/>
              <a:t> </a:t>
            </a:r>
            <a:r>
              <a:rPr lang="en-US" b="1" dirty="0" err="1"/>
              <a:t>Ekolojisi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Demografi</a:t>
            </a:r>
            <a:r>
              <a:rPr lang="en-US" dirty="0" err="1"/>
              <a:t>:Nüfus</a:t>
            </a:r>
            <a:r>
              <a:rPr lang="en-US" dirty="0"/>
              <a:t> </a:t>
            </a:r>
            <a:r>
              <a:rPr lang="en-US" dirty="0" err="1"/>
              <a:t>yapısı</a:t>
            </a:r>
            <a:r>
              <a:rPr lang="en-US" dirty="0"/>
              <a:t>, </a:t>
            </a:r>
            <a:r>
              <a:rPr lang="en-US" dirty="0" err="1"/>
              <a:t>göç</a:t>
            </a:r>
            <a:r>
              <a:rPr lang="en-US" dirty="0"/>
              <a:t>, </a:t>
            </a:r>
            <a:r>
              <a:rPr lang="en-US" dirty="0" err="1"/>
              <a:t>yerleşim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çevre</a:t>
            </a:r>
            <a:r>
              <a:rPr lang="en-US" dirty="0"/>
              <a:t> </a:t>
            </a:r>
            <a:r>
              <a:rPr lang="en-US" dirty="0" err="1"/>
              <a:t>ilişkilerini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açıdan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6390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syolojinin dalları - Vikipedi">
            <a:extLst>
              <a:ext uri="{FF2B5EF4-FFF2-40B4-BE49-F238E27FC236}">
                <a16:creationId xmlns:a16="http://schemas.microsoft.com/office/drawing/2014/main" id="{7D97FB0D-D4EF-8D24-D424-D31D1B31B3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90" y="1073020"/>
            <a:ext cx="6176865" cy="376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897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FB5A-83A3-D345-A6AF-4F5C631CF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10548"/>
            <a:ext cx="9603275" cy="505579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Kent (</a:t>
            </a:r>
            <a:r>
              <a:rPr lang="en-US" b="1" dirty="0" err="1"/>
              <a:t>Şehir</a:t>
            </a:r>
            <a:r>
              <a:rPr lang="en-US" b="1" dirty="0"/>
              <a:t>)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/>
              <a:t>Kent </a:t>
            </a:r>
            <a:r>
              <a:rPr lang="en-US" dirty="0" err="1"/>
              <a:t>yaşamını</a:t>
            </a:r>
            <a:r>
              <a:rPr lang="en-US" dirty="0"/>
              <a:t>, </a:t>
            </a:r>
            <a:r>
              <a:rPr lang="en-US" dirty="0" err="1"/>
              <a:t>şehirleşme</a:t>
            </a:r>
            <a:r>
              <a:rPr lang="en-US" dirty="0"/>
              <a:t> </a:t>
            </a:r>
            <a:r>
              <a:rPr lang="en-US" dirty="0" err="1"/>
              <a:t>süreçlerini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şehirdeki</a:t>
            </a:r>
            <a:r>
              <a:rPr lang="en-US" dirty="0"/>
              <a:t> 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ilişkileri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Köy</a:t>
            </a:r>
            <a:r>
              <a:rPr lang="en-US" b="1" dirty="0"/>
              <a:t> (</a:t>
            </a:r>
            <a:r>
              <a:rPr lang="en-US" b="1" dirty="0" err="1"/>
              <a:t>Kırsal</a:t>
            </a:r>
            <a:r>
              <a:rPr lang="en-US" b="1" dirty="0"/>
              <a:t>)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 err="1"/>
              <a:t>Kırsal</a:t>
            </a:r>
            <a:r>
              <a:rPr lang="en-US" dirty="0"/>
              <a:t> </a:t>
            </a:r>
            <a:r>
              <a:rPr lang="en-US" dirty="0" err="1"/>
              <a:t>alanlarda</a:t>
            </a:r>
            <a:r>
              <a:rPr lang="en-US" dirty="0"/>
              <a:t> </a:t>
            </a:r>
            <a:r>
              <a:rPr lang="en-US" dirty="0" err="1"/>
              <a:t>yaşayan</a:t>
            </a:r>
            <a:r>
              <a:rPr lang="en-US" dirty="0"/>
              <a:t> </a:t>
            </a:r>
            <a:r>
              <a:rPr lang="en-US" dirty="0" err="1"/>
              <a:t>insanların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yapısını</a:t>
            </a:r>
            <a:r>
              <a:rPr lang="en-US" dirty="0"/>
              <a:t>, </a:t>
            </a:r>
            <a:r>
              <a:rPr lang="en-US" dirty="0" err="1"/>
              <a:t>geleneklerini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ilişkilerini</a:t>
            </a:r>
            <a:r>
              <a:rPr lang="en-US" dirty="0"/>
              <a:t> </a:t>
            </a:r>
            <a:r>
              <a:rPr lang="en-US" dirty="0" err="1"/>
              <a:t>araştırır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Kurumlar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/>
              <a:t>Aile, </a:t>
            </a:r>
            <a:r>
              <a:rPr lang="en-US" dirty="0" err="1"/>
              <a:t>eğitim</a:t>
            </a:r>
            <a:r>
              <a:rPr lang="en-US" dirty="0"/>
              <a:t>, din, </a:t>
            </a:r>
            <a:r>
              <a:rPr lang="en-US" dirty="0" err="1"/>
              <a:t>ekonomi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kurumların</a:t>
            </a:r>
            <a:r>
              <a:rPr lang="en-US" dirty="0"/>
              <a:t> </a:t>
            </a:r>
            <a:r>
              <a:rPr lang="en-US" dirty="0" err="1"/>
              <a:t>toplumdaki</a:t>
            </a:r>
            <a:r>
              <a:rPr lang="en-US" dirty="0"/>
              <a:t> </a:t>
            </a:r>
            <a:r>
              <a:rPr lang="en-US" dirty="0" err="1"/>
              <a:t>işlevlerini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Küçük</a:t>
            </a:r>
            <a:r>
              <a:rPr lang="en-US" b="1" dirty="0"/>
              <a:t> </a:t>
            </a:r>
            <a:r>
              <a:rPr lang="en-US" b="1" dirty="0" err="1"/>
              <a:t>Gruplar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/>
              <a:t>Aile, </a:t>
            </a:r>
            <a:r>
              <a:rPr lang="en-US" dirty="0" err="1"/>
              <a:t>arkadaş</a:t>
            </a:r>
            <a:r>
              <a:rPr lang="en-US" dirty="0"/>
              <a:t> </a:t>
            </a:r>
            <a:r>
              <a:rPr lang="en-US" dirty="0" err="1"/>
              <a:t>grubu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topluluklarda</a:t>
            </a:r>
            <a:r>
              <a:rPr lang="en-US" dirty="0"/>
              <a:t> </a:t>
            </a:r>
            <a:r>
              <a:rPr lang="en-US" dirty="0" err="1"/>
              <a:t>bireyler</a:t>
            </a:r>
            <a:r>
              <a:rPr lang="en-US" dirty="0"/>
              <a:t> </a:t>
            </a:r>
            <a:r>
              <a:rPr lang="en-US" dirty="0" err="1"/>
              <a:t>arası</a:t>
            </a:r>
            <a:r>
              <a:rPr lang="en-US" dirty="0"/>
              <a:t> </a:t>
            </a:r>
            <a:r>
              <a:rPr lang="en-US" dirty="0" err="1"/>
              <a:t>etkileşimi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Kültür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 err="1"/>
              <a:t>Toplumların</a:t>
            </a:r>
            <a:r>
              <a:rPr lang="en-US" dirty="0"/>
              <a:t> </a:t>
            </a:r>
            <a:r>
              <a:rPr lang="en-US" dirty="0" err="1"/>
              <a:t>değerlerini</a:t>
            </a:r>
            <a:r>
              <a:rPr lang="en-US" dirty="0"/>
              <a:t>, </a:t>
            </a:r>
            <a:r>
              <a:rPr lang="en-US" dirty="0" err="1"/>
              <a:t>inançlarını</a:t>
            </a:r>
            <a:r>
              <a:rPr lang="en-US" dirty="0"/>
              <a:t>, </a:t>
            </a:r>
            <a:r>
              <a:rPr lang="en-US" dirty="0" err="1"/>
              <a:t>geleneklerini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sembollerini</a:t>
            </a:r>
            <a:r>
              <a:rPr lang="en-US" dirty="0"/>
              <a:t> </a:t>
            </a:r>
            <a:r>
              <a:rPr lang="en-US" dirty="0" err="1"/>
              <a:t>sosyolojik</a:t>
            </a:r>
            <a:r>
              <a:rPr lang="en-US" dirty="0"/>
              <a:t> </a:t>
            </a:r>
            <a:r>
              <a:rPr lang="en-US" dirty="0" err="1"/>
              <a:t>açıdan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Sağlık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r>
              <a:rPr lang="tr-TR" b="1" dirty="0"/>
              <a:t> </a:t>
            </a:r>
            <a:r>
              <a:rPr lang="en-US" dirty="0" err="1"/>
              <a:t>Sağlık</a:t>
            </a:r>
            <a:r>
              <a:rPr lang="en-US" dirty="0"/>
              <a:t>, </a:t>
            </a:r>
            <a:r>
              <a:rPr lang="en-US" dirty="0" err="1"/>
              <a:t>hastalık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tıbbi</a:t>
            </a:r>
            <a:r>
              <a:rPr lang="en-US" dirty="0"/>
              <a:t> </a:t>
            </a:r>
            <a:r>
              <a:rPr lang="en-US" dirty="0" err="1"/>
              <a:t>sistemleri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</a:p>
          <a:p>
            <a:pPr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903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1C71A-483F-94EA-0988-F45E4FD29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718458"/>
            <a:ext cx="9603275" cy="47478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Sanat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 err="1"/>
              <a:t>Sanatın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kökenlerini</a:t>
            </a:r>
            <a:r>
              <a:rPr lang="en-US" dirty="0"/>
              <a:t>, </a:t>
            </a:r>
            <a:r>
              <a:rPr lang="en-US" dirty="0" err="1"/>
              <a:t>sanatçının</a:t>
            </a:r>
            <a:r>
              <a:rPr lang="en-US" dirty="0"/>
              <a:t> </a:t>
            </a:r>
            <a:r>
              <a:rPr lang="en-US" dirty="0" err="1"/>
              <a:t>toplumdaki</a:t>
            </a:r>
            <a:r>
              <a:rPr lang="en-US" dirty="0"/>
              <a:t> </a:t>
            </a:r>
            <a:r>
              <a:rPr lang="en-US" dirty="0" err="1"/>
              <a:t>yerini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sanatın</a:t>
            </a:r>
            <a:r>
              <a:rPr lang="en-US" dirty="0"/>
              <a:t> </a:t>
            </a:r>
            <a:r>
              <a:rPr lang="en-US" dirty="0" err="1"/>
              <a:t>etkilerini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Sanayi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/>
              <a:t>Sanayi </a:t>
            </a:r>
            <a:r>
              <a:rPr lang="en-US" dirty="0" err="1"/>
              <a:t>toplumlarında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, </a:t>
            </a:r>
            <a:r>
              <a:rPr lang="en-US" dirty="0" err="1"/>
              <a:t>üretim</a:t>
            </a:r>
            <a:r>
              <a:rPr lang="en-US" dirty="0"/>
              <a:t> </a:t>
            </a:r>
            <a:r>
              <a:rPr lang="en-US" dirty="0" err="1"/>
              <a:t>ilişkileri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işçi-işveren</a:t>
            </a:r>
            <a:r>
              <a:rPr lang="en-US" dirty="0"/>
              <a:t> </a:t>
            </a:r>
            <a:r>
              <a:rPr lang="en-US" dirty="0" err="1"/>
              <a:t>etkileşimini</a:t>
            </a:r>
            <a:r>
              <a:rPr lang="en-US" dirty="0"/>
              <a:t> </a:t>
            </a:r>
            <a:r>
              <a:rPr lang="en-US" dirty="0" err="1"/>
              <a:t>araştırır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Siyaset</a:t>
            </a:r>
            <a:r>
              <a:rPr lang="en-US" b="1" dirty="0"/>
              <a:t>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 err="1"/>
              <a:t>İktidar</a:t>
            </a:r>
            <a:r>
              <a:rPr lang="en-US" dirty="0"/>
              <a:t>, </a:t>
            </a:r>
            <a:r>
              <a:rPr lang="en-US" dirty="0" err="1"/>
              <a:t>devlet</a:t>
            </a:r>
            <a:r>
              <a:rPr lang="en-US" dirty="0"/>
              <a:t>, </a:t>
            </a:r>
            <a:r>
              <a:rPr lang="en-US" dirty="0" err="1"/>
              <a:t>vatandaşlık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siyasal</a:t>
            </a:r>
            <a:r>
              <a:rPr lang="en-US" dirty="0"/>
              <a:t> </a:t>
            </a:r>
            <a:r>
              <a:rPr lang="en-US" dirty="0" err="1"/>
              <a:t>davranışların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yönünü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Tarih </a:t>
            </a:r>
            <a:r>
              <a:rPr lang="en-US" b="1" dirty="0" err="1"/>
              <a:t>Sosyolojisi</a:t>
            </a:r>
            <a:endParaRPr lang="en-US" b="1" dirty="0"/>
          </a:p>
          <a:p>
            <a:pPr>
              <a:buNone/>
            </a:pP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değişmeyi</a:t>
            </a:r>
            <a:r>
              <a:rPr lang="en-US" dirty="0"/>
              <a:t> </a:t>
            </a:r>
            <a:r>
              <a:rPr lang="en-US" dirty="0" err="1"/>
              <a:t>tarihsel</a:t>
            </a:r>
            <a:r>
              <a:rPr lang="en-US" dirty="0"/>
              <a:t> </a:t>
            </a:r>
            <a:r>
              <a:rPr lang="en-US" dirty="0" err="1"/>
              <a:t>süreç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değerlendirir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geçmiş-toplum</a:t>
            </a:r>
            <a:r>
              <a:rPr lang="en-US" dirty="0"/>
              <a:t> </a:t>
            </a:r>
            <a:r>
              <a:rPr lang="en-US" dirty="0" err="1"/>
              <a:t>ilişkisini</a:t>
            </a:r>
            <a:r>
              <a:rPr lang="en-US" dirty="0"/>
              <a:t> </a:t>
            </a:r>
            <a:r>
              <a:rPr lang="en-US" dirty="0" err="1"/>
              <a:t>inceler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Uygulamalı</a:t>
            </a:r>
            <a:r>
              <a:rPr lang="en-US" b="1" dirty="0"/>
              <a:t> </a:t>
            </a:r>
            <a:r>
              <a:rPr lang="en-US" b="1" dirty="0" err="1"/>
              <a:t>Sosyoloji</a:t>
            </a:r>
            <a:endParaRPr lang="en-US" b="1" dirty="0"/>
          </a:p>
          <a:p>
            <a:pPr>
              <a:buNone/>
            </a:pPr>
            <a:r>
              <a:rPr lang="en-US" dirty="0" err="1"/>
              <a:t>Sosyolojik</a:t>
            </a:r>
            <a:r>
              <a:rPr lang="en-US" dirty="0"/>
              <a:t> </a:t>
            </a:r>
            <a:r>
              <a:rPr lang="en-US" dirty="0" err="1"/>
              <a:t>bilgiyi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sorunların</a:t>
            </a:r>
            <a:r>
              <a:rPr lang="en-US" dirty="0"/>
              <a:t> </a:t>
            </a:r>
            <a:r>
              <a:rPr lang="en-US" dirty="0" err="1"/>
              <a:t>çözümünde</a:t>
            </a:r>
            <a:r>
              <a:rPr lang="en-US" dirty="0"/>
              <a:t> </a:t>
            </a:r>
            <a:r>
              <a:rPr lang="en-US" dirty="0" err="1"/>
              <a:t>pratik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02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07BA2-F928-6FD6-4E65-E1425D6DB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531846"/>
            <a:ext cx="9603275" cy="4934500"/>
          </a:xfrm>
        </p:spPr>
        <p:txBody>
          <a:bodyPr/>
          <a:lstStyle/>
          <a:p>
            <a:r>
              <a:rPr lang="en-US" b="1" i="1" dirty="0" err="1"/>
              <a:t>Sosyoloji</a:t>
            </a:r>
            <a:r>
              <a:rPr lang="en-US" b="1" i="1" dirty="0"/>
              <a:t> hangi </a:t>
            </a:r>
            <a:r>
              <a:rPr lang="en-US" b="1" i="1" dirty="0" err="1"/>
              <a:t>toplumlardaki</a:t>
            </a:r>
            <a:r>
              <a:rPr lang="en-US" b="1" i="1" dirty="0"/>
              <a:t> </a:t>
            </a:r>
            <a:r>
              <a:rPr lang="en-US" b="1" i="1" dirty="0" err="1"/>
              <a:t>insan</a:t>
            </a:r>
            <a:r>
              <a:rPr lang="en-US" b="1" i="1" dirty="0"/>
              <a:t> </a:t>
            </a:r>
            <a:r>
              <a:rPr lang="en-US" b="1" i="1" dirty="0" err="1"/>
              <a:t>davranışlarının</a:t>
            </a:r>
            <a:r>
              <a:rPr lang="en-US" b="1" i="1" dirty="0"/>
              <a:t> </a:t>
            </a:r>
            <a:r>
              <a:rPr lang="en-US" b="1" i="1" dirty="0" err="1"/>
              <a:t>sosyal</a:t>
            </a:r>
            <a:r>
              <a:rPr lang="en-US" b="1" i="1" dirty="0"/>
              <a:t> </a:t>
            </a:r>
            <a:r>
              <a:rPr lang="en-US" b="1" i="1" dirty="0" err="1"/>
              <a:t>yönü</a:t>
            </a:r>
            <a:r>
              <a:rPr lang="en-US" b="1" i="1" dirty="0"/>
              <a:t> </a:t>
            </a:r>
            <a:r>
              <a:rPr lang="en-US" b="1" i="1" dirty="0" err="1"/>
              <a:t>ile</a:t>
            </a:r>
            <a:r>
              <a:rPr lang="en-US" b="1" i="1" dirty="0"/>
              <a:t> </a:t>
            </a:r>
            <a:r>
              <a:rPr lang="en-US" b="1" i="1" dirty="0" err="1"/>
              <a:t>ilgilidir</a:t>
            </a:r>
            <a:r>
              <a:rPr lang="en-US" b="1" i="1" dirty="0"/>
              <a:t>?</a:t>
            </a:r>
            <a:endParaRPr lang="en-US" dirty="0"/>
          </a:p>
          <a:p>
            <a:r>
              <a:rPr lang="en-US" dirty="0" err="1"/>
              <a:t>Sosyolojinin</a:t>
            </a:r>
            <a:r>
              <a:rPr lang="en-US" dirty="0"/>
              <a:t> </a:t>
            </a:r>
            <a:r>
              <a:rPr lang="en-US" dirty="0" err="1"/>
              <a:t>odak</a:t>
            </a:r>
            <a:r>
              <a:rPr lang="en-US" dirty="0"/>
              <a:t> </a:t>
            </a:r>
            <a:r>
              <a:rPr lang="en-US" dirty="0" err="1"/>
              <a:t>noktasını</a:t>
            </a:r>
            <a:r>
              <a:rPr lang="en-US" dirty="0"/>
              <a:t> </a:t>
            </a:r>
            <a:r>
              <a:rPr lang="en-US" dirty="0" err="1"/>
              <a:t>ileri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sanayileşmiş</a:t>
            </a:r>
            <a:r>
              <a:rPr lang="en-US" dirty="0"/>
              <a:t> </a:t>
            </a:r>
            <a:r>
              <a:rPr lang="en-US" dirty="0" err="1"/>
              <a:t>toplumlardaki</a:t>
            </a:r>
            <a:r>
              <a:rPr lang="en-US" dirty="0"/>
              <a:t> </a:t>
            </a:r>
            <a:r>
              <a:rPr lang="en-US" dirty="0" err="1"/>
              <a:t>kurumların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kurumların</a:t>
            </a:r>
            <a:r>
              <a:rPr lang="en-US" dirty="0"/>
              <a:t> </a:t>
            </a:r>
            <a:r>
              <a:rPr lang="en-US" dirty="0" err="1"/>
              <a:t>dönüşüm</a:t>
            </a:r>
            <a:r>
              <a:rPr lang="en-US" dirty="0"/>
              <a:t> </a:t>
            </a:r>
            <a:r>
              <a:rPr lang="en-US" dirty="0" err="1"/>
              <a:t>şartlarınınincelenmesi</a:t>
            </a:r>
            <a:r>
              <a:rPr lang="en-US" dirty="0"/>
              <a:t> </a:t>
            </a:r>
            <a:r>
              <a:rPr lang="en-US" dirty="0" err="1"/>
              <a:t>oluşturmaktadır</a:t>
            </a:r>
            <a:r>
              <a:rPr lang="en-US" dirty="0"/>
              <a:t>. </a:t>
            </a:r>
          </a:p>
          <a:p>
            <a:r>
              <a:rPr lang="en-US" dirty="0" err="1"/>
              <a:t>Sosyoloji</a:t>
            </a:r>
            <a:r>
              <a:rPr lang="en-US" dirty="0"/>
              <a:t> </a:t>
            </a:r>
            <a:r>
              <a:rPr lang="en-US" dirty="0" err="1"/>
              <a:t>tarihsel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Fransız</a:t>
            </a:r>
            <a:r>
              <a:rPr lang="en-US" dirty="0"/>
              <a:t> </a:t>
            </a:r>
            <a:r>
              <a:rPr lang="en-US" dirty="0" err="1"/>
              <a:t>İhtilali</a:t>
            </a:r>
            <a:r>
              <a:rPr lang="en-US" dirty="0"/>
              <a:t> (1789)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sonrasında</a:t>
            </a:r>
            <a:r>
              <a:rPr lang="en-US" dirty="0"/>
              <a:t> </a:t>
            </a:r>
            <a:r>
              <a:rPr lang="en-US" dirty="0" err="1"/>
              <a:t>Endüstri</a:t>
            </a:r>
            <a:r>
              <a:rPr lang="en-US" dirty="0"/>
              <a:t> </a:t>
            </a:r>
            <a:r>
              <a:rPr lang="en-US" dirty="0" err="1"/>
              <a:t>Devriminin</a:t>
            </a:r>
            <a:r>
              <a:rPr lang="en-US" dirty="0"/>
              <a:t> (18-19.yy) </a:t>
            </a:r>
            <a:r>
              <a:rPr lang="en-US" dirty="0" err="1"/>
              <a:t>şekillendirdiği</a:t>
            </a:r>
            <a:r>
              <a:rPr lang="en-US" dirty="0"/>
              <a:t> yeni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sorunlara</a:t>
            </a:r>
            <a:r>
              <a:rPr lang="en-US" dirty="0"/>
              <a:t> </a:t>
            </a:r>
            <a:r>
              <a:rPr lang="en-US" dirty="0" err="1"/>
              <a:t>yanıt</a:t>
            </a:r>
            <a:r>
              <a:rPr lang="en-US" dirty="0"/>
              <a:t> </a:t>
            </a:r>
            <a:r>
              <a:rPr lang="en-US" dirty="0" err="1"/>
              <a:t>bulunabilmesi</a:t>
            </a:r>
            <a:r>
              <a:rPr lang="en-US" dirty="0"/>
              <a:t> </a:t>
            </a:r>
            <a:r>
              <a:rPr lang="en-US" dirty="0" err="1"/>
              <a:t>amacıyla</a:t>
            </a:r>
            <a:r>
              <a:rPr lang="en-US" dirty="0"/>
              <a:t> </a:t>
            </a:r>
            <a:r>
              <a:rPr lang="en-US" dirty="0" err="1"/>
              <a:t>gündeme</a:t>
            </a:r>
            <a:r>
              <a:rPr lang="en-US" dirty="0"/>
              <a:t> </a:t>
            </a:r>
            <a:r>
              <a:rPr lang="en-US" dirty="0" err="1"/>
              <a:t>gelmiştir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EC4FB5-32FB-A900-6CF4-50899B544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669" y="3081920"/>
            <a:ext cx="5299788" cy="249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61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3E80-1A21-5156-1EDE-63192D0E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615820"/>
            <a:ext cx="9603275" cy="4850525"/>
          </a:xfrm>
        </p:spPr>
        <p:txBody>
          <a:bodyPr/>
          <a:lstStyle/>
          <a:p>
            <a:r>
              <a:rPr lang="en-US" b="1" dirty="0" err="1"/>
              <a:t>Sosyolojinin</a:t>
            </a:r>
            <a:r>
              <a:rPr lang="en-US" b="1" dirty="0"/>
              <a:t> </a:t>
            </a:r>
            <a:r>
              <a:rPr lang="en-US" b="1" dirty="0" err="1"/>
              <a:t>Tarihsel</a:t>
            </a:r>
            <a:r>
              <a:rPr lang="en-US" b="1" dirty="0"/>
              <a:t> </a:t>
            </a:r>
            <a:r>
              <a:rPr lang="en-US" b="1" dirty="0" err="1"/>
              <a:t>Gelişimi</a:t>
            </a:r>
            <a:endParaRPr lang="en-US" b="1" dirty="0"/>
          </a:p>
          <a:p>
            <a:r>
              <a:rPr lang="en-US" dirty="0" err="1"/>
              <a:t>Sosyolojinin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çıkmasında</a:t>
            </a:r>
            <a:r>
              <a:rPr lang="en-US" dirty="0"/>
              <a:t>; </a:t>
            </a:r>
            <a:r>
              <a:rPr lang="en-US" b="1" dirty="0" err="1"/>
              <a:t>Fransız</a:t>
            </a:r>
            <a:r>
              <a:rPr lang="en-US" b="1" dirty="0"/>
              <a:t> </a:t>
            </a:r>
            <a:r>
              <a:rPr lang="en-US" b="1" dirty="0" err="1"/>
              <a:t>İhtilali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Sanayi </a:t>
            </a:r>
            <a:r>
              <a:rPr lang="en-US" b="1" dirty="0" err="1"/>
              <a:t>Devrimi</a:t>
            </a:r>
            <a:r>
              <a:rPr lang="en-US" b="1" dirty="0"/>
              <a:t> </a:t>
            </a:r>
            <a:r>
              <a:rPr lang="en-US" dirty="0" err="1"/>
              <a:t>sonrasında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sorunlara</a:t>
            </a:r>
            <a:r>
              <a:rPr lang="en-US" dirty="0"/>
              <a:t> </a:t>
            </a:r>
            <a:r>
              <a:rPr lang="en-US" dirty="0" err="1"/>
              <a:t>yanıt</a:t>
            </a:r>
            <a:r>
              <a:rPr lang="en-US" dirty="0"/>
              <a:t> </a:t>
            </a:r>
            <a:r>
              <a:rPr lang="en-US" dirty="0" err="1"/>
              <a:t>arama</a:t>
            </a:r>
            <a:r>
              <a:rPr lang="en-US" dirty="0"/>
              <a:t> </a:t>
            </a:r>
            <a:r>
              <a:rPr lang="en-US" dirty="0" err="1"/>
              <a:t>çabası</a:t>
            </a:r>
            <a:r>
              <a:rPr lang="en-US" dirty="0"/>
              <a:t> </a:t>
            </a:r>
            <a:r>
              <a:rPr lang="en-US" dirty="0" err="1"/>
              <a:t>etkili</a:t>
            </a:r>
            <a:r>
              <a:rPr lang="en-US" dirty="0"/>
              <a:t> </a:t>
            </a:r>
            <a:r>
              <a:rPr lang="en-US" dirty="0" err="1"/>
              <a:t>olmuştur</a:t>
            </a:r>
            <a:r>
              <a:rPr lang="en-US" dirty="0"/>
              <a:t>. </a:t>
            </a:r>
          </a:p>
          <a:p>
            <a:r>
              <a:rPr lang="en-US" dirty="0" err="1"/>
              <a:t>Sosyoloji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devrimlerin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düzeni</a:t>
            </a:r>
            <a:r>
              <a:rPr lang="en-US" dirty="0"/>
              <a:t> </a:t>
            </a:r>
            <a:r>
              <a:rPr lang="en-US" dirty="0" err="1"/>
              <a:t>sarsmasıyla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sorunlara</a:t>
            </a:r>
            <a:r>
              <a:rPr lang="en-US" dirty="0"/>
              <a:t> </a:t>
            </a:r>
            <a:r>
              <a:rPr lang="en-US" dirty="0" err="1"/>
              <a:t>çözüm</a:t>
            </a:r>
            <a:r>
              <a:rPr lang="en-US" dirty="0"/>
              <a:t> </a:t>
            </a:r>
            <a:r>
              <a:rPr lang="en-US" dirty="0" err="1"/>
              <a:t>arayışından</a:t>
            </a:r>
            <a:r>
              <a:rPr lang="en-US" dirty="0"/>
              <a:t> </a:t>
            </a:r>
            <a:r>
              <a:rPr lang="en-US" dirty="0" err="1"/>
              <a:t>doğmuştur</a:t>
            </a:r>
            <a:r>
              <a:rPr lang="en-US" dirty="0"/>
              <a:t>. </a:t>
            </a:r>
          </a:p>
          <a:p>
            <a:r>
              <a:rPr lang="en-US" dirty="0"/>
              <a:t>(</a:t>
            </a:r>
            <a:r>
              <a:rPr lang="en-US" dirty="0" err="1"/>
              <a:t>Siyasal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ekonomik</a:t>
            </a:r>
            <a:r>
              <a:rPr lang="en-US" dirty="0"/>
              <a:t> </a:t>
            </a:r>
            <a:r>
              <a:rPr lang="en-US" dirty="0" err="1"/>
              <a:t>alanlardaki</a:t>
            </a:r>
            <a:r>
              <a:rPr lang="en-US" dirty="0"/>
              <a:t> </a:t>
            </a:r>
            <a:r>
              <a:rPr lang="en-US" dirty="0" err="1"/>
              <a:t>radikal</a:t>
            </a:r>
            <a:r>
              <a:rPr lang="en-US" dirty="0"/>
              <a:t> </a:t>
            </a:r>
            <a:r>
              <a:rPr lang="en-US" dirty="0" err="1"/>
              <a:t>dönüşümler</a:t>
            </a:r>
            <a:r>
              <a:rPr lang="en-US" dirty="0"/>
              <a:t>,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toplumsal</a:t>
            </a:r>
            <a:r>
              <a:rPr lang="en-US" dirty="0"/>
              <a:t> </a:t>
            </a:r>
            <a:r>
              <a:rPr lang="en-US" dirty="0" err="1"/>
              <a:t>kurumların</a:t>
            </a:r>
            <a:r>
              <a:rPr lang="en-US" dirty="0"/>
              <a:t> </a:t>
            </a:r>
            <a:r>
              <a:rPr lang="en-US" dirty="0" err="1"/>
              <a:t>temelsiz</a:t>
            </a:r>
            <a:r>
              <a:rPr lang="en-US" dirty="0"/>
              <a:t> </a:t>
            </a:r>
            <a:r>
              <a:rPr lang="en-US" dirty="0" err="1"/>
              <a:t>kalması</a:t>
            </a:r>
            <a:r>
              <a:rPr lang="en-US" dirty="0"/>
              <a:t>, yeni </a:t>
            </a:r>
            <a:r>
              <a:rPr lang="en-US" dirty="0" err="1"/>
              <a:t>kavramlar</a:t>
            </a:r>
            <a:r>
              <a:rPr lang="en-US" dirty="0"/>
              <a:t> vb.)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74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osyoloji Biliminin Kurucusu Kimdir? Modern ve Türk Sosyolojisi?">
            <a:extLst>
              <a:ext uri="{FF2B5EF4-FFF2-40B4-BE49-F238E27FC236}">
                <a16:creationId xmlns:a16="http://schemas.microsoft.com/office/drawing/2014/main" id="{5BC8548D-848D-7741-863B-67812DB473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14" y="858417"/>
            <a:ext cx="5831633" cy="374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3788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9175C-7339-8CF2-0827-05B24799B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578498"/>
            <a:ext cx="9603275" cy="4887847"/>
          </a:xfrm>
        </p:spPr>
        <p:txBody>
          <a:bodyPr/>
          <a:lstStyle/>
          <a:p>
            <a:r>
              <a:rPr lang="en-US" b="1" dirty="0" err="1"/>
              <a:t>Kaynakça</a:t>
            </a:r>
            <a:endParaRPr lang="en-US" b="1" dirty="0"/>
          </a:p>
          <a:p>
            <a:r>
              <a:rPr lang="sv-SE" dirty="0"/>
              <a:t>Aron, R. (2004). Sosyolojik Düşüncenin Evreleri. Ankara: Bilgi</a:t>
            </a:r>
          </a:p>
          <a:p>
            <a:r>
              <a:rPr lang="en-US" dirty="0"/>
              <a:t>Giddens, A. (1998). </a:t>
            </a:r>
            <a:r>
              <a:rPr lang="en-US" dirty="0" err="1"/>
              <a:t>Sosyoloji</a:t>
            </a:r>
            <a:r>
              <a:rPr lang="en-US" dirty="0"/>
              <a:t>: </a:t>
            </a:r>
            <a:r>
              <a:rPr lang="en-US" dirty="0" err="1"/>
              <a:t>Eleştirel</a:t>
            </a:r>
            <a:r>
              <a:rPr lang="en-US" dirty="0"/>
              <a:t> Bir </a:t>
            </a:r>
            <a:r>
              <a:rPr lang="en-US" dirty="0" err="1"/>
              <a:t>Yaklaşım</a:t>
            </a:r>
            <a:r>
              <a:rPr lang="en-US" dirty="0"/>
              <a:t>. </a:t>
            </a:r>
            <a:r>
              <a:rPr lang="en-US" dirty="0" err="1"/>
              <a:t>İstanbul:Birey</a:t>
            </a:r>
            <a:r>
              <a:rPr lang="en-US" dirty="0"/>
              <a:t>. </a:t>
            </a:r>
          </a:p>
          <a:p>
            <a:r>
              <a:rPr lang="en-US" dirty="0"/>
              <a:t>Giddens, A. (2008). </a:t>
            </a:r>
            <a:r>
              <a:rPr lang="en-US" dirty="0" err="1"/>
              <a:t>Sosyoloji</a:t>
            </a:r>
            <a:r>
              <a:rPr lang="en-US" dirty="0"/>
              <a:t>. İstanbul: </a:t>
            </a:r>
            <a:r>
              <a:rPr lang="en-US" dirty="0" err="1"/>
              <a:t>Kırmızı</a:t>
            </a:r>
            <a:r>
              <a:rPr lang="en-US" dirty="0"/>
              <a:t>.</a:t>
            </a:r>
          </a:p>
          <a:p>
            <a:r>
              <a:rPr lang="en-US" dirty="0"/>
              <a:t>Tan, M. (1981). </a:t>
            </a:r>
            <a:r>
              <a:rPr lang="en-US" dirty="0" err="1"/>
              <a:t>Toplumbilime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: Temel </a:t>
            </a:r>
            <a:r>
              <a:rPr lang="en-US" dirty="0" err="1"/>
              <a:t>Kavramlar</a:t>
            </a:r>
            <a:r>
              <a:rPr lang="en-US" dirty="0"/>
              <a:t>. Ankara: A.Ü. E.B.F. Yay. </a:t>
            </a:r>
          </a:p>
          <a:p>
            <a:r>
              <a:rPr lang="en-US" dirty="0"/>
              <a:t>Tezcan, M. (1993). </a:t>
            </a:r>
            <a:r>
              <a:rPr lang="en-US" dirty="0" err="1"/>
              <a:t>Sosyolojiye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: Temel </a:t>
            </a:r>
            <a:r>
              <a:rPr lang="en-US" dirty="0" err="1"/>
              <a:t>Kavramlar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792523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{A9174B3C-55F3-4D42-BC50-C31F6948AF5F}TFc986dd65-aaf0-4d5c-bef9-9c391ee05f7b738e0fce-4a319d133af4</Template>
  <TotalTime>686</TotalTime>
  <Words>2485</Words>
  <Application>Microsoft Office PowerPoint</Application>
  <PresentationFormat>Widescreen</PresentationFormat>
  <Paragraphs>167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Century Gothic</vt:lpstr>
      <vt:lpstr>Gill Sans MT</vt:lpstr>
      <vt:lpstr>Gallery</vt:lpstr>
      <vt:lpstr>Sosyolojiye Giriş ve Sosyolojinin                                Sosyal Bilimlerle İlişkisi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* Kısaca bilimsel bilgi herkes için geçerli olan doğruları içeriri.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SOLYALI TURİZM VE SEYHAT ACENTASI</dc:creator>
  <cp:lastModifiedBy>SOLYALI TURİZM VE SEYHAT ACENTASI</cp:lastModifiedBy>
  <cp:revision>41</cp:revision>
  <dcterms:created xsi:type="dcterms:W3CDTF">2025-10-07T09:27:53Z</dcterms:created>
  <dcterms:modified xsi:type="dcterms:W3CDTF">2025-11-25T10:17:19Z</dcterms:modified>
</cp:coreProperties>
</file>