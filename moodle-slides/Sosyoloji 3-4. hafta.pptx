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15"/>
  </p:notesMasterIdLst>
  <p:handoutMasterIdLst>
    <p:handoutMasterId r:id="rId116"/>
  </p:handoutMasterIdLst>
  <p:sldIdLst>
    <p:sldId id="323" r:id="rId5"/>
    <p:sldId id="408" r:id="rId6"/>
    <p:sldId id="304" r:id="rId7"/>
    <p:sldId id="307" r:id="rId8"/>
    <p:sldId id="281" r:id="rId9"/>
    <p:sldId id="411" r:id="rId10"/>
    <p:sldId id="282" r:id="rId11"/>
    <p:sldId id="314" r:id="rId12"/>
    <p:sldId id="315" r:id="rId13"/>
    <p:sldId id="317" r:id="rId14"/>
    <p:sldId id="412" r:id="rId15"/>
    <p:sldId id="318" r:id="rId16"/>
    <p:sldId id="319" r:id="rId17"/>
    <p:sldId id="321" r:id="rId18"/>
    <p:sldId id="322" r:id="rId19"/>
    <p:sldId id="324" r:id="rId20"/>
    <p:sldId id="413" r:id="rId21"/>
    <p:sldId id="325" r:id="rId22"/>
    <p:sldId id="326" r:id="rId23"/>
    <p:sldId id="327" r:id="rId24"/>
    <p:sldId id="416" r:id="rId25"/>
    <p:sldId id="328" r:id="rId26"/>
    <p:sldId id="329" r:id="rId27"/>
    <p:sldId id="415" r:id="rId28"/>
    <p:sldId id="330" r:id="rId29"/>
    <p:sldId id="331" r:id="rId30"/>
    <p:sldId id="332" r:id="rId31"/>
    <p:sldId id="333" r:id="rId32"/>
    <p:sldId id="417" r:id="rId33"/>
    <p:sldId id="334" r:id="rId34"/>
    <p:sldId id="410" r:id="rId35"/>
    <p:sldId id="335" r:id="rId36"/>
    <p:sldId id="336" r:id="rId37"/>
    <p:sldId id="337" r:id="rId38"/>
    <p:sldId id="338" r:id="rId39"/>
    <p:sldId id="339" r:id="rId40"/>
    <p:sldId id="340" r:id="rId41"/>
    <p:sldId id="341" r:id="rId42"/>
    <p:sldId id="342" r:id="rId43"/>
    <p:sldId id="343" r:id="rId44"/>
    <p:sldId id="344" r:id="rId45"/>
    <p:sldId id="345" r:id="rId46"/>
    <p:sldId id="346" r:id="rId47"/>
    <p:sldId id="347" r:id="rId48"/>
    <p:sldId id="348" r:id="rId49"/>
    <p:sldId id="349" r:id="rId50"/>
    <p:sldId id="418" r:id="rId51"/>
    <p:sldId id="350" r:id="rId52"/>
    <p:sldId id="351" r:id="rId53"/>
    <p:sldId id="352" r:id="rId54"/>
    <p:sldId id="353" r:id="rId55"/>
    <p:sldId id="354" r:id="rId56"/>
    <p:sldId id="355" r:id="rId57"/>
    <p:sldId id="419" r:id="rId58"/>
    <p:sldId id="356" r:id="rId59"/>
    <p:sldId id="357" r:id="rId60"/>
    <p:sldId id="358" r:id="rId61"/>
    <p:sldId id="359" r:id="rId62"/>
    <p:sldId id="420" r:id="rId63"/>
    <p:sldId id="360" r:id="rId64"/>
    <p:sldId id="361" r:id="rId65"/>
    <p:sldId id="362" r:id="rId66"/>
    <p:sldId id="363" r:id="rId67"/>
    <p:sldId id="364" r:id="rId68"/>
    <p:sldId id="365" r:id="rId69"/>
    <p:sldId id="366" r:id="rId70"/>
    <p:sldId id="421" r:id="rId71"/>
    <p:sldId id="367" r:id="rId72"/>
    <p:sldId id="368" r:id="rId73"/>
    <p:sldId id="369" r:id="rId74"/>
    <p:sldId id="370" r:id="rId75"/>
    <p:sldId id="371" r:id="rId76"/>
    <p:sldId id="372" r:id="rId77"/>
    <p:sldId id="373" r:id="rId78"/>
    <p:sldId id="374" r:id="rId79"/>
    <p:sldId id="375" r:id="rId80"/>
    <p:sldId id="376" r:id="rId81"/>
    <p:sldId id="377" r:id="rId82"/>
    <p:sldId id="378" r:id="rId83"/>
    <p:sldId id="379" r:id="rId84"/>
    <p:sldId id="380" r:id="rId85"/>
    <p:sldId id="381" r:id="rId86"/>
    <p:sldId id="422" r:id="rId87"/>
    <p:sldId id="382" r:id="rId88"/>
    <p:sldId id="383" r:id="rId89"/>
    <p:sldId id="384" r:id="rId90"/>
    <p:sldId id="385" r:id="rId91"/>
    <p:sldId id="386" r:id="rId92"/>
    <p:sldId id="387" r:id="rId93"/>
    <p:sldId id="388" r:id="rId94"/>
    <p:sldId id="389" r:id="rId95"/>
    <p:sldId id="390" r:id="rId96"/>
    <p:sldId id="391" r:id="rId97"/>
    <p:sldId id="392" r:id="rId98"/>
    <p:sldId id="409" r:id="rId99"/>
    <p:sldId id="393" r:id="rId100"/>
    <p:sldId id="394" r:id="rId101"/>
    <p:sldId id="395" r:id="rId102"/>
    <p:sldId id="396" r:id="rId103"/>
    <p:sldId id="397" r:id="rId104"/>
    <p:sldId id="398" r:id="rId105"/>
    <p:sldId id="399" r:id="rId106"/>
    <p:sldId id="400" r:id="rId107"/>
    <p:sldId id="401" r:id="rId108"/>
    <p:sldId id="402" r:id="rId109"/>
    <p:sldId id="403" r:id="rId110"/>
    <p:sldId id="404" r:id="rId111"/>
    <p:sldId id="405" r:id="rId112"/>
    <p:sldId id="406" r:id="rId113"/>
    <p:sldId id="407" r:id="rId114"/>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82" d="100"/>
          <a:sy n="82" d="100"/>
        </p:scale>
        <p:origin x="720" y="67"/>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presProps" Target="presProps.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slide" Target="slides/slide86.xml"/><Relationship Id="rId95" Type="http://schemas.openxmlformats.org/officeDocument/2006/relationships/slide" Target="slides/slide9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13" Type="http://schemas.openxmlformats.org/officeDocument/2006/relationships/slide" Target="slides/slide109.xml"/><Relationship Id="rId118"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slide" Target="slides/slide89.xml"/><Relationship Id="rId98" Type="http://schemas.openxmlformats.org/officeDocument/2006/relationships/slide" Target="slides/slide94.xml"/><Relationship Id="rId121"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slide" Target="slides/slide99.xml"/><Relationship Id="rId108" Type="http://schemas.openxmlformats.org/officeDocument/2006/relationships/slide" Target="slides/slide104.xml"/><Relationship Id="rId11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11" Type="http://schemas.openxmlformats.org/officeDocument/2006/relationships/slide" Target="slides/slide10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14" Type="http://schemas.openxmlformats.org/officeDocument/2006/relationships/slide" Target="slides/slide110.xml"/><Relationship Id="rId119"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08814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45A97-6AE4-49C3-71B8-05DCCF8A6A22}"/>
              </a:ext>
            </a:extLst>
          </p:cNvPr>
          <p:cNvSpPr>
            <a:spLocks noGrp="1"/>
          </p:cNvSpPr>
          <p:nvPr>
            <p:ph type="ctrTitle"/>
          </p:nvPr>
        </p:nvSpPr>
        <p:spPr>
          <a:xfrm>
            <a:off x="1101012" y="810228"/>
            <a:ext cx="9433249" cy="5254670"/>
          </a:xfrm>
        </p:spPr>
        <p:txBody>
          <a:bodyPr/>
          <a:lstStyle/>
          <a:p>
            <a:br>
              <a:rPr lang="tr-TR" sz="2800" b="0" cap="none" dirty="0">
                <a:solidFill>
                  <a:schemeClr val="tx1"/>
                </a:solidFill>
              </a:rPr>
            </a:br>
            <a:br>
              <a:rPr lang="tr-TR" sz="2800" b="0" cap="none" dirty="0">
                <a:solidFill>
                  <a:schemeClr val="tx1"/>
                </a:solidFill>
              </a:rPr>
            </a:br>
            <a:r>
              <a:rPr lang="en-US" sz="4400" dirty="0" err="1">
                <a:solidFill>
                  <a:schemeClr val="accent1">
                    <a:lumMod val="75000"/>
                  </a:schemeClr>
                </a:solidFill>
                <a:latin typeface="Arial" panose="020B0604020202020204" pitchFamily="34" charset="0"/>
                <a:cs typeface="Arial" panose="020B0604020202020204" pitchFamily="34" charset="0"/>
              </a:rPr>
              <a:t>Toplum</a:t>
            </a:r>
            <a:r>
              <a:rPr lang="en-US" sz="4400" dirty="0">
                <a:solidFill>
                  <a:schemeClr val="accent1">
                    <a:lumMod val="75000"/>
                  </a:schemeClr>
                </a:solidFill>
                <a:latin typeface="Arial" panose="020B0604020202020204" pitchFamily="34" charset="0"/>
                <a:cs typeface="Arial" panose="020B0604020202020204" pitchFamily="34" charset="0"/>
              </a:rPr>
              <a:t>, </a:t>
            </a:r>
            <a:r>
              <a:rPr lang="en-US" sz="4400" dirty="0" err="1">
                <a:solidFill>
                  <a:schemeClr val="accent1">
                    <a:lumMod val="75000"/>
                  </a:schemeClr>
                </a:solidFill>
                <a:latin typeface="Arial" panose="020B0604020202020204" pitchFamily="34" charset="0"/>
                <a:cs typeface="Arial" panose="020B0604020202020204" pitchFamily="34" charset="0"/>
              </a:rPr>
              <a:t>Sosyal</a:t>
            </a:r>
            <a:r>
              <a:rPr lang="en-US" sz="4400" dirty="0">
                <a:solidFill>
                  <a:schemeClr val="accent1">
                    <a:lumMod val="75000"/>
                  </a:schemeClr>
                </a:solidFill>
                <a:latin typeface="Arial" panose="020B0604020202020204" pitchFamily="34" charset="0"/>
                <a:cs typeface="Arial" panose="020B0604020202020204" pitchFamily="34" charset="0"/>
              </a:rPr>
              <a:t> </a:t>
            </a:r>
            <a:r>
              <a:rPr lang="en-US" sz="4400" dirty="0" err="1">
                <a:solidFill>
                  <a:schemeClr val="accent1">
                    <a:lumMod val="75000"/>
                  </a:schemeClr>
                </a:solidFill>
                <a:latin typeface="Arial" panose="020B0604020202020204" pitchFamily="34" charset="0"/>
                <a:cs typeface="Arial" panose="020B0604020202020204" pitchFamily="34" charset="0"/>
              </a:rPr>
              <a:t>Yapı</a:t>
            </a:r>
            <a:r>
              <a:rPr lang="en-US" sz="4400" dirty="0">
                <a:solidFill>
                  <a:schemeClr val="accent1">
                    <a:lumMod val="75000"/>
                  </a:schemeClr>
                </a:solidFill>
                <a:latin typeface="Arial" panose="020B0604020202020204" pitchFamily="34" charset="0"/>
                <a:cs typeface="Arial" panose="020B0604020202020204" pitchFamily="34" charset="0"/>
              </a:rPr>
              <a:t> </a:t>
            </a:r>
            <a:r>
              <a:rPr lang="en-US" sz="4400" dirty="0" err="1">
                <a:solidFill>
                  <a:schemeClr val="accent1">
                    <a:lumMod val="75000"/>
                  </a:schemeClr>
                </a:solidFill>
                <a:latin typeface="Arial" panose="020B0604020202020204" pitchFamily="34" charset="0"/>
                <a:cs typeface="Arial" panose="020B0604020202020204" pitchFamily="34" charset="0"/>
              </a:rPr>
              <a:t>ve</a:t>
            </a:r>
            <a:r>
              <a:rPr lang="en-US" sz="4400" dirty="0">
                <a:solidFill>
                  <a:schemeClr val="accent1">
                    <a:lumMod val="75000"/>
                  </a:schemeClr>
                </a:solidFill>
                <a:latin typeface="Arial" panose="020B0604020202020204" pitchFamily="34" charset="0"/>
                <a:cs typeface="Arial" panose="020B0604020202020204" pitchFamily="34" charset="0"/>
              </a:rPr>
              <a:t> </a:t>
            </a:r>
            <a:r>
              <a:rPr lang="en-US" sz="4400" dirty="0" err="1">
                <a:solidFill>
                  <a:schemeClr val="accent1">
                    <a:lumMod val="75000"/>
                  </a:schemeClr>
                </a:solidFill>
                <a:latin typeface="Arial" panose="020B0604020202020204" pitchFamily="34" charset="0"/>
                <a:cs typeface="Arial" panose="020B0604020202020204" pitchFamily="34" charset="0"/>
              </a:rPr>
              <a:t>Sosyal</a:t>
            </a:r>
            <a:r>
              <a:rPr lang="en-US" sz="4400" dirty="0">
                <a:solidFill>
                  <a:schemeClr val="accent1">
                    <a:lumMod val="75000"/>
                  </a:schemeClr>
                </a:solidFill>
                <a:latin typeface="Arial" panose="020B0604020202020204" pitchFamily="34" charset="0"/>
                <a:cs typeface="Arial" panose="020B0604020202020204" pitchFamily="34" charset="0"/>
              </a:rPr>
              <a:t> </a:t>
            </a:r>
            <a:r>
              <a:rPr lang="en-US" sz="4400" dirty="0" err="1">
                <a:solidFill>
                  <a:schemeClr val="accent1">
                    <a:lumMod val="75000"/>
                  </a:schemeClr>
                </a:solidFill>
                <a:latin typeface="Arial" panose="020B0604020202020204" pitchFamily="34" charset="0"/>
                <a:cs typeface="Arial" panose="020B0604020202020204" pitchFamily="34" charset="0"/>
              </a:rPr>
              <a:t>Kurumlar</a:t>
            </a:r>
            <a:r>
              <a:rPr lang="en-US" sz="4400" dirty="0">
                <a:solidFill>
                  <a:schemeClr val="accent1">
                    <a:lumMod val="75000"/>
                  </a:schemeClr>
                </a:solidFill>
                <a:latin typeface="Arial" panose="020B0604020202020204" pitchFamily="34" charset="0"/>
                <a:cs typeface="Arial" panose="020B0604020202020204" pitchFamily="34" charset="0"/>
              </a:rPr>
              <a:t> – </a:t>
            </a:r>
            <a:r>
              <a:rPr lang="en-US" sz="4400" dirty="0" err="1">
                <a:solidFill>
                  <a:schemeClr val="accent1">
                    <a:lumMod val="75000"/>
                  </a:schemeClr>
                </a:solidFill>
                <a:latin typeface="Arial" panose="020B0604020202020204" pitchFamily="34" charset="0"/>
                <a:cs typeface="Arial" panose="020B0604020202020204" pitchFamily="34" charset="0"/>
              </a:rPr>
              <a:t>Kültür</a:t>
            </a:r>
            <a:r>
              <a:rPr lang="en-US" sz="4400" dirty="0">
                <a:solidFill>
                  <a:schemeClr val="accent1">
                    <a:lumMod val="75000"/>
                  </a:schemeClr>
                </a:solidFill>
                <a:latin typeface="Arial" panose="020B0604020202020204" pitchFamily="34" charset="0"/>
                <a:cs typeface="Arial" panose="020B0604020202020204" pitchFamily="34" charset="0"/>
              </a:rPr>
              <a:t> </a:t>
            </a:r>
            <a:r>
              <a:rPr lang="en-US" sz="4400" dirty="0" err="1">
                <a:solidFill>
                  <a:schemeClr val="accent1">
                    <a:lumMod val="75000"/>
                  </a:schemeClr>
                </a:solidFill>
                <a:latin typeface="Arial" panose="020B0604020202020204" pitchFamily="34" charset="0"/>
                <a:cs typeface="Arial" panose="020B0604020202020204" pitchFamily="34" charset="0"/>
              </a:rPr>
              <a:t>ve</a:t>
            </a:r>
            <a:r>
              <a:rPr lang="en-US" sz="4400" dirty="0">
                <a:solidFill>
                  <a:schemeClr val="accent1">
                    <a:lumMod val="75000"/>
                  </a:schemeClr>
                </a:solidFill>
                <a:latin typeface="Arial" panose="020B0604020202020204" pitchFamily="34" charset="0"/>
                <a:cs typeface="Arial" panose="020B0604020202020204" pitchFamily="34" charset="0"/>
              </a:rPr>
              <a:t> </a:t>
            </a:r>
            <a:r>
              <a:rPr lang="en-US" sz="4400" dirty="0" err="1">
                <a:solidFill>
                  <a:schemeClr val="accent1">
                    <a:lumMod val="75000"/>
                  </a:schemeClr>
                </a:solidFill>
                <a:latin typeface="Arial" panose="020B0604020202020204" pitchFamily="34" charset="0"/>
                <a:cs typeface="Arial" panose="020B0604020202020204" pitchFamily="34" charset="0"/>
              </a:rPr>
              <a:t>Toplum</a:t>
            </a:r>
            <a:br>
              <a:rPr lang="tr-TR" sz="4400" b="0" cap="none" dirty="0">
                <a:solidFill>
                  <a:schemeClr val="accent1">
                    <a:lumMod val="75000"/>
                  </a:schemeClr>
                </a:solidFill>
                <a:latin typeface="Arial" panose="020B0604020202020204" pitchFamily="34" charset="0"/>
                <a:cs typeface="Arial" panose="020B0604020202020204" pitchFamily="34" charset="0"/>
              </a:rPr>
            </a:br>
            <a:br>
              <a:rPr lang="tr-TR" sz="2800" b="0" cap="none" dirty="0">
                <a:solidFill>
                  <a:schemeClr val="tx1"/>
                </a:solidFill>
                <a:latin typeface="Arial" panose="020B0604020202020204" pitchFamily="34" charset="0"/>
                <a:cs typeface="Arial" panose="020B0604020202020204" pitchFamily="34" charset="0"/>
              </a:rPr>
            </a:br>
            <a:r>
              <a:rPr lang="en-US" sz="2800" b="0" cap="none" dirty="0" err="1">
                <a:solidFill>
                  <a:schemeClr val="tx1"/>
                </a:solidFill>
                <a:latin typeface="Arial" panose="020B0604020202020204" pitchFamily="34" charset="0"/>
                <a:cs typeface="Arial" panose="020B0604020202020204" pitchFamily="34" charset="0"/>
              </a:rPr>
              <a:t>Yrd</a:t>
            </a:r>
            <a:r>
              <a:rPr lang="en-US" sz="2800" b="0" cap="none" dirty="0">
                <a:solidFill>
                  <a:schemeClr val="tx1"/>
                </a:solidFill>
                <a:latin typeface="Arial" panose="020B0604020202020204" pitchFamily="34" charset="0"/>
                <a:cs typeface="Arial" panose="020B0604020202020204" pitchFamily="34" charset="0"/>
              </a:rPr>
              <a:t>. </a:t>
            </a:r>
            <a:r>
              <a:rPr lang="en-US" sz="2800" b="0" cap="none" dirty="0" err="1">
                <a:solidFill>
                  <a:schemeClr val="tx1"/>
                </a:solidFill>
                <a:latin typeface="Arial" panose="020B0604020202020204" pitchFamily="34" charset="0"/>
                <a:cs typeface="Arial" panose="020B0604020202020204" pitchFamily="34" charset="0"/>
              </a:rPr>
              <a:t>Doç</a:t>
            </a:r>
            <a:r>
              <a:rPr lang="en-US" sz="2800" b="0" cap="none" dirty="0">
                <a:solidFill>
                  <a:schemeClr val="tx1"/>
                </a:solidFill>
                <a:latin typeface="Arial" panose="020B0604020202020204" pitchFamily="34" charset="0"/>
                <a:cs typeface="Arial" panose="020B0604020202020204" pitchFamily="34" charset="0"/>
              </a:rPr>
              <a:t>. Dr. Sibel </a:t>
            </a:r>
            <a:r>
              <a:rPr lang="tr-TR" sz="2800" b="0" cap="none" dirty="0">
                <a:solidFill>
                  <a:schemeClr val="tx1"/>
                </a:solidFill>
                <a:latin typeface="Arial" panose="020B0604020202020204" pitchFamily="34" charset="0"/>
                <a:cs typeface="Arial" panose="020B0604020202020204" pitchFamily="34" charset="0"/>
              </a:rPr>
              <a:t>S</a:t>
            </a:r>
            <a:r>
              <a:rPr lang="en-US" sz="2800" b="0" cap="none" dirty="0" err="1">
                <a:solidFill>
                  <a:schemeClr val="tx1"/>
                </a:solidFill>
                <a:latin typeface="Arial" panose="020B0604020202020204" pitchFamily="34" charset="0"/>
                <a:cs typeface="Arial" panose="020B0604020202020204" pitchFamily="34" charset="0"/>
              </a:rPr>
              <a:t>olyalı</a:t>
            </a:r>
            <a:r>
              <a:rPr lang="en-US" sz="2800" b="0" cap="none" dirty="0">
                <a:solidFill>
                  <a:schemeClr val="tx1"/>
                </a:solidFill>
                <a:latin typeface="Arial" panose="020B0604020202020204" pitchFamily="34" charset="0"/>
                <a:cs typeface="Arial" panose="020B0604020202020204" pitchFamily="34" charset="0"/>
              </a:rPr>
              <a:t> </a:t>
            </a:r>
            <a:br>
              <a:rPr lang="tr-TR" sz="2800" b="0" cap="none" dirty="0">
                <a:solidFill>
                  <a:schemeClr val="tx1"/>
                </a:solidFill>
                <a:latin typeface="Arial" panose="020B0604020202020204" pitchFamily="34" charset="0"/>
                <a:cs typeface="Arial" panose="020B0604020202020204" pitchFamily="34" charset="0"/>
              </a:rPr>
            </a:br>
            <a:r>
              <a:rPr lang="en-US" sz="2800" b="0" cap="none" dirty="0">
                <a:solidFill>
                  <a:schemeClr val="tx1"/>
                </a:solidFill>
                <a:latin typeface="Arial" panose="020B0604020202020204" pitchFamily="34" charset="0"/>
                <a:cs typeface="Arial" panose="020B0604020202020204" pitchFamily="34" charset="0"/>
              </a:rPr>
              <a:t>(</a:t>
            </a:r>
            <a:r>
              <a:rPr lang="tr-TR" sz="2800" b="0" cap="none" dirty="0">
                <a:solidFill>
                  <a:schemeClr val="tx1"/>
                </a:solidFill>
                <a:latin typeface="Arial" panose="020B0604020202020204" pitchFamily="34" charset="0"/>
                <a:cs typeface="Arial" panose="020B0604020202020204" pitchFamily="34" charset="0"/>
              </a:rPr>
              <a:t>L</a:t>
            </a:r>
            <a:r>
              <a:rPr lang="en-US" sz="2800" b="0" cap="none" dirty="0" err="1">
                <a:solidFill>
                  <a:schemeClr val="tx1"/>
                </a:solidFill>
                <a:latin typeface="Arial" panose="020B0604020202020204" pitchFamily="34" charset="0"/>
                <a:cs typeface="Arial" panose="020B0604020202020204" pitchFamily="34" charset="0"/>
              </a:rPr>
              <a:t>isans</a:t>
            </a:r>
            <a:r>
              <a:rPr lang="en-US" sz="2800" b="0" cap="none" dirty="0">
                <a:solidFill>
                  <a:schemeClr val="tx1"/>
                </a:solidFill>
                <a:latin typeface="Arial" panose="020B0604020202020204" pitchFamily="34" charset="0"/>
                <a:cs typeface="Arial" panose="020B0604020202020204" pitchFamily="34" charset="0"/>
              </a:rPr>
              <a:t> 1. </a:t>
            </a:r>
            <a:r>
              <a:rPr lang="en-US" sz="2800" b="0" cap="none" dirty="0" err="1">
                <a:solidFill>
                  <a:schemeClr val="tx1"/>
                </a:solidFill>
                <a:latin typeface="Arial" panose="020B0604020202020204" pitchFamily="34" charset="0"/>
                <a:cs typeface="Arial" panose="020B0604020202020204" pitchFamily="34" charset="0"/>
              </a:rPr>
              <a:t>Sınıf</a:t>
            </a:r>
            <a:r>
              <a:rPr lang="tr-TR" sz="2800" b="0" cap="none" dirty="0">
                <a:solidFill>
                  <a:schemeClr val="tx1"/>
                </a:solidFill>
                <a:latin typeface="Arial" panose="020B0604020202020204" pitchFamily="34" charset="0"/>
                <a:cs typeface="Arial" panose="020B0604020202020204" pitchFamily="34" charset="0"/>
              </a:rPr>
              <a:t> / Ders </a:t>
            </a:r>
            <a:r>
              <a:rPr lang="tr-TR" sz="2800" b="0" cap="none">
                <a:solidFill>
                  <a:schemeClr val="tx1"/>
                </a:solidFill>
                <a:latin typeface="Arial" panose="020B0604020202020204" pitchFamily="34" charset="0"/>
                <a:cs typeface="Arial" panose="020B0604020202020204" pitchFamily="34" charset="0"/>
              </a:rPr>
              <a:t>Notları 3-4</a:t>
            </a:r>
            <a:r>
              <a:rPr lang="en-US" sz="2800" b="0" cap="none">
                <a:solidFill>
                  <a:schemeClr val="tx1"/>
                </a:solidFill>
                <a:latin typeface="Arial" panose="020B0604020202020204" pitchFamily="34" charset="0"/>
                <a:cs typeface="Arial" panose="020B0604020202020204" pitchFamily="34" charset="0"/>
              </a:rPr>
              <a:t>)</a:t>
            </a:r>
            <a:br>
              <a:rPr lang="en-US" sz="2800" b="0" cap="none" dirty="0">
                <a:solidFill>
                  <a:schemeClr val="tx1"/>
                </a:solidFill>
                <a:latin typeface="Arial" panose="020B0604020202020204" pitchFamily="34" charset="0"/>
                <a:cs typeface="Arial" panose="020B0604020202020204" pitchFamily="34" charset="0"/>
              </a:rPr>
            </a:br>
            <a:endParaRPr lang="en-US" sz="2800" b="0" cap="none"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92628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5F7E9FC-319C-162B-C2BC-B8B6BA27359A}"/>
              </a:ext>
            </a:extLst>
          </p:cNvPr>
          <p:cNvSpPr>
            <a:spLocks noGrp="1"/>
          </p:cNvSpPr>
          <p:nvPr>
            <p:ph type="sldNum" sz="quarter" idx="10"/>
          </p:nvPr>
        </p:nvSpPr>
        <p:spPr/>
        <p:txBody>
          <a:bodyPr/>
          <a:lstStyle/>
          <a:p>
            <a:fld id="{48F63A3B-78C7-47BE-AE5E-E10140E04643}" type="slidenum">
              <a:rPr lang="en-US" smtClean="0"/>
              <a:pPr/>
              <a:t>2</a:t>
            </a:fld>
            <a:endParaRPr lang="en-US" dirty="0"/>
          </a:p>
        </p:txBody>
      </p:sp>
      <p:pic>
        <p:nvPicPr>
          <p:cNvPr id="1028" name="Picture 4" descr="Toplumsal Yapı ve İlişkiler - Filozof Cafe">
            <a:extLst>
              <a:ext uri="{FF2B5EF4-FFF2-40B4-BE49-F238E27FC236}">
                <a16:creationId xmlns:a16="http://schemas.microsoft.com/office/drawing/2014/main" id="{E5D98F5A-D221-AF8E-B077-98F0E2A95FA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80931" y="692943"/>
            <a:ext cx="7539133" cy="4382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9318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tr-TR" dirty="0"/>
              <a:t>Dersin amacı</a:t>
            </a:r>
            <a:endParaRPr lang="en-US" dirty="0"/>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834640"/>
            <a:ext cx="6583680" cy="3207344"/>
          </a:xfrm>
        </p:spPr>
        <p:txBody>
          <a:bodyPr/>
          <a:lstStyle/>
          <a:p>
            <a:pPr marL="342900" indent="-342900">
              <a:buFont typeface="Wingdings" panose="05000000000000000000" pitchFamily="2" charset="2"/>
              <a:buChar char="Ø"/>
            </a:pPr>
            <a:r>
              <a:rPr lang="en-US" dirty="0" err="1"/>
              <a:t>Toplum</a:t>
            </a:r>
            <a:r>
              <a:rPr lang="en-US" dirty="0"/>
              <a:t>, </a:t>
            </a:r>
            <a:r>
              <a:rPr lang="en-US" dirty="0" err="1"/>
              <a:t>sosyal</a:t>
            </a:r>
            <a:r>
              <a:rPr lang="en-US" dirty="0"/>
              <a:t> </a:t>
            </a:r>
            <a:r>
              <a:rPr lang="en-US" dirty="0" err="1"/>
              <a:t>yapı</a:t>
            </a:r>
            <a:r>
              <a:rPr lang="en-US" dirty="0"/>
              <a:t>, </a:t>
            </a:r>
            <a:r>
              <a:rPr lang="en-US" dirty="0" err="1"/>
              <a:t>kurumlar</a:t>
            </a:r>
            <a:r>
              <a:rPr lang="en-US" dirty="0"/>
              <a:t> </a:t>
            </a:r>
            <a:r>
              <a:rPr lang="en-US" dirty="0" err="1"/>
              <a:t>ve</a:t>
            </a:r>
            <a:r>
              <a:rPr lang="en-US" dirty="0"/>
              <a:t> </a:t>
            </a:r>
            <a:r>
              <a:rPr lang="en-US" dirty="0" err="1"/>
              <a:t>kültür</a:t>
            </a:r>
            <a:r>
              <a:rPr lang="en-US" dirty="0"/>
              <a:t> </a:t>
            </a:r>
            <a:r>
              <a:rPr lang="en-US" dirty="0" err="1"/>
              <a:t>arasındaki</a:t>
            </a:r>
            <a:r>
              <a:rPr lang="en-US" dirty="0"/>
              <a:t> </a:t>
            </a:r>
            <a:r>
              <a:rPr lang="en-US" dirty="0" err="1"/>
              <a:t>ilişkileri</a:t>
            </a:r>
            <a:r>
              <a:rPr lang="en-US" dirty="0"/>
              <a:t> </a:t>
            </a:r>
            <a:r>
              <a:rPr lang="en-US" dirty="0" err="1"/>
              <a:t>anlamak</a:t>
            </a:r>
            <a:r>
              <a:rPr lang="en-US" dirty="0"/>
              <a:t>.</a:t>
            </a:r>
          </a:p>
          <a:p>
            <a:pPr marL="342900" indent="-342900">
              <a:buFont typeface="Wingdings" panose="05000000000000000000" pitchFamily="2" charset="2"/>
              <a:buChar char="Ø"/>
            </a:pPr>
            <a:r>
              <a:rPr lang="tr-TR" dirty="0"/>
              <a:t> </a:t>
            </a:r>
            <a:r>
              <a:rPr lang="en-US" dirty="0" err="1"/>
              <a:t>Günlük</a:t>
            </a:r>
            <a:r>
              <a:rPr lang="en-US" dirty="0"/>
              <a:t> </a:t>
            </a:r>
            <a:r>
              <a:rPr lang="en-US" dirty="0" err="1"/>
              <a:t>yaşam</a:t>
            </a:r>
            <a:r>
              <a:rPr lang="en-US" dirty="0"/>
              <a:t> </a:t>
            </a:r>
            <a:r>
              <a:rPr lang="en-US" dirty="0" err="1"/>
              <a:t>olaylarını</a:t>
            </a:r>
            <a:r>
              <a:rPr lang="en-US" dirty="0"/>
              <a:t> </a:t>
            </a:r>
            <a:r>
              <a:rPr lang="en-US" dirty="0" err="1"/>
              <a:t>sosyolojik</a:t>
            </a:r>
            <a:r>
              <a:rPr lang="en-US" dirty="0"/>
              <a:t> </a:t>
            </a:r>
            <a:r>
              <a:rPr lang="en-US" dirty="0" err="1"/>
              <a:t>bakışla</a:t>
            </a:r>
            <a:r>
              <a:rPr lang="en-US" dirty="0"/>
              <a:t> </a:t>
            </a:r>
            <a:r>
              <a:rPr lang="tr-TR" dirty="0"/>
              <a:t>       </a:t>
            </a:r>
            <a:r>
              <a:rPr lang="en-US" dirty="0" err="1"/>
              <a:t>yorumlayabilmek</a:t>
            </a:r>
            <a:r>
              <a:rPr lang="en-US" dirty="0"/>
              <a:t>.</a:t>
            </a:r>
          </a:p>
          <a:p>
            <a:endParaRPr lang="en-US" dirty="0"/>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3</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326571" y="335902"/>
            <a:ext cx="11099457" cy="5464825"/>
          </a:xfrm>
        </p:spPr>
        <p:txBody>
          <a:bodyPr/>
          <a:lstStyle/>
          <a:p>
            <a:pPr marL="571500" marR="0" indent="-571500">
              <a:lnSpc>
                <a:spcPct val="115000"/>
              </a:lnSpc>
              <a:spcAft>
                <a:spcPts val="800"/>
              </a:spcAft>
              <a:buFont typeface="Wingdings" panose="05000000000000000000" pitchFamily="2" charset="2"/>
              <a:buChar char="Ø"/>
            </a:pPr>
            <a:r>
              <a:rPr lang="en-US" sz="4400" b="1" kern="100" cap="none" dirty="0" err="1">
                <a:effectLst/>
                <a:latin typeface="Arial" panose="020B0604020202020204" pitchFamily="34" charset="0"/>
                <a:ea typeface="Calibri" panose="020F0502020204030204" pitchFamily="34" charset="0"/>
                <a:cs typeface="Arial" panose="020B0604020202020204" pitchFamily="34" charset="0"/>
              </a:rPr>
              <a:t>Toplum</a:t>
            </a:r>
            <a:r>
              <a:rPr lang="en-US" sz="4400" b="1" kern="100" cap="none" dirty="0">
                <a:effectLst/>
                <a:latin typeface="Arial" panose="020B0604020202020204" pitchFamily="34" charset="0"/>
                <a:ea typeface="Calibri" panose="020F0502020204030204" pitchFamily="34" charset="0"/>
                <a:cs typeface="Arial" panose="020B0604020202020204" pitchFamily="34" charset="0"/>
              </a:rPr>
              <a:t> </a:t>
            </a:r>
            <a:r>
              <a:rPr lang="tr-TR" sz="4400" kern="100" cap="none" dirty="0">
                <a:latin typeface="Arial" panose="020B0604020202020204" pitchFamily="34" charset="0"/>
                <a:ea typeface="Calibri" panose="020F0502020204030204" pitchFamily="34" charset="0"/>
                <a:cs typeface="Arial" panose="020B0604020202020204" pitchFamily="34" charset="0"/>
              </a:rPr>
              <a:t>K</a:t>
            </a:r>
            <a:r>
              <a:rPr lang="en-US" sz="4400" b="1" kern="100" cap="none" dirty="0" err="1">
                <a:effectLst/>
                <a:latin typeface="Arial" panose="020B0604020202020204" pitchFamily="34" charset="0"/>
                <a:ea typeface="Calibri" panose="020F0502020204030204" pitchFamily="34" charset="0"/>
                <a:cs typeface="Arial" panose="020B0604020202020204" pitchFamily="34" charset="0"/>
              </a:rPr>
              <a:t>avrami</a:t>
            </a:r>
            <a:br>
              <a:rPr lang="en-US" sz="3600" kern="100" cap="none" dirty="0">
                <a:effectLst/>
                <a:latin typeface="Calibri" panose="020F0502020204030204" pitchFamily="34" charset="0"/>
                <a:ea typeface="Calibri" panose="020F0502020204030204" pitchFamily="34" charset="0"/>
                <a:cs typeface="Times New Roman" panose="02020603050405020304" pitchFamily="18" charset="0"/>
              </a:rPr>
            </a:br>
            <a:r>
              <a:rPr lang="tr-TR" kern="100" cap="none" dirty="0">
                <a:latin typeface="+mn-lt"/>
                <a:ea typeface="Calibri" panose="020F0502020204030204" pitchFamily="34" charset="0"/>
                <a:cs typeface="Times New Roman" panose="02020603050405020304" pitchFamily="18" charset="0"/>
              </a:rPr>
              <a:t>T</a:t>
            </a:r>
            <a:r>
              <a:rPr lang="en-US" sz="3600" b="1" kern="100" cap="none" dirty="0" err="1">
                <a:effectLst/>
                <a:latin typeface="+mn-lt"/>
                <a:ea typeface="Calibri" panose="020F0502020204030204" pitchFamily="34" charset="0"/>
                <a:cs typeface="Times New Roman" panose="02020603050405020304" pitchFamily="18" charset="0"/>
              </a:rPr>
              <a:t>oplumun</a:t>
            </a:r>
            <a:r>
              <a:rPr lang="en-US" sz="3600" b="1" kern="100" cap="none" dirty="0">
                <a:effectLst/>
                <a:latin typeface="+mn-lt"/>
                <a:ea typeface="Calibri" panose="020F0502020204030204" pitchFamily="34" charset="0"/>
                <a:cs typeface="Times New Roman" panose="02020603050405020304" pitchFamily="18" charset="0"/>
              </a:rPr>
              <a:t> </a:t>
            </a:r>
            <a:r>
              <a:rPr lang="tr-TR" kern="100" cap="none" dirty="0">
                <a:latin typeface="+mn-lt"/>
                <a:ea typeface="Calibri" panose="020F0502020204030204" pitchFamily="34" charset="0"/>
                <a:cs typeface="Times New Roman" panose="02020603050405020304" pitchFamily="18" charset="0"/>
              </a:rPr>
              <a:t>T</a:t>
            </a:r>
            <a:r>
              <a:rPr lang="en-US" sz="3600" b="1" kern="100" cap="none" dirty="0" err="1">
                <a:effectLst/>
                <a:latin typeface="+mn-lt"/>
                <a:ea typeface="Calibri" panose="020F0502020204030204" pitchFamily="34" charset="0"/>
                <a:cs typeface="Times New Roman" panose="02020603050405020304" pitchFamily="18" charset="0"/>
              </a:rPr>
              <a:t>anımı</a:t>
            </a:r>
            <a:r>
              <a:rPr lang="en-US" sz="3600" b="1" kern="100" cap="none" dirty="0">
                <a:effectLst/>
                <a:latin typeface="+mn-lt"/>
                <a:ea typeface="Calibri" panose="020F0502020204030204" pitchFamily="34" charset="0"/>
                <a:cs typeface="Times New Roman" panose="02020603050405020304" pitchFamily="18" charset="0"/>
              </a:rPr>
              <a:t> </a:t>
            </a:r>
            <a:r>
              <a:rPr lang="en-US" sz="3600" b="1" kern="100" cap="none" dirty="0" err="1">
                <a:effectLst/>
                <a:latin typeface="+mn-lt"/>
                <a:ea typeface="Calibri" panose="020F0502020204030204" pitchFamily="34" charset="0"/>
                <a:cs typeface="Times New Roman" panose="02020603050405020304" pitchFamily="18" charset="0"/>
              </a:rPr>
              <a:t>ve</a:t>
            </a:r>
            <a:r>
              <a:rPr lang="en-US" sz="3600" b="1" kern="100" cap="none" dirty="0">
                <a:effectLst/>
                <a:latin typeface="+mn-lt"/>
                <a:ea typeface="Calibri" panose="020F0502020204030204" pitchFamily="34" charset="0"/>
                <a:cs typeface="Times New Roman" panose="02020603050405020304" pitchFamily="18" charset="0"/>
              </a:rPr>
              <a:t> </a:t>
            </a:r>
            <a:r>
              <a:rPr lang="tr-TR" kern="100" cap="none" dirty="0">
                <a:latin typeface="+mn-lt"/>
                <a:ea typeface="Calibri" panose="020F0502020204030204" pitchFamily="34" charset="0"/>
                <a:cs typeface="Times New Roman" panose="02020603050405020304" pitchFamily="18" charset="0"/>
              </a:rPr>
              <a:t>T</a:t>
            </a:r>
            <a:r>
              <a:rPr lang="en-US" sz="3600" b="1" kern="100" cap="none" dirty="0" err="1">
                <a:effectLst/>
                <a:latin typeface="+mn-lt"/>
                <a:ea typeface="Calibri" panose="020F0502020204030204" pitchFamily="34" charset="0"/>
                <a:cs typeface="Times New Roman" panose="02020603050405020304" pitchFamily="18" charset="0"/>
              </a:rPr>
              <a:t>emel</a:t>
            </a:r>
            <a:r>
              <a:rPr lang="en-US" sz="3600" b="1" kern="100" cap="none" dirty="0">
                <a:effectLst/>
                <a:latin typeface="+mn-lt"/>
                <a:ea typeface="Calibri" panose="020F0502020204030204" pitchFamily="34" charset="0"/>
                <a:cs typeface="Times New Roman" panose="02020603050405020304" pitchFamily="18" charset="0"/>
              </a:rPr>
              <a:t> </a:t>
            </a:r>
            <a:r>
              <a:rPr lang="tr-TR" kern="100" cap="none" dirty="0">
                <a:latin typeface="+mn-lt"/>
                <a:ea typeface="Calibri" panose="020F0502020204030204" pitchFamily="34" charset="0"/>
                <a:cs typeface="Times New Roman" panose="02020603050405020304" pitchFamily="18" charset="0"/>
              </a:rPr>
              <a:t>Ö</a:t>
            </a:r>
            <a:r>
              <a:rPr lang="en-US" sz="3600" b="1" kern="100" cap="none" dirty="0" err="1">
                <a:effectLst/>
                <a:latin typeface="+mn-lt"/>
                <a:ea typeface="Calibri" panose="020F0502020204030204" pitchFamily="34" charset="0"/>
                <a:cs typeface="Times New Roman" panose="02020603050405020304" pitchFamily="18" charset="0"/>
              </a:rPr>
              <a:t>zellikleri</a:t>
            </a:r>
            <a:br>
              <a:rPr lang="en-US" sz="3600" kern="100" cap="none" dirty="0">
                <a:effectLst/>
                <a:latin typeface="+mn-lt"/>
                <a:ea typeface="Calibri" panose="020F0502020204030204" pitchFamily="34" charset="0"/>
                <a:cs typeface="Times New Roman" panose="02020603050405020304" pitchFamily="18" charset="0"/>
              </a:rPr>
            </a:br>
            <a:r>
              <a:rPr lang="tr-TR" sz="2000" kern="100" cap="none" dirty="0">
                <a:latin typeface="+mn-lt"/>
                <a:ea typeface="Calibri" panose="020F0502020204030204" pitchFamily="34" charset="0"/>
                <a:cs typeface="Arial" panose="020B0604020202020204" pitchFamily="34" charset="0"/>
              </a:rPr>
              <a:t>T</a:t>
            </a:r>
            <a:r>
              <a:rPr lang="en-US" sz="2000" kern="100" cap="none" dirty="0" err="1">
                <a:effectLst/>
                <a:latin typeface="+mn-lt"/>
                <a:ea typeface="Calibri" panose="020F0502020204030204" pitchFamily="34" charset="0"/>
                <a:cs typeface="Arial" panose="020B0604020202020204" pitchFamily="34" charset="0"/>
              </a:rPr>
              <a:t>oplum</a:t>
            </a:r>
            <a:r>
              <a:rPr lang="en-US" sz="2000" kern="100" cap="none" dirty="0">
                <a:effectLst/>
                <a:latin typeface="+mn-lt"/>
                <a:ea typeface="Calibri" panose="020F0502020204030204" pitchFamily="34" charset="0"/>
                <a:cs typeface="Arial" panose="020B0604020202020204" pitchFamily="34" charset="0"/>
              </a:rPr>
              <a:t>, </a:t>
            </a:r>
            <a:r>
              <a:rPr lang="en-US" sz="2000" kern="100" cap="none" dirty="0" err="1">
                <a:effectLst/>
                <a:latin typeface="+mn-lt"/>
                <a:ea typeface="Calibri" panose="020F0502020204030204" pitchFamily="34" charset="0"/>
                <a:cs typeface="Arial" panose="020B0604020202020204" pitchFamily="34" charset="0"/>
              </a:rPr>
              <a:t>belirli</a:t>
            </a:r>
            <a:r>
              <a:rPr lang="en-US" sz="2000" kern="100" cap="none" dirty="0">
                <a:effectLst/>
                <a:latin typeface="+mn-lt"/>
                <a:ea typeface="Calibri" panose="020F0502020204030204" pitchFamily="34" charset="0"/>
                <a:cs typeface="Arial" panose="020B0604020202020204" pitchFamily="34" charset="0"/>
              </a:rPr>
              <a:t> </a:t>
            </a:r>
            <a:r>
              <a:rPr lang="en-US" sz="2000" kern="100" cap="none" dirty="0" err="1">
                <a:effectLst/>
                <a:latin typeface="+mn-lt"/>
                <a:ea typeface="Calibri" panose="020F0502020204030204" pitchFamily="34" charset="0"/>
                <a:cs typeface="Arial" panose="020B0604020202020204" pitchFamily="34" charset="0"/>
              </a:rPr>
              <a:t>bir</a:t>
            </a:r>
            <a:r>
              <a:rPr lang="en-US" sz="2000" kern="100" cap="none" dirty="0">
                <a:effectLst/>
                <a:latin typeface="+mn-lt"/>
                <a:ea typeface="Calibri" panose="020F0502020204030204" pitchFamily="34" charset="0"/>
                <a:cs typeface="Arial" panose="020B0604020202020204" pitchFamily="34" charset="0"/>
              </a:rPr>
              <a:t> </a:t>
            </a:r>
            <a:r>
              <a:rPr lang="en-US" sz="2000" kern="100" cap="none" dirty="0" err="1">
                <a:effectLst/>
                <a:latin typeface="+mn-lt"/>
                <a:ea typeface="Calibri" panose="020F0502020204030204" pitchFamily="34" charset="0"/>
                <a:cs typeface="Arial" panose="020B0604020202020204" pitchFamily="34" charset="0"/>
              </a:rPr>
              <a:t>coğrafyada</a:t>
            </a:r>
            <a:r>
              <a:rPr lang="en-US" sz="2000" kern="100" cap="none" dirty="0">
                <a:effectLst/>
                <a:latin typeface="+mn-lt"/>
                <a:ea typeface="Calibri" panose="020F0502020204030204" pitchFamily="34" charset="0"/>
                <a:cs typeface="Arial" panose="020B0604020202020204" pitchFamily="34" charset="0"/>
              </a:rPr>
              <a:t> </a:t>
            </a:r>
            <a:r>
              <a:rPr lang="en-US" sz="2000" kern="100" cap="none" dirty="0" err="1">
                <a:effectLst/>
                <a:latin typeface="+mn-lt"/>
                <a:ea typeface="Calibri" panose="020F0502020204030204" pitchFamily="34" charset="0"/>
                <a:cs typeface="Arial" panose="020B0604020202020204" pitchFamily="34" charset="0"/>
              </a:rPr>
              <a:t>yaşayan</a:t>
            </a:r>
            <a:r>
              <a:rPr lang="en-US" sz="2000" kern="100" cap="none" dirty="0">
                <a:effectLst/>
                <a:latin typeface="+mn-lt"/>
                <a:ea typeface="Calibri" panose="020F0502020204030204" pitchFamily="34" charset="0"/>
                <a:cs typeface="Arial" panose="020B0604020202020204" pitchFamily="34" charset="0"/>
              </a:rPr>
              <a:t>, </a:t>
            </a:r>
            <a:r>
              <a:rPr lang="en-US" sz="2000" kern="100" cap="none" dirty="0" err="1">
                <a:effectLst/>
                <a:latin typeface="+mn-lt"/>
                <a:ea typeface="Calibri" panose="020F0502020204030204" pitchFamily="34" charset="0"/>
                <a:cs typeface="Arial" panose="020B0604020202020204" pitchFamily="34" charset="0"/>
              </a:rPr>
              <a:t>ortak</a:t>
            </a:r>
            <a:r>
              <a:rPr lang="en-US" sz="2000" kern="100" cap="none" dirty="0">
                <a:effectLst/>
                <a:latin typeface="+mn-lt"/>
                <a:ea typeface="Calibri" panose="020F0502020204030204" pitchFamily="34" charset="0"/>
                <a:cs typeface="Arial" panose="020B0604020202020204" pitchFamily="34" charset="0"/>
              </a:rPr>
              <a:t> </a:t>
            </a:r>
            <a:r>
              <a:rPr lang="en-US" sz="2000" kern="100" cap="none" dirty="0" err="1">
                <a:effectLst/>
                <a:latin typeface="+mn-lt"/>
                <a:ea typeface="Calibri" panose="020F0502020204030204" pitchFamily="34" charset="0"/>
                <a:cs typeface="Arial" panose="020B0604020202020204" pitchFamily="34" charset="0"/>
              </a:rPr>
              <a:t>bir</a:t>
            </a:r>
            <a:r>
              <a:rPr lang="en-US" sz="2000" kern="100" cap="none" dirty="0">
                <a:effectLst/>
                <a:latin typeface="+mn-lt"/>
                <a:ea typeface="Calibri" panose="020F0502020204030204" pitchFamily="34" charset="0"/>
                <a:cs typeface="Arial" panose="020B0604020202020204" pitchFamily="34" charset="0"/>
              </a:rPr>
              <a:t> </a:t>
            </a:r>
            <a:r>
              <a:rPr lang="en-US" sz="2000" kern="100" cap="none" dirty="0" err="1">
                <a:effectLst/>
                <a:latin typeface="+mn-lt"/>
                <a:ea typeface="Calibri" panose="020F0502020204030204" pitchFamily="34" charset="0"/>
                <a:cs typeface="Arial" panose="020B0604020202020204" pitchFamily="34" charset="0"/>
              </a:rPr>
              <a:t>kültürü</a:t>
            </a:r>
            <a:r>
              <a:rPr lang="en-US" sz="2000" kern="100" cap="none" dirty="0">
                <a:effectLst/>
                <a:latin typeface="+mn-lt"/>
                <a:ea typeface="Calibri" panose="020F0502020204030204" pitchFamily="34" charset="0"/>
                <a:cs typeface="Arial" panose="020B0604020202020204" pitchFamily="34" charset="0"/>
              </a:rPr>
              <a:t>, </a:t>
            </a:r>
            <a:r>
              <a:rPr lang="en-US" sz="2000" kern="100" cap="none" dirty="0" err="1">
                <a:effectLst/>
                <a:latin typeface="+mn-lt"/>
                <a:ea typeface="Calibri" panose="020F0502020204030204" pitchFamily="34" charset="0"/>
                <a:cs typeface="Arial" panose="020B0604020202020204" pitchFamily="34" charset="0"/>
              </a:rPr>
              <a:t>dili</a:t>
            </a:r>
            <a:r>
              <a:rPr lang="en-US" sz="2000" kern="100" cap="none" dirty="0">
                <a:effectLst/>
                <a:latin typeface="+mn-lt"/>
                <a:ea typeface="Calibri" panose="020F0502020204030204" pitchFamily="34" charset="0"/>
                <a:cs typeface="Arial" panose="020B0604020202020204" pitchFamily="34" charset="0"/>
              </a:rPr>
              <a:t>, </a:t>
            </a:r>
            <a:r>
              <a:rPr lang="en-US" sz="2000" kern="100" cap="none" dirty="0" err="1">
                <a:effectLst/>
                <a:latin typeface="+mn-lt"/>
                <a:ea typeface="Calibri" panose="020F0502020204030204" pitchFamily="34" charset="0"/>
                <a:cs typeface="Arial" panose="020B0604020202020204" pitchFamily="34" charset="0"/>
              </a:rPr>
              <a:t>değerleri</a:t>
            </a:r>
            <a:r>
              <a:rPr lang="en-US" sz="2000" kern="100" cap="none" dirty="0">
                <a:effectLst/>
                <a:latin typeface="+mn-lt"/>
                <a:ea typeface="Calibri" panose="020F0502020204030204" pitchFamily="34" charset="0"/>
                <a:cs typeface="Arial" panose="020B0604020202020204" pitchFamily="34" charset="0"/>
              </a:rPr>
              <a:t> </a:t>
            </a:r>
            <a:r>
              <a:rPr lang="en-US" sz="2000" kern="100" cap="none" dirty="0" err="1">
                <a:effectLst/>
                <a:latin typeface="+mn-lt"/>
                <a:ea typeface="Calibri" panose="020F0502020204030204" pitchFamily="34" charset="0"/>
                <a:cs typeface="Arial" panose="020B0604020202020204" pitchFamily="34" charset="0"/>
              </a:rPr>
              <a:t>ve</a:t>
            </a:r>
            <a:r>
              <a:rPr lang="en-US" sz="2000" kern="100" cap="none" dirty="0">
                <a:effectLst/>
                <a:latin typeface="+mn-lt"/>
                <a:ea typeface="Calibri" panose="020F0502020204030204" pitchFamily="34" charset="0"/>
                <a:cs typeface="Arial" panose="020B0604020202020204" pitchFamily="34" charset="0"/>
              </a:rPr>
              <a:t> </a:t>
            </a:r>
            <a:r>
              <a:rPr lang="en-US" sz="2000" kern="100" cap="none" dirty="0" err="1">
                <a:effectLst/>
                <a:latin typeface="+mn-lt"/>
                <a:ea typeface="Calibri" panose="020F0502020204030204" pitchFamily="34" charset="0"/>
                <a:cs typeface="Arial" panose="020B0604020202020204" pitchFamily="34" charset="0"/>
              </a:rPr>
              <a:t>kurumları</a:t>
            </a:r>
            <a:r>
              <a:rPr lang="en-US" sz="2000" kern="100" cap="none" dirty="0">
                <a:effectLst/>
                <a:latin typeface="+mn-lt"/>
                <a:ea typeface="Calibri" panose="020F0502020204030204" pitchFamily="34" charset="0"/>
                <a:cs typeface="Arial" panose="020B0604020202020204" pitchFamily="34" charset="0"/>
              </a:rPr>
              <a:t> </a:t>
            </a:r>
            <a:r>
              <a:rPr lang="en-US" sz="2000" kern="100" cap="none" dirty="0" err="1">
                <a:effectLst/>
                <a:latin typeface="+mn-lt"/>
                <a:ea typeface="Calibri" panose="020F0502020204030204" pitchFamily="34" charset="0"/>
                <a:cs typeface="Arial" panose="020B0604020202020204" pitchFamily="34" charset="0"/>
              </a:rPr>
              <a:t>paylaşan</a:t>
            </a:r>
            <a:r>
              <a:rPr lang="en-US" sz="2000" kern="100" cap="none" dirty="0">
                <a:effectLst/>
                <a:latin typeface="+mn-lt"/>
                <a:ea typeface="Calibri" panose="020F0502020204030204" pitchFamily="34" charset="0"/>
                <a:cs typeface="Arial" panose="020B0604020202020204" pitchFamily="34" charset="0"/>
              </a:rPr>
              <a:t> </a:t>
            </a:r>
            <a:r>
              <a:rPr lang="en-US" sz="2000" kern="100" cap="none" dirty="0" err="1">
                <a:effectLst/>
                <a:latin typeface="+mn-lt"/>
                <a:ea typeface="Calibri" panose="020F0502020204030204" pitchFamily="34" charset="0"/>
                <a:cs typeface="Arial" panose="020B0604020202020204" pitchFamily="34" charset="0"/>
              </a:rPr>
              <a:t>insan</a:t>
            </a:r>
            <a:r>
              <a:rPr lang="en-US" sz="2000" kern="100" cap="none" dirty="0">
                <a:effectLst/>
                <a:latin typeface="+mn-lt"/>
                <a:ea typeface="Calibri" panose="020F0502020204030204" pitchFamily="34" charset="0"/>
                <a:cs typeface="Arial" panose="020B0604020202020204" pitchFamily="34" charset="0"/>
              </a:rPr>
              <a:t> </a:t>
            </a:r>
            <a:r>
              <a:rPr lang="en-US" sz="2000" kern="100" cap="none" dirty="0" err="1">
                <a:effectLst/>
                <a:latin typeface="+mn-lt"/>
                <a:ea typeface="Calibri" panose="020F0502020204030204" pitchFamily="34" charset="0"/>
                <a:cs typeface="Arial" panose="020B0604020202020204" pitchFamily="34" charset="0"/>
              </a:rPr>
              <a:t>topluluğudur</a:t>
            </a:r>
            <a:r>
              <a:rPr lang="en-US" sz="2000" kern="100" cap="none" dirty="0">
                <a:effectLst/>
                <a:latin typeface="+mn-lt"/>
                <a:ea typeface="Calibri" panose="020F0502020204030204" pitchFamily="34" charset="0"/>
                <a:cs typeface="Arial" panose="020B0604020202020204" pitchFamily="34" charset="0"/>
              </a:rPr>
              <a:t>.</a:t>
            </a:r>
            <a:br>
              <a:rPr lang="en-US" sz="2000" kern="100" cap="none" dirty="0">
                <a:effectLst/>
                <a:latin typeface="+mn-lt"/>
                <a:ea typeface="Calibri" panose="020F0502020204030204" pitchFamily="34" charset="0"/>
                <a:cs typeface="Arial" panose="020B0604020202020204" pitchFamily="34" charset="0"/>
              </a:rPr>
            </a:br>
            <a:r>
              <a:rPr lang="en-US" sz="2000" kern="100" cap="none" dirty="0" err="1">
                <a:effectLst/>
                <a:latin typeface="+mn-lt"/>
                <a:ea typeface="Calibri" panose="020F0502020204030204" pitchFamily="34" charset="0"/>
                <a:cs typeface="Arial" panose="020B0604020202020204" pitchFamily="34" charset="0"/>
              </a:rPr>
              <a:t>Toplumu</a:t>
            </a:r>
            <a:r>
              <a:rPr lang="en-US" sz="2000" kern="100" cap="none" dirty="0">
                <a:effectLst/>
                <a:latin typeface="+mn-lt"/>
                <a:ea typeface="Calibri" panose="020F0502020204030204" pitchFamily="34" charset="0"/>
                <a:cs typeface="Arial" panose="020B0604020202020204" pitchFamily="34" charset="0"/>
              </a:rPr>
              <a:t> </a:t>
            </a:r>
            <a:r>
              <a:rPr lang="en-US" sz="2000" kern="100" cap="none" dirty="0" err="1">
                <a:effectLst/>
                <a:latin typeface="+mn-lt"/>
                <a:ea typeface="Calibri" panose="020F0502020204030204" pitchFamily="34" charset="0"/>
                <a:cs typeface="Arial" panose="020B0604020202020204" pitchFamily="34" charset="0"/>
              </a:rPr>
              <a:t>bir</a:t>
            </a:r>
            <a:r>
              <a:rPr lang="en-US" sz="2000" kern="100" cap="none" dirty="0">
                <a:effectLst/>
                <a:latin typeface="+mn-lt"/>
                <a:ea typeface="Calibri" panose="020F0502020204030204" pitchFamily="34" charset="0"/>
                <a:cs typeface="Arial" panose="020B0604020202020204" pitchFamily="34" charset="0"/>
              </a:rPr>
              <a:t> </a:t>
            </a:r>
            <a:r>
              <a:rPr lang="en-US" sz="2000" kern="100" cap="none" dirty="0" err="1">
                <a:effectLst/>
                <a:latin typeface="+mn-lt"/>
                <a:ea typeface="Calibri" panose="020F0502020204030204" pitchFamily="34" charset="0"/>
                <a:cs typeface="Arial" panose="020B0604020202020204" pitchFamily="34" charset="0"/>
              </a:rPr>
              <a:t>arada</a:t>
            </a:r>
            <a:r>
              <a:rPr lang="en-US" sz="2000" kern="100" cap="none" dirty="0">
                <a:effectLst/>
                <a:latin typeface="+mn-lt"/>
                <a:ea typeface="Calibri" panose="020F0502020204030204" pitchFamily="34" charset="0"/>
                <a:cs typeface="Arial" panose="020B0604020202020204" pitchFamily="34" charset="0"/>
              </a:rPr>
              <a:t> </a:t>
            </a:r>
            <a:r>
              <a:rPr lang="en-US" sz="2000" kern="100" cap="none" dirty="0" err="1">
                <a:effectLst/>
                <a:latin typeface="+mn-lt"/>
                <a:ea typeface="Calibri" panose="020F0502020204030204" pitchFamily="34" charset="0"/>
                <a:cs typeface="Arial" panose="020B0604020202020204" pitchFamily="34" charset="0"/>
              </a:rPr>
              <a:t>tutan</a:t>
            </a:r>
            <a:r>
              <a:rPr lang="en-US" sz="2000" kern="100" cap="none" dirty="0">
                <a:effectLst/>
                <a:latin typeface="+mn-lt"/>
                <a:ea typeface="Calibri" panose="020F0502020204030204" pitchFamily="34" charset="0"/>
                <a:cs typeface="Arial" panose="020B0604020202020204" pitchFamily="34" charset="0"/>
              </a:rPr>
              <a:t> </a:t>
            </a:r>
            <a:r>
              <a:rPr lang="en-US" sz="2000" kern="100" cap="none" dirty="0" err="1">
                <a:effectLst/>
                <a:latin typeface="+mn-lt"/>
                <a:ea typeface="Calibri" panose="020F0502020204030204" pitchFamily="34" charset="0"/>
                <a:cs typeface="Arial" panose="020B0604020202020204" pitchFamily="34" charset="0"/>
              </a:rPr>
              <a:t>şey</a:t>
            </a:r>
            <a:r>
              <a:rPr lang="en-US" sz="2000" kern="100" cap="none" dirty="0">
                <a:effectLst/>
                <a:latin typeface="+mn-lt"/>
                <a:ea typeface="Calibri" panose="020F0502020204030204" pitchFamily="34" charset="0"/>
                <a:cs typeface="Arial" panose="020B0604020202020204" pitchFamily="34" charset="0"/>
              </a:rPr>
              <a:t> </a:t>
            </a:r>
            <a:r>
              <a:rPr lang="en-US" sz="2000" kern="100" cap="none" dirty="0" err="1">
                <a:effectLst/>
                <a:latin typeface="+mn-lt"/>
                <a:ea typeface="Calibri" panose="020F0502020204030204" pitchFamily="34" charset="0"/>
                <a:cs typeface="Arial" panose="020B0604020202020204" pitchFamily="34" charset="0"/>
              </a:rPr>
              <a:t>yalnızca</a:t>
            </a:r>
            <a:r>
              <a:rPr lang="en-US" sz="2000" kern="100" cap="none" dirty="0">
                <a:effectLst/>
                <a:latin typeface="+mn-lt"/>
                <a:ea typeface="Calibri" panose="020F0502020204030204" pitchFamily="34" charset="0"/>
                <a:cs typeface="Arial" panose="020B0604020202020204" pitchFamily="34" charset="0"/>
              </a:rPr>
              <a:t> </a:t>
            </a:r>
            <a:r>
              <a:rPr lang="en-US" sz="2000" kern="100" cap="none" dirty="0" err="1">
                <a:effectLst/>
                <a:latin typeface="+mn-lt"/>
                <a:ea typeface="Calibri" panose="020F0502020204030204" pitchFamily="34" charset="0"/>
                <a:cs typeface="Arial" panose="020B0604020202020204" pitchFamily="34" charset="0"/>
              </a:rPr>
              <a:t>coğrafi</a:t>
            </a:r>
            <a:r>
              <a:rPr lang="en-US" sz="2000" kern="100" cap="none" dirty="0">
                <a:effectLst/>
                <a:latin typeface="+mn-lt"/>
                <a:ea typeface="Calibri" panose="020F0502020204030204" pitchFamily="34" charset="0"/>
                <a:cs typeface="Arial" panose="020B0604020202020204" pitchFamily="34" charset="0"/>
              </a:rPr>
              <a:t> </a:t>
            </a:r>
            <a:r>
              <a:rPr lang="en-US" sz="2000" kern="100" cap="none" dirty="0" err="1">
                <a:effectLst/>
                <a:latin typeface="+mn-lt"/>
                <a:ea typeface="Calibri" panose="020F0502020204030204" pitchFamily="34" charset="0"/>
                <a:cs typeface="Arial" panose="020B0604020202020204" pitchFamily="34" charset="0"/>
              </a:rPr>
              <a:t>yakınlık</a:t>
            </a:r>
            <a:r>
              <a:rPr lang="en-US" sz="2000" kern="100" cap="none" dirty="0">
                <a:effectLst/>
                <a:latin typeface="+mn-lt"/>
                <a:ea typeface="Calibri" panose="020F0502020204030204" pitchFamily="34" charset="0"/>
                <a:cs typeface="Arial" panose="020B0604020202020204" pitchFamily="34" charset="0"/>
              </a:rPr>
              <a:t> </a:t>
            </a:r>
            <a:r>
              <a:rPr lang="en-US" sz="2000" kern="100" cap="none" dirty="0" err="1">
                <a:effectLst/>
                <a:latin typeface="+mn-lt"/>
                <a:ea typeface="Calibri" panose="020F0502020204030204" pitchFamily="34" charset="0"/>
                <a:cs typeface="Arial" panose="020B0604020202020204" pitchFamily="34" charset="0"/>
              </a:rPr>
              <a:t>değil</a:t>
            </a:r>
            <a:r>
              <a:rPr lang="en-US" sz="2000" kern="100" cap="none" dirty="0">
                <a:effectLst/>
                <a:latin typeface="+mn-lt"/>
                <a:ea typeface="Calibri" panose="020F0502020204030204" pitchFamily="34" charset="0"/>
                <a:cs typeface="Arial" panose="020B0604020202020204" pitchFamily="34" charset="0"/>
              </a:rPr>
              <a:t>, </a:t>
            </a:r>
            <a:r>
              <a:rPr lang="en-US" sz="2000" b="1" kern="100" cap="none" dirty="0" err="1">
                <a:effectLst/>
                <a:latin typeface="+mn-lt"/>
                <a:ea typeface="Calibri" panose="020F0502020204030204" pitchFamily="34" charset="0"/>
                <a:cs typeface="Arial" panose="020B0604020202020204" pitchFamily="34" charset="0"/>
              </a:rPr>
              <a:t>ortak</a:t>
            </a:r>
            <a:r>
              <a:rPr lang="en-US" sz="2000" b="1" kern="100" cap="none" dirty="0">
                <a:effectLst/>
                <a:latin typeface="+mn-lt"/>
                <a:ea typeface="Calibri" panose="020F0502020204030204" pitchFamily="34" charset="0"/>
                <a:cs typeface="Arial" panose="020B0604020202020204" pitchFamily="34" charset="0"/>
              </a:rPr>
              <a:t> </a:t>
            </a:r>
            <a:r>
              <a:rPr lang="en-US" sz="2000" b="1" kern="100" cap="none" dirty="0" err="1">
                <a:effectLst/>
                <a:latin typeface="+mn-lt"/>
                <a:ea typeface="Calibri" panose="020F0502020204030204" pitchFamily="34" charset="0"/>
                <a:cs typeface="Arial" panose="020B0604020202020204" pitchFamily="34" charset="0"/>
              </a:rPr>
              <a:t>anlamlar</a:t>
            </a:r>
            <a:r>
              <a:rPr lang="en-US" sz="2000" b="1" kern="100" cap="none" dirty="0">
                <a:effectLst/>
                <a:latin typeface="+mn-lt"/>
                <a:ea typeface="Calibri" panose="020F0502020204030204" pitchFamily="34" charset="0"/>
                <a:cs typeface="Arial" panose="020B0604020202020204" pitchFamily="34" charset="0"/>
              </a:rPr>
              <a:t>, </a:t>
            </a:r>
            <a:r>
              <a:rPr lang="en-US" sz="2000" b="1" kern="100" cap="none" dirty="0" err="1">
                <a:effectLst/>
                <a:latin typeface="+mn-lt"/>
                <a:ea typeface="Calibri" panose="020F0502020204030204" pitchFamily="34" charset="0"/>
                <a:cs typeface="Arial" panose="020B0604020202020204" pitchFamily="34" charset="0"/>
              </a:rPr>
              <a:t>normlar</a:t>
            </a:r>
            <a:r>
              <a:rPr lang="en-US" sz="2000" b="1" kern="100" cap="none" dirty="0">
                <a:effectLst/>
                <a:latin typeface="+mn-lt"/>
                <a:ea typeface="Calibri" panose="020F0502020204030204" pitchFamily="34" charset="0"/>
                <a:cs typeface="Arial" panose="020B0604020202020204" pitchFamily="34" charset="0"/>
              </a:rPr>
              <a:t> </a:t>
            </a:r>
            <a:r>
              <a:rPr lang="en-US" sz="2000" b="1" kern="100" cap="none" dirty="0" err="1">
                <a:effectLst/>
                <a:latin typeface="+mn-lt"/>
                <a:ea typeface="Calibri" panose="020F0502020204030204" pitchFamily="34" charset="0"/>
                <a:cs typeface="Arial" panose="020B0604020202020204" pitchFamily="34" charset="0"/>
              </a:rPr>
              <a:t>ve</a:t>
            </a:r>
            <a:r>
              <a:rPr lang="en-US" sz="2000" b="1" kern="100" cap="none" dirty="0">
                <a:effectLst/>
                <a:latin typeface="+mn-lt"/>
                <a:ea typeface="Calibri" panose="020F0502020204030204" pitchFamily="34" charset="0"/>
                <a:cs typeface="Arial" panose="020B0604020202020204" pitchFamily="34" charset="0"/>
              </a:rPr>
              <a:t> </a:t>
            </a:r>
            <a:r>
              <a:rPr lang="en-US" sz="2000" b="1" kern="100" cap="none" dirty="0" err="1">
                <a:effectLst/>
                <a:latin typeface="+mn-lt"/>
                <a:ea typeface="Calibri" panose="020F0502020204030204" pitchFamily="34" charset="0"/>
                <a:cs typeface="Arial" panose="020B0604020202020204" pitchFamily="34" charset="0"/>
              </a:rPr>
              <a:t>değerler</a:t>
            </a:r>
            <a:r>
              <a:rPr lang="en-US" sz="2000" kern="100" cap="none" dirty="0" err="1">
                <a:effectLst/>
                <a:latin typeface="+mn-lt"/>
                <a:ea typeface="Calibri" panose="020F0502020204030204" pitchFamily="34" charset="0"/>
                <a:cs typeface="Arial" panose="020B0604020202020204" pitchFamily="34" charset="0"/>
              </a:rPr>
              <a:t>dir</a:t>
            </a:r>
            <a:r>
              <a:rPr lang="en-US" sz="2000" kern="100" cap="none" dirty="0">
                <a:effectLst/>
                <a:latin typeface="+mn-lt"/>
                <a:ea typeface="Calibri" panose="020F0502020204030204" pitchFamily="34" charset="0"/>
                <a:cs typeface="Arial" panose="020B0604020202020204" pitchFamily="34" charset="0"/>
              </a:rPr>
              <a:t>.</a:t>
            </a:r>
            <a:br>
              <a:rPr lang="en-US" sz="3600" kern="100" cap="none" dirty="0">
                <a:effectLst/>
                <a:latin typeface="+mn-lt"/>
                <a:ea typeface="Calibri" panose="020F0502020204030204" pitchFamily="34" charset="0"/>
                <a:cs typeface="Times New Roman" panose="02020603050405020304" pitchFamily="18" charset="0"/>
              </a:rPr>
            </a:br>
            <a:endParaRPr lang="en-US" cap="none" dirty="0">
              <a:latin typeface="+mn-lt"/>
            </a:endParaRPr>
          </a:p>
        </p:txBody>
      </p:sp>
    </p:spTree>
    <p:extLst>
      <p:ext uri="{BB962C8B-B14F-4D97-AF65-F5344CB8AC3E}">
        <p14:creationId xmlns:p14="http://schemas.microsoft.com/office/powerpoint/2010/main" val="2906491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914399" y="830424"/>
            <a:ext cx="9946433" cy="5211559"/>
          </a:xfrm>
        </p:spPr>
        <p:txBody>
          <a:bodyPr>
            <a:normAutofit/>
          </a:bodyPr>
          <a:lstStyle/>
          <a:p>
            <a:pPr marL="342900" indent="-342900">
              <a:buFont typeface="Wingdings" panose="05000000000000000000" pitchFamily="2" charset="2"/>
              <a:buChar char="Ø"/>
            </a:pPr>
            <a:r>
              <a:rPr lang="en-US" dirty="0">
                <a:cs typeface="Arial" panose="020B0604020202020204" pitchFamily="34" charset="0"/>
              </a:rPr>
              <a:t>Durkheim (1956) </a:t>
            </a:r>
            <a:r>
              <a:rPr lang="en-US" dirty="0" err="1">
                <a:cs typeface="Arial" panose="020B0604020202020204" pitchFamily="34" charset="0"/>
              </a:rPr>
              <a:t>toplumun</a:t>
            </a:r>
            <a:r>
              <a:rPr lang="en-US" dirty="0">
                <a:cs typeface="Arial" panose="020B0604020202020204" pitchFamily="34" charset="0"/>
              </a:rPr>
              <a:t>, </a:t>
            </a:r>
            <a:r>
              <a:rPr lang="en-US" dirty="0" err="1">
                <a:cs typeface="Arial" panose="020B0604020202020204" pitchFamily="34" charset="0"/>
              </a:rPr>
              <a:t>bireylerin</a:t>
            </a:r>
            <a:r>
              <a:rPr lang="en-US" dirty="0">
                <a:cs typeface="Arial" panose="020B0604020202020204" pitchFamily="34" charset="0"/>
              </a:rPr>
              <a:t> </a:t>
            </a:r>
            <a:r>
              <a:rPr lang="en-US" dirty="0" err="1">
                <a:cs typeface="Arial" panose="020B0604020202020204" pitchFamily="34" charset="0"/>
              </a:rPr>
              <a:t>üzerinde</a:t>
            </a:r>
            <a:r>
              <a:rPr lang="en-US" dirty="0">
                <a:cs typeface="Arial" panose="020B0604020202020204" pitchFamily="34" charset="0"/>
              </a:rPr>
              <a:t> </a:t>
            </a:r>
            <a:r>
              <a:rPr lang="en-US" dirty="0" err="1">
                <a:cs typeface="Arial" panose="020B0604020202020204" pitchFamily="34" charset="0"/>
              </a:rPr>
              <a:t>yer</a:t>
            </a:r>
            <a:r>
              <a:rPr lang="en-US" dirty="0">
                <a:cs typeface="Arial" panose="020B0604020202020204" pitchFamily="34" charset="0"/>
              </a:rPr>
              <a:t> </a:t>
            </a:r>
            <a:r>
              <a:rPr lang="en-US" dirty="0" err="1">
                <a:cs typeface="Arial" panose="020B0604020202020204" pitchFamily="34" charset="0"/>
              </a:rPr>
              <a:t>alan</a:t>
            </a:r>
            <a:r>
              <a:rPr lang="en-US" dirty="0">
                <a:cs typeface="Arial" panose="020B0604020202020204" pitchFamily="34" charset="0"/>
              </a:rPr>
              <a:t> “</a:t>
            </a:r>
            <a:r>
              <a:rPr lang="en-US" dirty="0" err="1">
                <a:cs typeface="Arial" panose="020B0604020202020204" pitchFamily="34" charset="0"/>
              </a:rPr>
              <a:t>kolektif</a:t>
            </a:r>
            <a:r>
              <a:rPr lang="en-US" dirty="0">
                <a:cs typeface="Arial" panose="020B0604020202020204" pitchFamily="34" charset="0"/>
              </a:rPr>
              <a:t> </a:t>
            </a:r>
            <a:r>
              <a:rPr lang="en-US" dirty="0" err="1">
                <a:cs typeface="Arial" panose="020B0604020202020204" pitchFamily="34" charset="0"/>
              </a:rPr>
              <a:t>bilinç</a:t>
            </a:r>
            <a:r>
              <a:rPr lang="en-US" dirty="0">
                <a:cs typeface="Arial" panose="020B0604020202020204" pitchFamily="34" charset="0"/>
              </a:rPr>
              <a:t>” </a:t>
            </a:r>
            <a:r>
              <a:rPr lang="en-US" dirty="0" err="1">
                <a:cs typeface="Arial" panose="020B0604020202020204" pitchFamily="34" charset="0"/>
              </a:rPr>
              <a:t>sayesinde</a:t>
            </a:r>
            <a:r>
              <a:rPr lang="en-US" dirty="0">
                <a:cs typeface="Arial" panose="020B0604020202020204" pitchFamily="34" charset="0"/>
              </a:rPr>
              <a:t> var </a:t>
            </a:r>
            <a:r>
              <a:rPr lang="en-US" dirty="0" err="1">
                <a:cs typeface="Arial" panose="020B0604020202020204" pitchFamily="34" charset="0"/>
              </a:rPr>
              <a:t>olduğunu</a:t>
            </a:r>
            <a:r>
              <a:rPr lang="en-US" dirty="0">
                <a:cs typeface="Arial" panose="020B0604020202020204" pitchFamily="34" charset="0"/>
              </a:rPr>
              <a:t> </a:t>
            </a:r>
            <a:r>
              <a:rPr lang="en-US" dirty="0" err="1">
                <a:cs typeface="Arial" panose="020B0604020202020204" pitchFamily="34" charset="0"/>
              </a:rPr>
              <a:t>söyler</a:t>
            </a:r>
            <a:r>
              <a:rPr lang="en-US" dirty="0">
                <a:cs typeface="Arial" panose="020B0604020202020204" pitchFamily="34" charset="0"/>
              </a:rPr>
              <a:t>. Bu </a:t>
            </a:r>
            <a:r>
              <a:rPr lang="en-US" dirty="0" err="1">
                <a:cs typeface="Arial" panose="020B0604020202020204" pitchFamily="34" charset="0"/>
              </a:rPr>
              <a:t>kolektif</a:t>
            </a:r>
            <a:r>
              <a:rPr lang="en-US" dirty="0">
                <a:cs typeface="Arial" panose="020B0604020202020204" pitchFamily="34" charset="0"/>
              </a:rPr>
              <a:t> </a:t>
            </a:r>
            <a:r>
              <a:rPr lang="en-US" dirty="0" err="1">
                <a:cs typeface="Arial" panose="020B0604020202020204" pitchFamily="34" charset="0"/>
              </a:rPr>
              <a:t>bilinç</a:t>
            </a:r>
            <a:r>
              <a:rPr lang="en-US" dirty="0">
                <a:cs typeface="Arial" panose="020B0604020202020204" pitchFamily="34" charset="0"/>
              </a:rPr>
              <a:t>, </a:t>
            </a:r>
            <a:r>
              <a:rPr lang="en-US" dirty="0" err="1">
                <a:cs typeface="Arial" panose="020B0604020202020204" pitchFamily="34" charset="0"/>
              </a:rPr>
              <a:t>bireylerin</a:t>
            </a:r>
            <a:r>
              <a:rPr lang="en-US" dirty="0">
                <a:cs typeface="Arial" panose="020B0604020202020204" pitchFamily="34" charset="0"/>
              </a:rPr>
              <a:t> </a:t>
            </a:r>
            <a:r>
              <a:rPr lang="en-US" dirty="0" err="1">
                <a:cs typeface="Arial" panose="020B0604020202020204" pitchFamily="34" charset="0"/>
              </a:rPr>
              <a:t>tek</a:t>
            </a:r>
            <a:r>
              <a:rPr lang="en-US" dirty="0">
                <a:cs typeface="Arial" panose="020B0604020202020204" pitchFamily="34" charset="0"/>
              </a:rPr>
              <a:t> </a:t>
            </a:r>
            <a:r>
              <a:rPr lang="en-US" dirty="0" err="1">
                <a:cs typeface="Arial" panose="020B0604020202020204" pitchFamily="34" charset="0"/>
              </a:rPr>
              <a:t>tek</a:t>
            </a:r>
            <a:r>
              <a:rPr lang="en-US" dirty="0">
                <a:cs typeface="Arial" panose="020B0604020202020204" pitchFamily="34" charset="0"/>
              </a:rPr>
              <a:t> </a:t>
            </a:r>
            <a:r>
              <a:rPr lang="en-US" dirty="0" err="1">
                <a:cs typeface="Arial" panose="020B0604020202020204" pitchFamily="34" charset="0"/>
              </a:rPr>
              <a:t>davranışlarını</a:t>
            </a:r>
            <a:r>
              <a:rPr lang="en-US" dirty="0">
                <a:cs typeface="Arial" panose="020B0604020202020204" pitchFamily="34" charset="0"/>
              </a:rPr>
              <a:t> </a:t>
            </a:r>
            <a:r>
              <a:rPr lang="en-US" dirty="0" err="1">
                <a:cs typeface="Arial" panose="020B0604020202020204" pitchFamily="34" charset="0"/>
              </a:rPr>
              <a:t>yönlendiren</a:t>
            </a:r>
            <a:r>
              <a:rPr lang="en-US" dirty="0">
                <a:cs typeface="Arial" panose="020B0604020202020204" pitchFamily="34" charset="0"/>
              </a:rPr>
              <a:t> </a:t>
            </a:r>
            <a:r>
              <a:rPr lang="en-US" dirty="0" err="1">
                <a:cs typeface="Arial" panose="020B0604020202020204" pitchFamily="34" charset="0"/>
              </a:rPr>
              <a:t>görünmez</a:t>
            </a:r>
            <a:r>
              <a:rPr lang="en-US" dirty="0">
                <a:cs typeface="Arial" panose="020B0604020202020204" pitchFamily="34" charset="0"/>
              </a:rPr>
              <a:t> </a:t>
            </a:r>
            <a:r>
              <a:rPr lang="en-US" dirty="0" err="1">
                <a:cs typeface="Arial" panose="020B0604020202020204" pitchFamily="34" charset="0"/>
              </a:rPr>
              <a:t>bir</a:t>
            </a:r>
            <a:r>
              <a:rPr lang="en-US" dirty="0">
                <a:cs typeface="Arial" panose="020B0604020202020204" pitchFamily="34" charset="0"/>
              </a:rPr>
              <a:t> </a:t>
            </a:r>
            <a:r>
              <a:rPr lang="en-US" dirty="0" err="1">
                <a:cs typeface="Arial" panose="020B0604020202020204" pitchFamily="34" charset="0"/>
              </a:rPr>
              <a:t>güçtür</a:t>
            </a:r>
            <a:r>
              <a:rPr lang="en-US" dirty="0">
                <a:cs typeface="Arial" panose="020B0604020202020204" pitchFamily="34" charset="0"/>
              </a:rPr>
              <a:t>.</a:t>
            </a:r>
            <a:endParaRPr lang="tr-TR" dirty="0">
              <a:cs typeface="Arial" panose="020B0604020202020204" pitchFamily="34" charset="0"/>
            </a:endParaRPr>
          </a:p>
          <a:p>
            <a:pPr marL="342900" indent="-342900">
              <a:buFont typeface="Wingdings" panose="05000000000000000000" pitchFamily="2" charset="2"/>
              <a:buChar char="Ø"/>
            </a:pPr>
            <a:endParaRPr lang="tr-TR" dirty="0">
              <a:cs typeface="Arial" panose="020B0604020202020204" pitchFamily="34" charset="0"/>
            </a:endParaRPr>
          </a:p>
          <a:p>
            <a:pPr marL="342900" indent="-342900">
              <a:buFont typeface="Wingdings" panose="05000000000000000000" pitchFamily="2" charset="2"/>
              <a:buChar char="Ø"/>
            </a:pPr>
            <a:r>
              <a:rPr lang="en-US" dirty="0">
                <a:cs typeface="Arial" panose="020B0604020202020204" pitchFamily="34" charset="0"/>
              </a:rPr>
              <a:t>Tezcan (1993) </a:t>
            </a:r>
            <a:r>
              <a:rPr lang="en-US" dirty="0" err="1">
                <a:cs typeface="Arial" panose="020B0604020202020204" pitchFamily="34" charset="0"/>
              </a:rPr>
              <a:t>toplumun</a:t>
            </a:r>
            <a:r>
              <a:rPr lang="en-US" dirty="0">
                <a:cs typeface="Arial" panose="020B0604020202020204" pitchFamily="34" charset="0"/>
              </a:rPr>
              <a:t>, </a:t>
            </a:r>
            <a:r>
              <a:rPr lang="en-US" dirty="0" err="1">
                <a:cs typeface="Arial" panose="020B0604020202020204" pitchFamily="34" charset="0"/>
              </a:rPr>
              <a:t>bireylerin</a:t>
            </a:r>
            <a:r>
              <a:rPr lang="en-US" dirty="0">
                <a:cs typeface="Arial" panose="020B0604020202020204" pitchFamily="34" charset="0"/>
              </a:rPr>
              <a:t> </a:t>
            </a:r>
            <a:r>
              <a:rPr lang="en-US" dirty="0" err="1">
                <a:cs typeface="Arial" panose="020B0604020202020204" pitchFamily="34" charset="0"/>
              </a:rPr>
              <a:t>bir</a:t>
            </a:r>
            <a:r>
              <a:rPr lang="en-US" dirty="0">
                <a:cs typeface="Arial" panose="020B0604020202020204" pitchFamily="34" charset="0"/>
              </a:rPr>
              <a:t> </a:t>
            </a:r>
            <a:r>
              <a:rPr lang="en-US" dirty="0" err="1">
                <a:cs typeface="Arial" panose="020B0604020202020204" pitchFamily="34" charset="0"/>
              </a:rPr>
              <a:t>arada</a:t>
            </a:r>
            <a:r>
              <a:rPr lang="en-US" dirty="0">
                <a:cs typeface="Arial" panose="020B0604020202020204" pitchFamily="34" charset="0"/>
              </a:rPr>
              <a:t> </a:t>
            </a:r>
            <a:r>
              <a:rPr lang="en-US" dirty="0" err="1">
                <a:cs typeface="Arial" panose="020B0604020202020204" pitchFamily="34" charset="0"/>
              </a:rPr>
              <a:t>yaşamaya</a:t>
            </a:r>
            <a:r>
              <a:rPr lang="en-US" dirty="0">
                <a:cs typeface="Arial" panose="020B0604020202020204" pitchFamily="34" charset="0"/>
              </a:rPr>
              <a:t> </a:t>
            </a:r>
            <a:r>
              <a:rPr lang="en-US" dirty="0" err="1">
                <a:cs typeface="Arial" panose="020B0604020202020204" pitchFamily="34" charset="0"/>
              </a:rPr>
              <a:t>devam</a:t>
            </a:r>
            <a:r>
              <a:rPr lang="en-US" dirty="0">
                <a:cs typeface="Arial" panose="020B0604020202020204" pitchFamily="34" charset="0"/>
              </a:rPr>
              <a:t> </a:t>
            </a:r>
            <a:r>
              <a:rPr lang="en-US" dirty="0" err="1">
                <a:cs typeface="Arial" panose="020B0604020202020204" pitchFamily="34" charset="0"/>
              </a:rPr>
              <a:t>edebilmesi</a:t>
            </a:r>
            <a:r>
              <a:rPr lang="en-US" dirty="0">
                <a:cs typeface="Arial" panose="020B0604020202020204" pitchFamily="34" charset="0"/>
              </a:rPr>
              <a:t> </a:t>
            </a:r>
            <a:r>
              <a:rPr lang="en-US" dirty="0" err="1">
                <a:cs typeface="Arial" panose="020B0604020202020204" pitchFamily="34" charset="0"/>
              </a:rPr>
              <a:t>için</a:t>
            </a:r>
            <a:r>
              <a:rPr lang="en-US" dirty="0">
                <a:cs typeface="Arial" panose="020B0604020202020204" pitchFamily="34" charset="0"/>
              </a:rPr>
              <a:t> </a:t>
            </a:r>
            <a:r>
              <a:rPr lang="en-US" dirty="0" err="1">
                <a:cs typeface="Arial" panose="020B0604020202020204" pitchFamily="34" charset="0"/>
              </a:rPr>
              <a:t>gerekli</a:t>
            </a:r>
            <a:r>
              <a:rPr lang="en-US" dirty="0">
                <a:cs typeface="Arial" panose="020B0604020202020204" pitchFamily="34" charset="0"/>
              </a:rPr>
              <a:t> </a:t>
            </a:r>
            <a:r>
              <a:rPr lang="en-US" dirty="0" err="1">
                <a:cs typeface="Arial" panose="020B0604020202020204" pitchFamily="34" charset="0"/>
              </a:rPr>
              <a:t>olan</a:t>
            </a:r>
            <a:r>
              <a:rPr lang="en-US" dirty="0">
                <a:cs typeface="Arial" panose="020B0604020202020204" pitchFamily="34" charset="0"/>
              </a:rPr>
              <a:t> </a:t>
            </a:r>
            <a:r>
              <a:rPr lang="en-US" dirty="0" err="1">
                <a:cs typeface="Arial" panose="020B0604020202020204" pitchFamily="34" charset="0"/>
              </a:rPr>
              <a:t>değer</a:t>
            </a:r>
            <a:r>
              <a:rPr lang="en-US" dirty="0">
                <a:cs typeface="Arial" panose="020B0604020202020204" pitchFamily="34" charset="0"/>
              </a:rPr>
              <a:t> </a:t>
            </a:r>
            <a:r>
              <a:rPr lang="en-US" dirty="0" err="1">
                <a:cs typeface="Arial" panose="020B0604020202020204" pitchFamily="34" charset="0"/>
              </a:rPr>
              <a:t>ve</a:t>
            </a:r>
            <a:r>
              <a:rPr lang="en-US" dirty="0">
                <a:cs typeface="Arial" panose="020B0604020202020204" pitchFamily="34" charset="0"/>
              </a:rPr>
              <a:t> </a:t>
            </a:r>
            <a:r>
              <a:rPr lang="en-US" dirty="0" err="1">
                <a:cs typeface="Arial" panose="020B0604020202020204" pitchFamily="34" charset="0"/>
              </a:rPr>
              <a:t>kurallar</a:t>
            </a:r>
            <a:r>
              <a:rPr lang="en-US" dirty="0">
                <a:cs typeface="Arial" panose="020B0604020202020204" pitchFamily="34" charset="0"/>
              </a:rPr>
              <a:t> </a:t>
            </a:r>
            <a:r>
              <a:rPr lang="en-US" dirty="0" err="1">
                <a:cs typeface="Arial" panose="020B0604020202020204" pitchFamily="34" charset="0"/>
              </a:rPr>
              <a:t>bütünü</a:t>
            </a:r>
            <a:r>
              <a:rPr lang="en-US" dirty="0">
                <a:cs typeface="Arial" panose="020B0604020202020204" pitchFamily="34" charset="0"/>
              </a:rPr>
              <a:t> </a:t>
            </a:r>
            <a:r>
              <a:rPr lang="en-US" dirty="0" err="1">
                <a:cs typeface="Arial" panose="020B0604020202020204" pitchFamily="34" charset="0"/>
              </a:rPr>
              <a:t>olduğunu</a:t>
            </a:r>
            <a:r>
              <a:rPr lang="en-US" dirty="0">
                <a:cs typeface="Arial" panose="020B0604020202020204" pitchFamily="34" charset="0"/>
              </a:rPr>
              <a:t> </a:t>
            </a:r>
            <a:r>
              <a:rPr lang="en-US" dirty="0" err="1">
                <a:cs typeface="Arial" panose="020B0604020202020204" pitchFamily="34" charset="0"/>
              </a:rPr>
              <a:t>vurgular</a:t>
            </a:r>
            <a:r>
              <a:rPr lang="en-US" dirty="0">
                <a:cs typeface="Arial" panose="020B0604020202020204" pitchFamily="34" charset="0"/>
              </a:rPr>
              <a:t>.</a:t>
            </a:r>
            <a:endParaRPr lang="tr-TR" dirty="0">
              <a:cs typeface="Arial" panose="020B0604020202020204" pitchFamily="34" charset="0"/>
            </a:endParaRPr>
          </a:p>
          <a:p>
            <a:pPr marL="342900" indent="-342900">
              <a:buFont typeface="Wingdings" panose="05000000000000000000" pitchFamily="2" charset="2"/>
              <a:buChar char="Ø"/>
            </a:pPr>
            <a:endParaRPr lang="en-US" dirty="0">
              <a:cs typeface="Arial" panose="020B0604020202020204" pitchFamily="34" charset="0"/>
            </a:endParaRPr>
          </a:p>
          <a:p>
            <a:pPr marL="342900" indent="-342900">
              <a:buFont typeface="Wingdings" panose="05000000000000000000" pitchFamily="2" charset="2"/>
              <a:buChar char="Ø"/>
            </a:pPr>
            <a:r>
              <a:rPr lang="en-US" dirty="0">
                <a:cs typeface="Arial" panose="020B0604020202020204" pitchFamily="34" charset="0"/>
              </a:rPr>
              <a:t>Giddens (1998) </a:t>
            </a:r>
            <a:r>
              <a:rPr lang="en-US" dirty="0" err="1">
                <a:cs typeface="Arial" panose="020B0604020202020204" pitchFamily="34" charset="0"/>
              </a:rPr>
              <a:t>ise</a:t>
            </a:r>
            <a:r>
              <a:rPr lang="en-US" dirty="0">
                <a:cs typeface="Arial" panose="020B0604020202020204" pitchFamily="34" charset="0"/>
              </a:rPr>
              <a:t> </a:t>
            </a:r>
            <a:r>
              <a:rPr lang="en-US" dirty="0" err="1">
                <a:cs typeface="Arial" panose="020B0604020202020204" pitchFamily="34" charset="0"/>
              </a:rPr>
              <a:t>toplumu</a:t>
            </a:r>
            <a:r>
              <a:rPr lang="en-US" dirty="0">
                <a:cs typeface="Arial" panose="020B0604020202020204" pitchFamily="34" charset="0"/>
              </a:rPr>
              <a:t>, </a:t>
            </a:r>
            <a:r>
              <a:rPr lang="en-US" dirty="0" err="1">
                <a:cs typeface="Arial" panose="020B0604020202020204" pitchFamily="34" charset="0"/>
              </a:rPr>
              <a:t>bireylerin</a:t>
            </a:r>
            <a:r>
              <a:rPr lang="en-US" dirty="0">
                <a:cs typeface="Arial" panose="020B0604020202020204" pitchFamily="34" charset="0"/>
              </a:rPr>
              <a:t> hem </a:t>
            </a:r>
            <a:r>
              <a:rPr lang="en-US" dirty="0" err="1">
                <a:cs typeface="Arial" panose="020B0604020202020204" pitchFamily="34" charset="0"/>
              </a:rPr>
              <a:t>ürettiği</a:t>
            </a:r>
            <a:r>
              <a:rPr lang="en-US" dirty="0">
                <a:cs typeface="Arial" panose="020B0604020202020204" pitchFamily="34" charset="0"/>
              </a:rPr>
              <a:t> hem de </a:t>
            </a:r>
            <a:r>
              <a:rPr lang="en-US" dirty="0" err="1">
                <a:cs typeface="Arial" panose="020B0604020202020204" pitchFamily="34" charset="0"/>
              </a:rPr>
              <a:t>kendilerinin</a:t>
            </a:r>
            <a:r>
              <a:rPr lang="en-US" dirty="0">
                <a:cs typeface="Arial" panose="020B0604020202020204" pitchFamily="34" charset="0"/>
              </a:rPr>
              <a:t> </a:t>
            </a:r>
            <a:r>
              <a:rPr lang="en-US" dirty="0" err="1">
                <a:cs typeface="Arial" panose="020B0604020202020204" pitchFamily="34" charset="0"/>
              </a:rPr>
              <a:t>içinde</a:t>
            </a:r>
            <a:r>
              <a:rPr lang="en-US" dirty="0">
                <a:cs typeface="Arial" panose="020B0604020202020204" pitchFamily="34" charset="0"/>
              </a:rPr>
              <a:t> </a:t>
            </a:r>
            <a:r>
              <a:rPr lang="en-US" dirty="0" err="1">
                <a:cs typeface="Arial" panose="020B0604020202020204" pitchFamily="34" charset="0"/>
              </a:rPr>
              <a:t>şekillendiği</a:t>
            </a:r>
            <a:r>
              <a:rPr lang="en-US" dirty="0">
                <a:cs typeface="Arial" panose="020B0604020202020204" pitchFamily="34" charset="0"/>
              </a:rPr>
              <a:t> </a:t>
            </a:r>
            <a:r>
              <a:rPr lang="en-US" dirty="0" err="1">
                <a:cs typeface="Arial" panose="020B0604020202020204" pitchFamily="34" charset="0"/>
              </a:rPr>
              <a:t>bir</a:t>
            </a:r>
            <a:r>
              <a:rPr lang="en-US" dirty="0">
                <a:cs typeface="Arial" panose="020B0604020202020204" pitchFamily="34" charset="0"/>
              </a:rPr>
              <a:t> </a:t>
            </a:r>
            <a:r>
              <a:rPr lang="en-US" dirty="0" err="1">
                <a:cs typeface="Arial" panose="020B0604020202020204" pitchFamily="34" charset="0"/>
              </a:rPr>
              <a:t>sistem</a:t>
            </a:r>
            <a:r>
              <a:rPr lang="en-US" dirty="0">
                <a:cs typeface="Arial" panose="020B0604020202020204" pitchFamily="34" charset="0"/>
              </a:rPr>
              <a:t> </a:t>
            </a:r>
            <a:r>
              <a:rPr lang="en-US" dirty="0" err="1">
                <a:cs typeface="Arial" panose="020B0604020202020204" pitchFamily="34" charset="0"/>
              </a:rPr>
              <a:t>olarak</a:t>
            </a:r>
            <a:r>
              <a:rPr lang="en-US" dirty="0">
                <a:cs typeface="Arial" panose="020B0604020202020204" pitchFamily="34" charset="0"/>
              </a:rPr>
              <a:t> </a:t>
            </a:r>
            <a:r>
              <a:rPr lang="en-US" dirty="0" err="1">
                <a:cs typeface="Arial" panose="020B0604020202020204" pitchFamily="34" charset="0"/>
              </a:rPr>
              <a:t>görür</a:t>
            </a:r>
            <a:r>
              <a:rPr lang="en-US" dirty="0">
                <a:cs typeface="Arial" panose="020B0604020202020204" pitchFamily="34" charset="0"/>
              </a:rPr>
              <a:t>.</a:t>
            </a:r>
          </a:p>
          <a:p>
            <a:r>
              <a:rPr lang="en-US" dirty="0" err="1">
                <a:cs typeface="Arial" panose="020B0604020202020204" pitchFamily="34" charset="0"/>
              </a:rPr>
              <a:t>Toplum</a:t>
            </a:r>
            <a:r>
              <a:rPr lang="en-US" dirty="0">
                <a:cs typeface="Arial" panose="020B0604020202020204" pitchFamily="34" charset="0"/>
              </a:rPr>
              <a:t>, </a:t>
            </a:r>
            <a:r>
              <a:rPr lang="en-US" dirty="0" err="1">
                <a:cs typeface="Arial" panose="020B0604020202020204" pitchFamily="34" charset="0"/>
              </a:rPr>
              <a:t>yalnızca</a:t>
            </a:r>
            <a:r>
              <a:rPr lang="en-US" dirty="0">
                <a:cs typeface="Arial" panose="020B0604020202020204" pitchFamily="34" charset="0"/>
              </a:rPr>
              <a:t> </a:t>
            </a:r>
            <a:r>
              <a:rPr lang="en-US" dirty="0" err="1">
                <a:cs typeface="Arial" panose="020B0604020202020204" pitchFamily="34" charset="0"/>
              </a:rPr>
              <a:t>bireylerin</a:t>
            </a:r>
            <a:r>
              <a:rPr lang="en-US" dirty="0">
                <a:cs typeface="Arial" panose="020B0604020202020204" pitchFamily="34" charset="0"/>
              </a:rPr>
              <a:t> </a:t>
            </a:r>
            <a:r>
              <a:rPr lang="en-US" dirty="0" err="1">
                <a:cs typeface="Arial" panose="020B0604020202020204" pitchFamily="34" charset="0"/>
              </a:rPr>
              <a:t>toplamı</a:t>
            </a:r>
            <a:r>
              <a:rPr lang="en-US" dirty="0">
                <a:cs typeface="Arial" panose="020B0604020202020204" pitchFamily="34" charset="0"/>
              </a:rPr>
              <a:t> </a:t>
            </a:r>
            <a:r>
              <a:rPr lang="en-US" dirty="0" err="1">
                <a:cs typeface="Arial" panose="020B0604020202020204" pitchFamily="34" charset="0"/>
              </a:rPr>
              <a:t>değildir</a:t>
            </a:r>
            <a:r>
              <a:rPr lang="en-US" dirty="0">
                <a:cs typeface="Arial" panose="020B0604020202020204" pitchFamily="34" charset="0"/>
              </a:rPr>
              <a:t>; </a:t>
            </a:r>
            <a:r>
              <a:rPr lang="en-US" dirty="0" err="1">
                <a:cs typeface="Arial" panose="020B0604020202020204" pitchFamily="34" charset="0"/>
              </a:rPr>
              <a:t>bireyler</a:t>
            </a:r>
            <a:r>
              <a:rPr lang="en-US" dirty="0">
                <a:cs typeface="Arial" panose="020B0604020202020204" pitchFamily="34" charset="0"/>
              </a:rPr>
              <a:t> </a:t>
            </a:r>
            <a:r>
              <a:rPr lang="en-US" dirty="0" err="1">
                <a:cs typeface="Arial" panose="020B0604020202020204" pitchFamily="34" charset="0"/>
              </a:rPr>
              <a:t>arası</a:t>
            </a:r>
            <a:r>
              <a:rPr lang="en-US" dirty="0">
                <a:cs typeface="Arial" panose="020B0604020202020204" pitchFamily="34" charset="0"/>
              </a:rPr>
              <a:t> </a:t>
            </a:r>
            <a:r>
              <a:rPr lang="en-US" dirty="0" err="1">
                <a:cs typeface="Arial" panose="020B0604020202020204" pitchFamily="34" charset="0"/>
              </a:rPr>
              <a:t>ilişkilerin</a:t>
            </a:r>
            <a:r>
              <a:rPr lang="en-US" dirty="0">
                <a:cs typeface="Arial" panose="020B0604020202020204" pitchFamily="34" charset="0"/>
              </a:rPr>
              <a:t> </a:t>
            </a:r>
            <a:r>
              <a:rPr lang="en-US" dirty="0" err="1">
                <a:cs typeface="Arial" panose="020B0604020202020204" pitchFamily="34" charset="0"/>
              </a:rPr>
              <a:t>örgütlenme</a:t>
            </a:r>
            <a:r>
              <a:rPr lang="en-US" dirty="0">
                <a:cs typeface="Arial" panose="020B0604020202020204" pitchFamily="34" charset="0"/>
              </a:rPr>
              <a:t> </a:t>
            </a:r>
            <a:r>
              <a:rPr lang="en-US" dirty="0" err="1">
                <a:cs typeface="Arial" panose="020B0604020202020204" pitchFamily="34" charset="0"/>
              </a:rPr>
              <a:t>biçimidir</a:t>
            </a:r>
            <a:r>
              <a:rPr lang="en-US" dirty="0">
                <a:cs typeface="Arial" panose="020B0604020202020204" pitchFamily="34" charset="0"/>
              </a:rPr>
              <a:t>.</a:t>
            </a:r>
          </a:p>
          <a:p>
            <a:endParaRPr lang="en-US" dirty="0"/>
          </a:p>
        </p:txBody>
      </p:sp>
    </p:spTree>
    <p:extLst>
      <p:ext uri="{BB962C8B-B14F-4D97-AF65-F5344CB8AC3E}">
        <p14:creationId xmlns:p14="http://schemas.microsoft.com/office/powerpoint/2010/main" val="2952923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E855854-85E7-1AA5-01EF-2D47CC996086}"/>
              </a:ext>
            </a:extLst>
          </p:cNvPr>
          <p:cNvPicPr>
            <a:picLocks noGrp="1" noChangeAspect="1"/>
          </p:cNvPicPr>
          <p:nvPr>
            <p:ph idx="1"/>
          </p:nvPr>
        </p:nvPicPr>
        <p:blipFill>
          <a:blip r:embed="rId2"/>
          <a:stretch>
            <a:fillRect/>
          </a:stretch>
        </p:blipFill>
        <p:spPr>
          <a:xfrm>
            <a:off x="1980306" y="1040363"/>
            <a:ext cx="8231388" cy="4777273"/>
          </a:xfrm>
          <a:prstGeom prst="rect">
            <a:avLst/>
          </a:prstGeom>
        </p:spPr>
      </p:pic>
    </p:spTree>
    <p:extLst>
      <p:ext uri="{BB962C8B-B14F-4D97-AF65-F5344CB8AC3E}">
        <p14:creationId xmlns:p14="http://schemas.microsoft.com/office/powerpoint/2010/main" val="1790970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2733869" y="102637"/>
            <a:ext cx="8692156" cy="5698090"/>
          </a:xfrm>
        </p:spPr>
        <p:txBody>
          <a:bodyPr/>
          <a:lstStyle/>
          <a:p>
            <a:endParaRPr lang="tr-TR" dirty="0"/>
          </a:p>
          <a:p>
            <a:endParaRPr lang="tr-TR" dirty="0"/>
          </a:p>
          <a:p>
            <a:pPr marL="0" indent="0">
              <a:buNone/>
            </a:pPr>
            <a:r>
              <a:rPr lang="en-US" sz="2000" b="1" dirty="0" err="1"/>
              <a:t>Toplumun</a:t>
            </a:r>
            <a:r>
              <a:rPr lang="en-US" sz="2000" b="1" dirty="0"/>
              <a:t> Temel </a:t>
            </a:r>
            <a:r>
              <a:rPr lang="en-US" sz="2000" b="1" dirty="0" err="1"/>
              <a:t>Özellikleri</a:t>
            </a:r>
            <a:endParaRPr lang="en-US" sz="2000" dirty="0"/>
          </a:p>
          <a:p>
            <a:pPr marL="0" lvl="0" indent="0">
              <a:buNone/>
            </a:pPr>
            <a:r>
              <a:rPr lang="tr-TR" sz="2000" b="1" dirty="0"/>
              <a:t>1. </a:t>
            </a:r>
            <a:r>
              <a:rPr lang="en-US" sz="2000" b="1" dirty="0" err="1"/>
              <a:t>Birlikte</a:t>
            </a:r>
            <a:r>
              <a:rPr lang="en-US" sz="2000" b="1" dirty="0"/>
              <a:t> </a:t>
            </a:r>
            <a:r>
              <a:rPr lang="en-US" sz="2000" b="1" dirty="0" err="1"/>
              <a:t>Yaşama</a:t>
            </a:r>
            <a:r>
              <a:rPr lang="en-US" sz="2000" b="1" dirty="0"/>
              <a:t>:</a:t>
            </a:r>
            <a:br>
              <a:rPr lang="en-US" sz="2000" dirty="0"/>
            </a:br>
            <a:r>
              <a:rPr lang="en-US" sz="2000" dirty="0" err="1"/>
              <a:t>Toplum</a:t>
            </a:r>
            <a:r>
              <a:rPr lang="en-US" sz="2000" dirty="0"/>
              <a:t>, </a:t>
            </a:r>
            <a:r>
              <a:rPr lang="en-US" sz="2000" dirty="0" err="1"/>
              <a:t>bireylerin</a:t>
            </a:r>
            <a:r>
              <a:rPr lang="en-US" sz="2000" dirty="0"/>
              <a:t> </a:t>
            </a:r>
            <a:r>
              <a:rPr lang="en-US" sz="2000" dirty="0" err="1"/>
              <a:t>ortak</a:t>
            </a:r>
            <a:r>
              <a:rPr lang="en-US" sz="2000" dirty="0"/>
              <a:t> </a:t>
            </a:r>
            <a:r>
              <a:rPr lang="en-US" sz="2000" dirty="0" err="1"/>
              <a:t>bir</a:t>
            </a:r>
            <a:r>
              <a:rPr lang="en-US" sz="2000" dirty="0"/>
              <a:t> </a:t>
            </a:r>
            <a:r>
              <a:rPr lang="en-US" sz="2000" dirty="0" err="1"/>
              <a:t>alanda</a:t>
            </a:r>
            <a:r>
              <a:rPr lang="en-US" sz="2000" dirty="0"/>
              <a:t> </a:t>
            </a:r>
            <a:r>
              <a:rPr lang="en-US" sz="2000" dirty="0" err="1"/>
              <a:t>yaşamlarını</a:t>
            </a:r>
            <a:r>
              <a:rPr lang="en-US" sz="2000" dirty="0"/>
              <a:t> </a:t>
            </a:r>
            <a:r>
              <a:rPr lang="en-US" sz="2000" dirty="0" err="1"/>
              <a:t>sürdürdüğü</a:t>
            </a:r>
            <a:r>
              <a:rPr lang="en-US" sz="2000" dirty="0"/>
              <a:t> </a:t>
            </a:r>
            <a:r>
              <a:rPr lang="en-US" sz="2000" dirty="0" err="1"/>
              <a:t>bir</a:t>
            </a:r>
            <a:r>
              <a:rPr lang="en-US" sz="2000" dirty="0"/>
              <a:t> </a:t>
            </a:r>
            <a:r>
              <a:rPr lang="en-US" sz="2000" dirty="0" err="1"/>
              <a:t>bütündür</a:t>
            </a:r>
            <a:r>
              <a:rPr lang="en-US" sz="2000" dirty="0"/>
              <a:t>.</a:t>
            </a:r>
            <a:br>
              <a:rPr lang="en-US" sz="2000" dirty="0"/>
            </a:br>
            <a:r>
              <a:rPr lang="en-US" sz="2000" dirty="0"/>
              <a:t>Bu </a:t>
            </a:r>
            <a:r>
              <a:rPr lang="en-US" sz="2000" dirty="0" err="1"/>
              <a:t>yaşam</a:t>
            </a:r>
            <a:r>
              <a:rPr lang="en-US" sz="2000" dirty="0"/>
              <a:t> </a:t>
            </a:r>
            <a:r>
              <a:rPr lang="en-US" sz="2000" dirty="0" err="1"/>
              <a:t>ortaklığı</a:t>
            </a:r>
            <a:r>
              <a:rPr lang="en-US" sz="2000" dirty="0"/>
              <a:t> </a:t>
            </a:r>
            <a:r>
              <a:rPr lang="en-US" sz="2000" dirty="0" err="1"/>
              <a:t>sadece</a:t>
            </a:r>
            <a:r>
              <a:rPr lang="en-US" sz="2000" dirty="0"/>
              <a:t> </a:t>
            </a:r>
            <a:r>
              <a:rPr lang="en-US" sz="2000" dirty="0" err="1"/>
              <a:t>fiziksel</a:t>
            </a:r>
            <a:r>
              <a:rPr lang="en-US" sz="2000" dirty="0"/>
              <a:t> </a:t>
            </a:r>
            <a:r>
              <a:rPr lang="en-US" sz="2000" dirty="0" err="1"/>
              <a:t>değil</a:t>
            </a:r>
            <a:r>
              <a:rPr lang="en-US" sz="2000" dirty="0"/>
              <a:t>, </a:t>
            </a:r>
            <a:r>
              <a:rPr lang="en-US" sz="2000" dirty="0" err="1"/>
              <a:t>kültürel</a:t>
            </a:r>
            <a:r>
              <a:rPr lang="en-US" sz="2000" dirty="0"/>
              <a:t> </a:t>
            </a:r>
            <a:r>
              <a:rPr lang="en-US" sz="2000" dirty="0" err="1"/>
              <a:t>ve</a:t>
            </a:r>
            <a:r>
              <a:rPr lang="en-US" sz="2000" dirty="0"/>
              <a:t> </a:t>
            </a:r>
            <a:r>
              <a:rPr lang="en-US" sz="2000" dirty="0" err="1"/>
              <a:t>sembolik</a:t>
            </a:r>
            <a:r>
              <a:rPr lang="en-US" sz="2000" dirty="0"/>
              <a:t> </a:t>
            </a:r>
            <a:r>
              <a:rPr lang="en-US" sz="2000" dirty="0" err="1"/>
              <a:t>düzeyde</a:t>
            </a:r>
            <a:r>
              <a:rPr lang="en-US" sz="2000" dirty="0"/>
              <a:t> de </a:t>
            </a:r>
            <a:r>
              <a:rPr lang="en-US" sz="2000" dirty="0" err="1"/>
              <a:t>vardır</a:t>
            </a:r>
            <a:r>
              <a:rPr lang="en-US" sz="2000" dirty="0"/>
              <a:t>.</a:t>
            </a:r>
          </a:p>
          <a:p>
            <a:pPr marL="0" lvl="0" indent="0">
              <a:buNone/>
            </a:pPr>
            <a:r>
              <a:rPr lang="tr-TR" sz="2000" b="1" dirty="0"/>
              <a:t>2. </a:t>
            </a:r>
            <a:r>
              <a:rPr lang="en-US" sz="2000" b="1" dirty="0" err="1"/>
              <a:t>Kültürel</a:t>
            </a:r>
            <a:r>
              <a:rPr lang="en-US" sz="2000" b="1" dirty="0"/>
              <a:t> </a:t>
            </a:r>
            <a:r>
              <a:rPr lang="en-US" sz="2000" b="1" dirty="0" err="1"/>
              <a:t>Paylaşım</a:t>
            </a:r>
            <a:r>
              <a:rPr lang="en-US" sz="2000" b="1" dirty="0"/>
              <a:t>:</a:t>
            </a:r>
            <a:br>
              <a:rPr lang="en-US" sz="2000" dirty="0"/>
            </a:br>
            <a:r>
              <a:rPr lang="en-US" sz="2000" dirty="0" err="1"/>
              <a:t>Toplumun</a:t>
            </a:r>
            <a:r>
              <a:rPr lang="en-US" sz="2000" dirty="0"/>
              <a:t> </a:t>
            </a:r>
            <a:r>
              <a:rPr lang="en-US" sz="2000" dirty="0" err="1"/>
              <a:t>üyeleri</a:t>
            </a:r>
            <a:r>
              <a:rPr lang="en-US" sz="2000" dirty="0"/>
              <a:t> </a:t>
            </a:r>
            <a:r>
              <a:rPr lang="en-US" sz="2000" dirty="0" err="1"/>
              <a:t>ortak</a:t>
            </a:r>
            <a:r>
              <a:rPr lang="en-US" sz="2000" dirty="0"/>
              <a:t> </a:t>
            </a:r>
            <a:r>
              <a:rPr lang="en-US" sz="2000" dirty="0" err="1"/>
              <a:t>semboller</a:t>
            </a:r>
            <a:r>
              <a:rPr lang="en-US" sz="2000" dirty="0"/>
              <a:t>, </a:t>
            </a:r>
            <a:r>
              <a:rPr lang="en-US" sz="2000" dirty="0" err="1"/>
              <a:t>anlamlar</a:t>
            </a:r>
            <a:r>
              <a:rPr lang="en-US" sz="2000" dirty="0"/>
              <a:t>, </a:t>
            </a:r>
            <a:r>
              <a:rPr lang="en-US" sz="2000" dirty="0" err="1"/>
              <a:t>gelenekler</a:t>
            </a:r>
            <a:r>
              <a:rPr lang="en-US" sz="2000" dirty="0"/>
              <a:t> </a:t>
            </a:r>
            <a:r>
              <a:rPr lang="en-US" sz="2000" dirty="0" err="1"/>
              <a:t>ve</a:t>
            </a:r>
            <a:r>
              <a:rPr lang="en-US" sz="2000" dirty="0"/>
              <a:t> </a:t>
            </a:r>
            <a:r>
              <a:rPr lang="en-US" sz="2000" dirty="0" err="1"/>
              <a:t>değerleri</a:t>
            </a:r>
            <a:r>
              <a:rPr lang="en-US" sz="2000" dirty="0"/>
              <a:t> </a:t>
            </a:r>
            <a:r>
              <a:rPr lang="en-US" sz="2000" dirty="0" err="1"/>
              <a:t>paylaşır</a:t>
            </a:r>
            <a:r>
              <a:rPr lang="en-US" sz="2000" dirty="0"/>
              <a:t>.</a:t>
            </a:r>
            <a:br>
              <a:rPr lang="en-US" sz="2000" dirty="0"/>
            </a:br>
            <a:r>
              <a:rPr lang="en-US" sz="2000" dirty="0" err="1"/>
              <a:t>Örneğin</a:t>
            </a:r>
            <a:r>
              <a:rPr lang="en-US" sz="2000" dirty="0"/>
              <a:t>, </a:t>
            </a:r>
            <a:r>
              <a:rPr lang="en-US" sz="2000" dirty="0" err="1"/>
              <a:t>Kıbrıs’ta</a:t>
            </a:r>
            <a:r>
              <a:rPr lang="en-US" sz="2000" dirty="0"/>
              <a:t> </a:t>
            </a:r>
            <a:r>
              <a:rPr lang="en-US" sz="2000" dirty="0" err="1"/>
              <a:t>misafirperverlik</a:t>
            </a:r>
            <a:r>
              <a:rPr lang="en-US" sz="2000" dirty="0"/>
              <a:t>, </a:t>
            </a:r>
            <a:r>
              <a:rPr lang="en-US" sz="2000" dirty="0" err="1"/>
              <a:t>Türkiye’de</a:t>
            </a:r>
            <a:r>
              <a:rPr lang="en-US" sz="2000" dirty="0"/>
              <a:t> </a:t>
            </a:r>
            <a:r>
              <a:rPr lang="en-US" sz="2000" dirty="0" err="1"/>
              <a:t>komşuluk</a:t>
            </a:r>
            <a:r>
              <a:rPr lang="en-US" sz="2000" dirty="0"/>
              <a:t> </a:t>
            </a:r>
            <a:r>
              <a:rPr lang="en-US" sz="2000" dirty="0" err="1"/>
              <a:t>ilişkileri</a:t>
            </a:r>
            <a:r>
              <a:rPr lang="en-US" sz="2000" dirty="0"/>
              <a:t> </a:t>
            </a:r>
            <a:r>
              <a:rPr lang="en-US" sz="2000" dirty="0" err="1"/>
              <a:t>toplumsal</a:t>
            </a:r>
            <a:r>
              <a:rPr lang="en-US" sz="2000" dirty="0"/>
              <a:t> </a:t>
            </a:r>
            <a:r>
              <a:rPr lang="en-US" sz="2000" dirty="0" err="1"/>
              <a:t>kültürün</a:t>
            </a:r>
            <a:r>
              <a:rPr lang="en-US" sz="2000" dirty="0"/>
              <a:t> </a:t>
            </a:r>
            <a:r>
              <a:rPr lang="en-US" sz="2000" dirty="0" err="1"/>
              <a:t>yansımasıdır</a:t>
            </a:r>
            <a:r>
              <a:rPr lang="en-US" sz="2000" dirty="0"/>
              <a:t>.</a:t>
            </a:r>
          </a:p>
          <a:p>
            <a:pPr marL="0" lvl="0" indent="0">
              <a:buNone/>
            </a:pPr>
            <a:r>
              <a:rPr lang="tr-TR" sz="2000" b="1" dirty="0"/>
              <a:t>3. </a:t>
            </a:r>
            <a:r>
              <a:rPr lang="en-US" sz="2000" b="1" dirty="0" err="1"/>
              <a:t>Kurumsal</a:t>
            </a:r>
            <a:r>
              <a:rPr lang="en-US" sz="2000" b="1" dirty="0"/>
              <a:t> </a:t>
            </a:r>
            <a:r>
              <a:rPr lang="en-US" sz="2000" b="1" dirty="0" err="1"/>
              <a:t>Yapı</a:t>
            </a:r>
            <a:r>
              <a:rPr lang="en-US" sz="2000" b="1" dirty="0"/>
              <a:t>:</a:t>
            </a:r>
            <a:br>
              <a:rPr lang="en-US" sz="2000" dirty="0"/>
            </a:br>
            <a:r>
              <a:rPr lang="en-US" sz="2000" dirty="0" err="1"/>
              <a:t>Toplumlar</a:t>
            </a:r>
            <a:r>
              <a:rPr lang="en-US" sz="2000" dirty="0"/>
              <a:t> </a:t>
            </a:r>
            <a:r>
              <a:rPr lang="en-US" sz="2000" dirty="0" err="1"/>
              <a:t>belirli</a:t>
            </a:r>
            <a:r>
              <a:rPr lang="en-US" sz="2000" dirty="0"/>
              <a:t> </a:t>
            </a:r>
            <a:r>
              <a:rPr lang="en-US" sz="2000" dirty="0" err="1"/>
              <a:t>kurumlar</a:t>
            </a:r>
            <a:r>
              <a:rPr lang="en-US" sz="2000" dirty="0"/>
              <a:t> </a:t>
            </a:r>
            <a:r>
              <a:rPr lang="en-US" sz="2000" dirty="0" err="1"/>
              <a:t>aracılığıyla</a:t>
            </a:r>
            <a:r>
              <a:rPr lang="en-US" sz="2000" dirty="0"/>
              <a:t> </a:t>
            </a:r>
            <a:r>
              <a:rPr lang="en-US" sz="2000" dirty="0" err="1"/>
              <a:t>düzen</a:t>
            </a:r>
            <a:r>
              <a:rPr lang="en-US" sz="2000" dirty="0"/>
              <a:t> </a:t>
            </a:r>
            <a:r>
              <a:rPr lang="en-US" sz="2000" dirty="0" err="1"/>
              <a:t>içinde</a:t>
            </a:r>
            <a:r>
              <a:rPr lang="en-US" sz="2000" dirty="0"/>
              <a:t> </a:t>
            </a:r>
            <a:r>
              <a:rPr lang="en-US" sz="2000" dirty="0" err="1"/>
              <a:t>işler</a:t>
            </a:r>
            <a:r>
              <a:rPr lang="en-US" sz="2000" dirty="0"/>
              <a:t>. Aile, </a:t>
            </a:r>
            <a:r>
              <a:rPr lang="en-US" sz="2000" dirty="0" err="1"/>
              <a:t>eğitim</a:t>
            </a:r>
            <a:r>
              <a:rPr lang="en-US" sz="2000" dirty="0"/>
              <a:t>, </a:t>
            </a:r>
            <a:r>
              <a:rPr lang="en-US" sz="2000" dirty="0" err="1"/>
              <a:t>ekonomi</a:t>
            </a:r>
            <a:r>
              <a:rPr lang="en-US" sz="2000" dirty="0"/>
              <a:t>, din </a:t>
            </a:r>
            <a:r>
              <a:rPr lang="en-US" sz="2000" dirty="0" err="1"/>
              <a:t>ve</a:t>
            </a:r>
            <a:r>
              <a:rPr lang="en-US" sz="2000" dirty="0"/>
              <a:t> </a:t>
            </a:r>
            <a:r>
              <a:rPr lang="en-US" sz="2000" dirty="0" err="1"/>
              <a:t>siyaset</a:t>
            </a:r>
            <a:r>
              <a:rPr lang="en-US" sz="2000" dirty="0"/>
              <a:t>, </a:t>
            </a:r>
            <a:r>
              <a:rPr lang="en-US" sz="2000" dirty="0" err="1"/>
              <a:t>toplumun</a:t>
            </a:r>
            <a:r>
              <a:rPr lang="en-US" sz="2000" dirty="0"/>
              <a:t> </a:t>
            </a:r>
            <a:r>
              <a:rPr lang="en-US" sz="2000" dirty="0" err="1"/>
              <a:t>devamını</a:t>
            </a:r>
            <a:r>
              <a:rPr lang="en-US" sz="2000" dirty="0"/>
              <a:t> </a:t>
            </a:r>
            <a:r>
              <a:rPr lang="en-US" sz="2000" dirty="0" err="1"/>
              <a:t>sağlayan</a:t>
            </a:r>
            <a:r>
              <a:rPr lang="en-US" sz="2000" dirty="0"/>
              <a:t> </a:t>
            </a:r>
            <a:r>
              <a:rPr lang="en-US" sz="2000" dirty="0" err="1"/>
              <a:t>kurumlardır</a:t>
            </a:r>
            <a:r>
              <a:rPr lang="en-US" sz="2000" dirty="0"/>
              <a:t>.</a:t>
            </a:r>
          </a:p>
          <a:p>
            <a:endParaRPr lang="en-US" dirty="0"/>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7</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8</a:t>
            </a:fld>
            <a:endParaRPr lang="en-US" dirty="0"/>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1688841" y="662474"/>
            <a:ext cx="9719585" cy="5379510"/>
          </a:xfrm>
        </p:spPr>
        <p:txBody>
          <a:bodyPr/>
          <a:lstStyle/>
          <a:p>
            <a:endParaRPr lang="tr-TR" dirty="0"/>
          </a:p>
          <a:p>
            <a:endParaRPr lang="tr-TR" dirty="0"/>
          </a:p>
          <a:p>
            <a:endParaRPr lang="tr-TR" dirty="0"/>
          </a:p>
          <a:p>
            <a:pPr lvl="0"/>
            <a:r>
              <a:rPr lang="tr-TR" b="1" dirty="0"/>
              <a:t>4. </a:t>
            </a:r>
            <a:r>
              <a:rPr lang="en-US" b="1" dirty="0"/>
              <a:t>Norm </a:t>
            </a:r>
            <a:r>
              <a:rPr lang="en-US" b="1" dirty="0" err="1"/>
              <a:t>ve</a:t>
            </a:r>
            <a:r>
              <a:rPr lang="en-US" b="1" dirty="0"/>
              <a:t> </a:t>
            </a:r>
            <a:r>
              <a:rPr lang="en-US" b="1" dirty="0" err="1"/>
              <a:t>Değerler</a:t>
            </a:r>
            <a:r>
              <a:rPr lang="en-US" b="1" dirty="0"/>
              <a:t>:</a:t>
            </a:r>
            <a:br>
              <a:rPr lang="en-US" dirty="0"/>
            </a:br>
            <a:r>
              <a:rPr lang="en-US" dirty="0"/>
              <a:t>Her </a:t>
            </a:r>
            <a:r>
              <a:rPr lang="en-US" dirty="0" err="1"/>
              <a:t>toplumda</a:t>
            </a:r>
            <a:r>
              <a:rPr lang="en-US" dirty="0"/>
              <a:t> </a:t>
            </a:r>
            <a:r>
              <a:rPr lang="en-US" dirty="0" err="1"/>
              <a:t>bireylerin</a:t>
            </a:r>
            <a:r>
              <a:rPr lang="en-US" dirty="0"/>
              <a:t> </a:t>
            </a:r>
            <a:r>
              <a:rPr lang="en-US" dirty="0" err="1"/>
              <a:t>davranışlarını</a:t>
            </a:r>
            <a:r>
              <a:rPr lang="en-US" dirty="0"/>
              <a:t> </a:t>
            </a:r>
            <a:r>
              <a:rPr lang="en-US" dirty="0" err="1"/>
              <a:t>yönlendiren</a:t>
            </a:r>
            <a:r>
              <a:rPr lang="en-US" dirty="0"/>
              <a:t> </a:t>
            </a:r>
            <a:r>
              <a:rPr lang="en-US" dirty="0" err="1"/>
              <a:t>kurallar</a:t>
            </a:r>
            <a:r>
              <a:rPr lang="en-US" dirty="0"/>
              <a:t> (</a:t>
            </a:r>
            <a:r>
              <a:rPr lang="en-US" dirty="0" err="1"/>
              <a:t>normlar</a:t>
            </a:r>
            <a:r>
              <a:rPr lang="en-US" dirty="0"/>
              <a:t>) </a:t>
            </a:r>
            <a:r>
              <a:rPr lang="en-US" dirty="0" err="1"/>
              <a:t>ve</a:t>
            </a:r>
            <a:r>
              <a:rPr lang="en-US" dirty="0"/>
              <a:t> </a:t>
            </a:r>
            <a:r>
              <a:rPr lang="en-US" dirty="0" err="1"/>
              <a:t>bunların</a:t>
            </a:r>
            <a:r>
              <a:rPr lang="en-US" dirty="0"/>
              <a:t> </a:t>
            </a:r>
            <a:r>
              <a:rPr lang="en-US" dirty="0" err="1"/>
              <a:t>dayandığı</a:t>
            </a:r>
            <a:r>
              <a:rPr lang="en-US" dirty="0"/>
              <a:t> </a:t>
            </a:r>
            <a:r>
              <a:rPr lang="en-US" dirty="0" err="1"/>
              <a:t>ilkeler</a:t>
            </a:r>
            <a:r>
              <a:rPr lang="en-US" dirty="0"/>
              <a:t> (</a:t>
            </a:r>
            <a:r>
              <a:rPr lang="en-US" dirty="0" err="1"/>
              <a:t>değerler</a:t>
            </a:r>
            <a:r>
              <a:rPr lang="en-US" dirty="0"/>
              <a:t>) </a:t>
            </a:r>
            <a:r>
              <a:rPr lang="en-US" dirty="0" err="1"/>
              <a:t>vardır</a:t>
            </a:r>
            <a:r>
              <a:rPr lang="en-US" dirty="0"/>
              <a:t>.</a:t>
            </a:r>
            <a:endParaRPr lang="tr-TR" dirty="0"/>
          </a:p>
          <a:p>
            <a:pPr lvl="0"/>
            <a:endParaRPr lang="en-US" dirty="0"/>
          </a:p>
          <a:p>
            <a:pPr lvl="0"/>
            <a:r>
              <a:rPr lang="tr-TR" b="1" dirty="0"/>
              <a:t>5. </a:t>
            </a:r>
            <a:r>
              <a:rPr lang="en-US" b="1" dirty="0" err="1"/>
              <a:t>Değişim</a:t>
            </a:r>
            <a:r>
              <a:rPr lang="en-US" b="1" dirty="0"/>
              <a:t> </a:t>
            </a:r>
            <a:r>
              <a:rPr lang="en-US" b="1" dirty="0" err="1"/>
              <a:t>ve</a:t>
            </a:r>
            <a:r>
              <a:rPr lang="en-US" b="1" dirty="0"/>
              <a:t> </a:t>
            </a:r>
            <a:r>
              <a:rPr lang="en-US" b="1" dirty="0" err="1"/>
              <a:t>Süreklilik</a:t>
            </a:r>
            <a:r>
              <a:rPr lang="en-US" b="1" dirty="0"/>
              <a:t>:</a:t>
            </a:r>
            <a:br>
              <a:rPr lang="en-US" dirty="0"/>
            </a:br>
            <a:r>
              <a:rPr lang="en-US" dirty="0" err="1"/>
              <a:t>Toplumlar</a:t>
            </a:r>
            <a:r>
              <a:rPr lang="en-US" dirty="0"/>
              <a:t> </a:t>
            </a:r>
            <a:r>
              <a:rPr lang="en-US" dirty="0" err="1"/>
              <a:t>durağan</a:t>
            </a:r>
            <a:r>
              <a:rPr lang="en-US" dirty="0"/>
              <a:t> </a:t>
            </a:r>
            <a:r>
              <a:rPr lang="en-US" dirty="0" err="1"/>
              <a:t>değildir</a:t>
            </a:r>
            <a:r>
              <a:rPr lang="en-US" dirty="0"/>
              <a:t>; </a:t>
            </a:r>
            <a:r>
              <a:rPr lang="en-US" dirty="0" err="1"/>
              <a:t>teknolojik</a:t>
            </a:r>
            <a:r>
              <a:rPr lang="en-US" dirty="0"/>
              <a:t>, </a:t>
            </a:r>
            <a:r>
              <a:rPr lang="en-US" dirty="0" err="1"/>
              <a:t>ekonomik</a:t>
            </a:r>
            <a:r>
              <a:rPr lang="en-US" dirty="0"/>
              <a:t> </a:t>
            </a:r>
            <a:r>
              <a:rPr lang="en-US" dirty="0" err="1"/>
              <a:t>ve</a:t>
            </a:r>
            <a:r>
              <a:rPr lang="en-US" dirty="0"/>
              <a:t> </a:t>
            </a:r>
            <a:r>
              <a:rPr lang="en-US" dirty="0" err="1"/>
              <a:t>kültürel</a:t>
            </a:r>
            <a:r>
              <a:rPr lang="en-US" dirty="0"/>
              <a:t> </a:t>
            </a:r>
            <a:r>
              <a:rPr lang="en-US" dirty="0" err="1"/>
              <a:t>gelişmelerle</a:t>
            </a:r>
            <a:r>
              <a:rPr lang="en-US" dirty="0"/>
              <a:t> </a:t>
            </a:r>
            <a:r>
              <a:rPr lang="en-US" dirty="0" err="1"/>
              <a:t>değişir</a:t>
            </a:r>
            <a:r>
              <a:rPr lang="en-US" dirty="0"/>
              <a:t>. </a:t>
            </a:r>
            <a:r>
              <a:rPr lang="en-US" dirty="0" err="1"/>
              <a:t>Ancak</a:t>
            </a:r>
            <a:r>
              <a:rPr lang="en-US" dirty="0"/>
              <a:t> </a:t>
            </a:r>
            <a:r>
              <a:rPr lang="en-US" dirty="0" err="1"/>
              <a:t>bu</a:t>
            </a:r>
            <a:r>
              <a:rPr lang="en-US" dirty="0"/>
              <a:t> </a:t>
            </a:r>
            <a:r>
              <a:rPr lang="en-US" dirty="0" err="1"/>
              <a:t>değişim</a:t>
            </a:r>
            <a:r>
              <a:rPr lang="en-US" dirty="0"/>
              <a:t>, </a:t>
            </a:r>
            <a:r>
              <a:rPr lang="en-US" dirty="0" err="1"/>
              <a:t>bir</a:t>
            </a:r>
            <a:r>
              <a:rPr lang="en-US" dirty="0"/>
              <a:t> </a:t>
            </a:r>
            <a:r>
              <a:rPr lang="en-US" dirty="0" err="1"/>
              <a:t>yandan</a:t>
            </a:r>
            <a:r>
              <a:rPr lang="en-US" dirty="0"/>
              <a:t> </a:t>
            </a:r>
            <a:r>
              <a:rPr lang="en-US" dirty="0" err="1"/>
              <a:t>sürekliliği</a:t>
            </a:r>
            <a:r>
              <a:rPr lang="en-US" dirty="0"/>
              <a:t> de </a:t>
            </a:r>
            <a:r>
              <a:rPr lang="en-US" dirty="0" err="1"/>
              <a:t>korur</a:t>
            </a:r>
            <a:r>
              <a:rPr lang="en-US" dirty="0"/>
              <a:t>.</a:t>
            </a:r>
          </a:p>
          <a:p>
            <a:endParaRPr lang="en-US" dirty="0"/>
          </a:p>
        </p:txBody>
      </p:sp>
    </p:spTree>
    <p:extLst>
      <p:ext uri="{BB962C8B-B14F-4D97-AF65-F5344CB8AC3E}">
        <p14:creationId xmlns:p14="http://schemas.microsoft.com/office/powerpoint/2010/main" val="1131718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9</a:t>
            </a:fld>
            <a:endParaRPr lang="en-US" dirty="0"/>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214604" y="242595"/>
            <a:ext cx="8192278" cy="6512767"/>
          </a:xfrm>
        </p:spPr>
        <p:txBody>
          <a:bodyPr>
            <a:normAutofit fontScale="92500" lnSpcReduction="10000"/>
          </a:bodyPr>
          <a:lstStyle/>
          <a:p>
            <a:endParaRPr lang="tr-TR" sz="2000" dirty="0"/>
          </a:p>
          <a:p>
            <a:r>
              <a:rPr lang="en-US" sz="2200" b="1" dirty="0" err="1"/>
              <a:t>Toplum</a:t>
            </a:r>
            <a:r>
              <a:rPr lang="en-US" sz="2200" b="1" dirty="0"/>
              <a:t> </a:t>
            </a:r>
            <a:r>
              <a:rPr lang="en-US" sz="2200" b="1" dirty="0" err="1"/>
              <a:t>Türleri</a:t>
            </a:r>
            <a:endParaRPr lang="en-US" sz="2200" b="1" dirty="0"/>
          </a:p>
          <a:p>
            <a:r>
              <a:rPr lang="en-US" sz="2200" dirty="0" err="1"/>
              <a:t>Sosyoloji</a:t>
            </a:r>
            <a:r>
              <a:rPr lang="en-US" sz="2200" dirty="0"/>
              <a:t>, </a:t>
            </a:r>
            <a:r>
              <a:rPr lang="en-US" sz="2200" dirty="0" err="1"/>
              <a:t>toplumu</a:t>
            </a:r>
            <a:r>
              <a:rPr lang="en-US" sz="2200" dirty="0"/>
              <a:t> </a:t>
            </a:r>
            <a:r>
              <a:rPr lang="en-US" sz="2200" dirty="0" err="1"/>
              <a:t>farklı</a:t>
            </a:r>
            <a:r>
              <a:rPr lang="en-US" sz="2200" dirty="0"/>
              <a:t> </a:t>
            </a:r>
            <a:r>
              <a:rPr lang="en-US" sz="2200" dirty="0" err="1"/>
              <a:t>biçimlerde</a:t>
            </a:r>
            <a:r>
              <a:rPr lang="en-US" sz="2200" dirty="0"/>
              <a:t> </a:t>
            </a:r>
            <a:r>
              <a:rPr lang="en-US" sz="2200" dirty="0" err="1"/>
              <a:t>sınıflandırır</a:t>
            </a:r>
            <a:r>
              <a:rPr lang="en-US" sz="2200" dirty="0"/>
              <a:t>:</a:t>
            </a:r>
            <a:endParaRPr lang="tr-TR" sz="2200" dirty="0"/>
          </a:p>
          <a:p>
            <a:endParaRPr lang="en-US" sz="2200" dirty="0"/>
          </a:p>
          <a:p>
            <a:r>
              <a:rPr lang="en-US" sz="2200" b="1" dirty="0"/>
              <a:t>a) </a:t>
            </a:r>
            <a:r>
              <a:rPr lang="en-US" sz="2200" b="1" dirty="0" err="1"/>
              <a:t>Geleneksel</a:t>
            </a:r>
            <a:r>
              <a:rPr lang="en-US" sz="2200" b="1" dirty="0"/>
              <a:t> </a:t>
            </a:r>
            <a:r>
              <a:rPr lang="en-US" sz="2200" b="1" dirty="0" err="1"/>
              <a:t>Toplumlar</a:t>
            </a:r>
            <a:endParaRPr lang="en-US" sz="2200" dirty="0"/>
          </a:p>
          <a:p>
            <a:pPr lvl="0"/>
            <a:r>
              <a:rPr lang="en-US" sz="2200" dirty="0" err="1"/>
              <a:t>Yüz</a:t>
            </a:r>
            <a:r>
              <a:rPr lang="en-US" sz="2200" dirty="0"/>
              <a:t> </a:t>
            </a:r>
            <a:r>
              <a:rPr lang="en-US" sz="2200" dirty="0" err="1"/>
              <a:t>yüze</a:t>
            </a:r>
            <a:r>
              <a:rPr lang="en-US" sz="2200" dirty="0"/>
              <a:t> </a:t>
            </a:r>
            <a:r>
              <a:rPr lang="en-US" sz="2200" dirty="0" err="1"/>
              <a:t>ilişkilerin</a:t>
            </a:r>
            <a:r>
              <a:rPr lang="en-US" sz="2200" dirty="0"/>
              <a:t> </a:t>
            </a:r>
            <a:r>
              <a:rPr lang="en-US" sz="2200" dirty="0" err="1"/>
              <a:t>güçlü</a:t>
            </a:r>
            <a:r>
              <a:rPr lang="en-US" sz="2200" dirty="0"/>
              <a:t> </a:t>
            </a:r>
            <a:r>
              <a:rPr lang="en-US" sz="2200" dirty="0" err="1"/>
              <a:t>olduğu</a:t>
            </a:r>
            <a:r>
              <a:rPr lang="en-US" sz="2200" dirty="0"/>
              <a:t>, </a:t>
            </a:r>
            <a:r>
              <a:rPr lang="en-US" sz="2200" dirty="0" err="1"/>
              <a:t>dayanışmanın</a:t>
            </a:r>
            <a:r>
              <a:rPr lang="en-US" sz="2200" dirty="0"/>
              <a:t> </a:t>
            </a:r>
            <a:r>
              <a:rPr lang="en-US" sz="2200" dirty="0" err="1"/>
              <a:t>duygusal</a:t>
            </a:r>
            <a:r>
              <a:rPr lang="en-US" sz="2200" dirty="0"/>
              <a:t> </a:t>
            </a:r>
            <a:r>
              <a:rPr lang="en-US" sz="2200" dirty="0" err="1"/>
              <a:t>temelde</a:t>
            </a:r>
            <a:r>
              <a:rPr lang="en-US" sz="2200" dirty="0"/>
              <a:t> </a:t>
            </a:r>
            <a:r>
              <a:rPr lang="en-US" sz="2200" dirty="0" err="1"/>
              <a:t>kurulduğu</a:t>
            </a:r>
            <a:r>
              <a:rPr lang="en-US" sz="2200" dirty="0"/>
              <a:t> </a:t>
            </a:r>
            <a:r>
              <a:rPr lang="en-US" sz="2200" dirty="0" err="1"/>
              <a:t>toplumlardır</a:t>
            </a:r>
            <a:r>
              <a:rPr lang="en-US" sz="2200" dirty="0"/>
              <a:t>.</a:t>
            </a:r>
            <a:endParaRPr lang="tr-TR" sz="2200" dirty="0"/>
          </a:p>
          <a:p>
            <a:pPr lvl="0"/>
            <a:endParaRPr lang="en-US" sz="2200" dirty="0"/>
          </a:p>
          <a:p>
            <a:pPr lvl="0"/>
            <a:r>
              <a:rPr lang="en-US" sz="2200" dirty="0"/>
              <a:t>Durkheim buna </a:t>
            </a:r>
            <a:r>
              <a:rPr lang="en-US" sz="2200" b="1" dirty="0" err="1"/>
              <a:t>mekanik</a:t>
            </a:r>
            <a:r>
              <a:rPr lang="en-US" sz="2200" b="1" dirty="0"/>
              <a:t> </a:t>
            </a:r>
            <a:r>
              <a:rPr lang="en-US" sz="2200" b="1" dirty="0" err="1"/>
              <a:t>dayanışma</a:t>
            </a:r>
            <a:r>
              <a:rPr lang="en-US" sz="2200" dirty="0"/>
              <a:t> der.</a:t>
            </a:r>
          </a:p>
          <a:p>
            <a:pPr lvl="0"/>
            <a:r>
              <a:rPr lang="en-US" sz="2200" dirty="0"/>
              <a:t>Aile, din </a:t>
            </a:r>
            <a:r>
              <a:rPr lang="en-US" sz="2200" dirty="0" err="1"/>
              <a:t>ve</a:t>
            </a:r>
            <a:r>
              <a:rPr lang="en-US" sz="2200" dirty="0"/>
              <a:t> </a:t>
            </a:r>
            <a:r>
              <a:rPr lang="en-US" sz="2200" dirty="0" err="1"/>
              <a:t>gelenek</a:t>
            </a:r>
            <a:r>
              <a:rPr lang="en-US" sz="2200" dirty="0"/>
              <a:t> </a:t>
            </a:r>
            <a:r>
              <a:rPr lang="en-US" sz="2200" dirty="0" err="1"/>
              <a:t>bu</a:t>
            </a:r>
            <a:r>
              <a:rPr lang="en-US" sz="2200" dirty="0"/>
              <a:t> </a:t>
            </a:r>
            <a:r>
              <a:rPr lang="en-US" sz="2200" dirty="0" err="1"/>
              <a:t>toplumlarda</a:t>
            </a:r>
            <a:r>
              <a:rPr lang="en-US" sz="2200" dirty="0"/>
              <a:t> </a:t>
            </a:r>
            <a:r>
              <a:rPr lang="en-US" sz="2200" dirty="0" err="1"/>
              <a:t>belirleyicidir</a:t>
            </a:r>
            <a:r>
              <a:rPr lang="en-US" sz="2200" dirty="0"/>
              <a:t>.</a:t>
            </a:r>
          </a:p>
          <a:p>
            <a:pPr lvl="0"/>
            <a:r>
              <a:rPr lang="en-US" sz="2200" dirty="0"/>
              <a:t>Örnek: </a:t>
            </a:r>
            <a:r>
              <a:rPr lang="en-US" sz="2200" dirty="0" err="1"/>
              <a:t>Osmanlı</a:t>
            </a:r>
            <a:r>
              <a:rPr lang="en-US" sz="2200" dirty="0"/>
              <a:t> </a:t>
            </a:r>
            <a:r>
              <a:rPr lang="en-US" sz="2200" dirty="0" err="1"/>
              <a:t>köy</a:t>
            </a:r>
            <a:r>
              <a:rPr lang="en-US" sz="2200" dirty="0"/>
              <a:t> </a:t>
            </a:r>
            <a:r>
              <a:rPr lang="en-US" sz="2200" dirty="0" err="1"/>
              <a:t>toplumu</a:t>
            </a:r>
            <a:r>
              <a:rPr lang="en-US" sz="2200" dirty="0"/>
              <a:t>, 19. </a:t>
            </a:r>
            <a:r>
              <a:rPr lang="en-US" sz="2200" dirty="0" err="1"/>
              <a:t>yüzyılın</a:t>
            </a:r>
            <a:r>
              <a:rPr lang="en-US" sz="2200" dirty="0"/>
              <a:t> </a:t>
            </a:r>
            <a:r>
              <a:rPr lang="en-US" sz="2200" dirty="0" err="1"/>
              <a:t>başlarındaki</a:t>
            </a:r>
            <a:r>
              <a:rPr lang="en-US" sz="2200" dirty="0"/>
              <a:t> </a:t>
            </a:r>
            <a:r>
              <a:rPr lang="en-US" sz="2200" dirty="0" err="1"/>
              <a:t>Kıbrıs</a:t>
            </a:r>
            <a:r>
              <a:rPr lang="en-US" sz="2200" dirty="0"/>
              <a:t> </a:t>
            </a:r>
            <a:r>
              <a:rPr lang="en-US" sz="2200" dirty="0" err="1"/>
              <a:t>köyleri</a:t>
            </a:r>
            <a:r>
              <a:rPr lang="en-US" sz="2200" dirty="0"/>
              <a:t>.</a:t>
            </a:r>
            <a:endParaRPr lang="tr-TR" sz="2200" dirty="0"/>
          </a:p>
          <a:p>
            <a:pPr lvl="0"/>
            <a:endParaRPr lang="en-US" sz="2200" dirty="0"/>
          </a:p>
          <a:p>
            <a:r>
              <a:rPr lang="en-US" sz="2200" b="1" dirty="0"/>
              <a:t>b) Modern </a:t>
            </a:r>
            <a:r>
              <a:rPr lang="en-US" sz="2200" b="1" dirty="0" err="1"/>
              <a:t>Toplumlar</a:t>
            </a:r>
            <a:endParaRPr lang="en-US" sz="2200" dirty="0"/>
          </a:p>
          <a:p>
            <a:pPr lvl="0"/>
            <a:r>
              <a:rPr lang="en-US" sz="2200" dirty="0" err="1"/>
              <a:t>İş</a:t>
            </a:r>
            <a:r>
              <a:rPr lang="en-US" sz="2200" dirty="0"/>
              <a:t> </a:t>
            </a:r>
            <a:r>
              <a:rPr lang="en-US" sz="2200" dirty="0" err="1"/>
              <a:t>bölümü</a:t>
            </a:r>
            <a:r>
              <a:rPr lang="en-US" sz="2200" dirty="0"/>
              <a:t> </a:t>
            </a:r>
            <a:r>
              <a:rPr lang="en-US" sz="2200" dirty="0" err="1"/>
              <a:t>gelişmiştir</a:t>
            </a:r>
            <a:r>
              <a:rPr lang="en-US" sz="2200" dirty="0"/>
              <a:t>, </a:t>
            </a:r>
            <a:r>
              <a:rPr lang="en-US" sz="2200" dirty="0" err="1"/>
              <a:t>bireycilik</a:t>
            </a:r>
            <a:r>
              <a:rPr lang="en-US" sz="2200" dirty="0"/>
              <a:t> </a:t>
            </a:r>
            <a:r>
              <a:rPr lang="en-US" sz="2200" dirty="0" err="1"/>
              <a:t>artmıştır</a:t>
            </a:r>
            <a:r>
              <a:rPr lang="en-US" sz="2200" dirty="0"/>
              <a:t>.</a:t>
            </a:r>
          </a:p>
          <a:p>
            <a:pPr lvl="0"/>
            <a:r>
              <a:rPr lang="en-US" sz="2200" dirty="0" err="1"/>
              <a:t>Dayanışma</a:t>
            </a:r>
            <a:r>
              <a:rPr lang="en-US" sz="2200" dirty="0"/>
              <a:t>, </a:t>
            </a:r>
            <a:r>
              <a:rPr lang="en-US" sz="2200" dirty="0" err="1"/>
              <a:t>farklı</a:t>
            </a:r>
            <a:r>
              <a:rPr lang="en-US" sz="2200" dirty="0"/>
              <a:t> </a:t>
            </a:r>
            <a:r>
              <a:rPr lang="en-US" sz="2200" dirty="0" err="1"/>
              <a:t>görevlerin</a:t>
            </a:r>
            <a:r>
              <a:rPr lang="en-US" sz="2200" dirty="0"/>
              <a:t> </a:t>
            </a:r>
            <a:r>
              <a:rPr lang="en-US" sz="2200" dirty="0" err="1"/>
              <a:t>uyumlu</a:t>
            </a:r>
            <a:r>
              <a:rPr lang="en-US" sz="2200" dirty="0"/>
              <a:t> </a:t>
            </a:r>
            <a:r>
              <a:rPr lang="en-US" sz="2200" dirty="0" err="1"/>
              <a:t>biçimde</a:t>
            </a:r>
            <a:r>
              <a:rPr lang="en-US" sz="2200" dirty="0"/>
              <a:t> </a:t>
            </a:r>
            <a:r>
              <a:rPr lang="en-US" sz="2200" dirty="0" err="1"/>
              <a:t>işlemesine</a:t>
            </a:r>
            <a:r>
              <a:rPr lang="en-US" sz="2200" dirty="0"/>
              <a:t> </a:t>
            </a:r>
            <a:r>
              <a:rPr lang="en-US" sz="2200" dirty="0" err="1"/>
              <a:t>dayanır</a:t>
            </a:r>
            <a:r>
              <a:rPr lang="en-US" sz="2200" dirty="0"/>
              <a:t> (</a:t>
            </a:r>
            <a:r>
              <a:rPr lang="en-US" sz="2200" b="1" dirty="0" err="1"/>
              <a:t>organik</a:t>
            </a:r>
            <a:r>
              <a:rPr lang="en-US" sz="2200" b="1" dirty="0"/>
              <a:t> </a:t>
            </a:r>
            <a:r>
              <a:rPr lang="en-US" sz="2200" b="1" dirty="0" err="1"/>
              <a:t>dayanışma</a:t>
            </a:r>
            <a:r>
              <a:rPr lang="en-US" sz="2200" dirty="0"/>
              <a:t>).</a:t>
            </a:r>
          </a:p>
          <a:p>
            <a:pPr lvl="0"/>
            <a:r>
              <a:rPr lang="en-US" sz="2200" dirty="0" err="1"/>
              <a:t>Eğitim</a:t>
            </a:r>
            <a:r>
              <a:rPr lang="en-US" sz="2200" dirty="0"/>
              <a:t>, </a:t>
            </a:r>
            <a:r>
              <a:rPr lang="en-US" sz="2200" dirty="0" err="1"/>
              <a:t>ekonomi</a:t>
            </a:r>
            <a:r>
              <a:rPr lang="en-US" sz="2200" dirty="0"/>
              <a:t>, </a:t>
            </a:r>
            <a:r>
              <a:rPr lang="en-US" sz="2200" dirty="0" err="1"/>
              <a:t>hukuk</a:t>
            </a:r>
            <a:r>
              <a:rPr lang="en-US" sz="2200" dirty="0"/>
              <a:t> </a:t>
            </a:r>
            <a:r>
              <a:rPr lang="en-US" sz="2200" dirty="0" err="1"/>
              <a:t>kurumları</a:t>
            </a:r>
            <a:r>
              <a:rPr lang="en-US" sz="2200" dirty="0"/>
              <a:t> </a:t>
            </a:r>
            <a:r>
              <a:rPr lang="en-US" sz="2200" dirty="0" err="1"/>
              <a:t>ön</a:t>
            </a:r>
            <a:r>
              <a:rPr lang="en-US" sz="2200" dirty="0"/>
              <a:t> </a:t>
            </a:r>
            <a:r>
              <a:rPr lang="en-US" sz="2200" dirty="0" err="1"/>
              <a:t>plandadır</a:t>
            </a:r>
            <a:r>
              <a:rPr lang="en-US" sz="2200" dirty="0"/>
              <a:t>.</a:t>
            </a:r>
          </a:p>
          <a:p>
            <a:endParaRPr lang="en-US" dirty="0"/>
          </a:p>
        </p:txBody>
      </p:sp>
    </p:spTree>
    <p:extLst>
      <p:ext uri="{BB962C8B-B14F-4D97-AF65-F5344CB8AC3E}">
        <p14:creationId xmlns:p14="http://schemas.microsoft.com/office/powerpoint/2010/main" val="2468595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5">
            <a:extLst>
              <a:ext uri="{FF2B5EF4-FFF2-40B4-BE49-F238E27FC236}">
                <a16:creationId xmlns:a16="http://schemas.microsoft.com/office/drawing/2014/main" id="{58AC0C8B-8A7A-9FAE-2D0F-4D1C3A8C3FA5}"/>
              </a:ext>
            </a:extLst>
          </p:cNvPr>
          <p:cNvSpPr>
            <a:spLocks noGrp="1"/>
          </p:cNvSpPr>
          <p:nvPr>
            <p:ph sz="half" idx="1"/>
          </p:nvPr>
        </p:nvSpPr>
        <p:spPr>
          <a:xfrm>
            <a:off x="485192" y="554231"/>
            <a:ext cx="8060321" cy="5892607"/>
          </a:xfrm>
        </p:spPr>
        <p:txBody>
          <a:bodyPr/>
          <a:lstStyle/>
          <a:p>
            <a:endParaRPr lang="tr-TR" dirty="0"/>
          </a:p>
          <a:p>
            <a:endParaRPr lang="tr-TR" dirty="0"/>
          </a:p>
          <a:p>
            <a:pPr lvl="0"/>
            <a:r>
              <a:rPr lang="en-US" dirty="0"/>
              <a:t>Örnek: </a:t>
            </a:r>
            <a:r>
              <a:rPr lang="en-US" dirty="0" err="1"/>
              <a:t>Günümüz</a:t>
            </a:r>
            <a:r>
              <a:rPr lang="en-US" dirty="0"/>
              <a:t> </a:t>
            </a:r>
            <a:r>
              <a:rPr lang="en-US" dirty="0" err="1"/>
              <a:t>Avrupa’sı</a:t>
            </a:r>
            <a:r>
              <a:rPr lang="en-US" dirty="0"/>
              <a:t>, </a:t>
            </a:r>
            <a:r>
              <a:rPr lang="en-US" dirty="0" err="1"/>
              <a:t>Türkiye’nin</a:t>
            </a:r>
            <a:r>
              <a:rPr lang="en-US" dirty="0"/>
              <a:t> </a:t>
            </a:r>
            <a:r>
              <a:rPr lang="en-US" dirty="0" err="1"/>
              <a:t>şehirleşmiş</a:t>
            </a:r>
            <a:r>
              <a:rPr lang="en-US" dirty="0"/>
              <a:t> </a:t>
            </a:r>
            <a:r>
              <a:rPr lang="en-US" dirty="0" err="1"/>
              <a:t>bölgeleri</a:t>
            </a:r>
            <a:r>
              <a:rPr lang="en-US" dirty="0"/>
              <a:t>.</a:t>
            </a:r>
          </a:p>
          <a:p>
            <a:r>
              <a:rPr lang="en-US" b="1" dirty="0"/>
              <a:t>c) Postmodern </a:t>
            </a:r>
            <a:r>
              <a:rPr lang="en-US" b="1" dirty="0" err="1"/>
              <a:t>Toplumlar</a:t>
            </a:r>
            <a:endParaRPr lang="en-US" dirty="0"/>
          </a:p>
          <a:p>
            <a:pPr lvl="0"/>
            <a:r>
              <a:rPr lang="en-US" dirty="0" err="1"/>
              <a:t>Teknolojiye</a:t>
            </a:r>
            <a:r>
              <a:rPr lang="en-US" dirty="0"/>
              <a:t> </a:t>
            </a:r>
            <a:r>
              <a:rPr lang="en-US" dirty="0" err="1"/>
              <a:t>dayalı</a:t>
            </a:r>
            <a:r>
              <a:rPr lang="en-US" dirty="0"/>
              <a:t>, </a:t>
            </a:r>
            <a:r>
              <a:rPr lang="en-US" dirty="0" err="1"/>
              <a:t>hızlı</a:t>
            </a:r>
            <a:r>
              <a:rPr lang="en-US" dirty="0"/>
              <a:t> </a:t>
            </a:r>
            <a:r>
              <a:rPr lang="en-US" dirty="0" err="1"/>
              <a:t>iletişim</a:t>
            </a:r>
            <a:r>
              <a:rPr lang="en-US" dirty="0"/>
              <a:t> </a:t>
            </a:r>
            <a:r>
              <a:rPr lang="en-US" dirty="0" err="1"/>
              <a:t>ve</a:t>
            </a:r>
            <a:r>
              <a:rPr lang="en-US" dirty="0"/>
              <a:t> </a:t>
            </a:r>
            <a:r>
              <a:rPr lang="en-US" dirty="0" err="1"/>
              <a:t>tüketim</a:t>
            </a:r>
            <a:r>
              <a:rPr lang="en-US" dirty="0"/>
              <a:t> </a:t>
            </a:r>
            <a:r>
              <a:rPr lang="en-US" dirty="0" err="1"/>
              <a:t>kültürünün</a:t>
            </a:r>
            <a:r>
              <a:rPr lang="en-US" dirty="0"/>
              <a:t> </a:t>
            </a:r>
            <a:r>
              <a:rPr lang="en-US" dirty="0" err="1"/>
              <a:t>baskın</a:t>
            </a:r>
            <a:r>
              <a:rPr lang="en-US" dirty="0"/>
              <a:t> </a:t>
            </a:r>
            <a:r>
              <a:rPr lang="en-US" dirty="0" err="1"/>
              <a:t>olduğu</a:t>
            </a:r>
            <a:r>
              <a:rPr lang="en-US" dirty="0"/>
              <a:t> </a:t>
            </a:r>
            <a:r>
              <a:rPr lang="en-US" dirty="0" err="1"/>
              <a:t>toplumlardır</a:t>
            </a:r>
            <a:r>
              <a:rPr lang="en-US" dirty="0"/>
              <a:t>.</a:t>
            </a:r>
          </a:p>
          <a:p>
            <a:pPr lvl="0"/>
            <a:r>
              <a:rPr lang="en-US" dirty="0" err="1"/>
              <a:t>Birey</a:t>
            </a:r>
            <a:r>
              <a:rPr lang="en-US" dirty="0"/>
              <a:t> </a:t>
            </a:r>
            <a:r>
              <a:rPr lang="en-US" dirty="0" err="1"/>
              <a:t>kimliğini</a:t>
            </a:r>
            <a:r>
              <a:rPr lang="en-US" dirty="0"/>
              <a:t> </a:t>
            </a:r>
            <a:r>
              <a:rPr lang="en-US" dirty="0" err="1"/>
              <a:t>medya</a:t>
            </a:r>
            <a:r>
              <a:rPr lang="en-US" dirty="0"/>
              <a:t> </a:t>
            </a:r>
            <a:r>
              <a:rPr lang="en-US" dirty="0" err="1"/>
              <a:t>ve</a:t>
            </a:r>
            <a:r>
              <a:rPr lang="en-US" dirty="0"/>
              <a:t> </a:t>
            </a:r>
            <a:r>
              <a:rPr lang="en-US" dirty="0" err="1"/>
              <a:t>dijital</a:t>
            </a:r>
            <a:r>
              <a:rPr lang="en-US" dirty="0"/>
              <a:t> </a:t>
            </a:r>
            <a:r>
              <a:rPr lang="en-US" dirty="0" err="1"/>
              <a:t>ağlar</a:t>
            </a:r>
            <a:r>
              <a:rPr lang="en-US" dirty="0"/>
              <a:t> </a:t>
            </a:r>
            <a:r>
              <a:rPr lang="en-US" dirty="0" err="1"/>
              <a:t>üzerinden</a:t>
            </a:r>
            <a:r>
              <a:rPr lang="en-US" dirty="0"/>
              <a:t> </a:t>
            </a:r>
            <a:r>
              <a:rPr lang="en-US" dirty="0" err="1"/>
              <a:t>tanımlar</a:t>
            </a:r>
            <a:r>
              <a:rPr lang="en-US" dirty="0"/>
              <a:t>.</a:t>
            </a:r>
          </a:p>
          <a:p>
            <a:pPr lvl="0"/>
            <a:r>
              <a:rPr lang="en-US" dirty="0"/>
              <a:t>Örnek: </a:t>
            </a:r>
            <a:r>
              <a:rPr lang="en-US" dirty="0" err="1"/>
              <a:t>Dijital</a:t>
            </a:r>
            <a:r>
              <a:rPr lang="en-US" dirty="0"/>
              <a:t> </a:t>
            </a:r>
            <a:r>
              <a:rPr lang="en-US" dirty="0" err="1"/>
              <a:t>çağın</a:t>
            </a:r>
            <a:r>
              <a:rPr lang="en-US" dirty="0"/>
              <a:t> “</a:t>
            </a:r>
            <a:r>
              <a:rPr lang="en-US" dirty="0" err="1"/>
              <a:t>sanal</a:t>
            </a:r>
            <a:r>
              <a:rPr lang="en-US" dirty="0"/>
              <a:t> </a:t>
            </a:r>
            <a:r>
              <a:rPr lang="en-US" dirty="0" err="1"/>
              <a:t>toplulukları</a:t>
            </a:r>
            <a:r>
              <a:rPr lang="en-US" dirty="0"/>
              <a:t>” (Instagram, X, TikTok </a:t>
            </a:r>
            <a:r>
              <a:rPr lang="en-US" dirty="0" err="1"/>
              <a:t>gibi</a:t>
            </a:r>
            <a:r>
              <a:rPr lang="en-US" dirty="0"/>
              <a:t> </a:t>
            </a:r>
            <a:r>
              <a:rPr lang="en-US" dirty="0" err="1"/>
              <a:t>çevrim</a:t>
            </a:r>
            <a:r>
              <a:rPr lang="en-US" dirty="0"/>
              <a:t> </a:t>
            </a:r>
            <a:r>
              <a:rPr lang="en-US" dirty="0" err="1"/>
              <a:t>içi</a:t>
            </a:r>
            <a:r>
              <a:rPr lang="en-US" dirty="0"/>
              <a:t> </a:t>
            </a:r>
            <a:r>
              <a:rPr lang="en-US" dirty="0" err="1"/>
              <a:t>ağlar</a:t>
            </a:r>
            <a:r>
              <a:rPr lang="en-US" dirty="0"/>
              <a:t>).</a:t>
            </a:r>
          </a:p>
          <a:p>
            <a:endParaRPr lang="tr-TR" dirty="0"/>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10</a:t>
            </a:fld>
            <a:endParaRPr lang="en-US" dirty="0"/>
          </a:p>
        </p:txBody>
      </p:sp>
    </p:spTree>
    <p:extLst>
      <p:ext uri="{BB962C8B-B14F-4D97-AF65-F5344CB8AC3E}">
        <p14:creationId xmlns:p14="http://schemas.microsoft.com/office/powerpoint/2010/main" val="1941619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FF6BFEC5-1D1E-CA74-3AC3-9AD94C1F1C2C}"/>
              </a:ext>
            </a:extLst>
          </p:cNvPr>
          <p:cNvPicPr>
            <a:picLocks noGrp="1" noChangeAspect="1"/>
          </p:cNvPicPr>
          <p:nvPr>
            <p:ph sz="half" idx="15"/>
          </p:nvPr>
        </p:nvPicPr>
        <p:blipFill>
          <a:blip r:embed="rId2"/>
          <a:stretch>
            <a:fillRect/>
          </a:stretch>
        </p:blipFill>
        <p:spPr>
          <a:xfrm>
            <a:off x="1614195" y="1091682"/>
            <a:ext cx="8304245" cy="5309119"/>
          </a:xfrm>
          <a:prstGeom prst="rect">
            <a:avLst/>
          </a:prstGeom>
        </p:spPr>
      </p:pic>
      <p:sp>
        <p:nvSpPr>
          <p:cNvPr id="6" name="Slide Number Placeholder 5">
            <a:extLst>
              <a:ext uri="{FF2B5EF4-FFF2-40B4-BE49-F238E27FC236}">
                <a16:creationId xmlns:a16="http://schemas.microsoft.com/office/drawing/2014/main" id="{E5F27953-97FB-118B-4AA0-A1707F4E5548}"/>
              </a:ext>
            </a:extLst>
          </p:cNvPr>
          <p:cNvSpPr>
            <a:spLocks noGrp="1"/>
          </p:cNvSpPr>
          <p:nvPr>
            <p:ph type="sldNum" sz="quarter" idx="10"/>
          </p:nvPr>
        </p:nvSpPr>
        <p:spPr/>
        <p:txBody>
          <a:bodyPr/>
          <a:lstStyle/>
          <a:p>
            <a:fld id="{48F63A3B-78C7-47BE-AE5E-E10140E04643}" type="slidenum">
              <a:rPr lang="en-US" smtClean="0"/>
              <a:pPr/>
              <a:t>11</a:t>
            </a:fld>
            <a:endParaRPr lang="en-US" dirty="0"/>
          </a:p>
        </p:txBody>
      </p:sp>
    </p:spTree>
    <p:extLst>
      <p:ext uri="{BB962C8B-B14F-4D97-AF65-F5344CB8AC3E}">
        <p14:creationId xmlns:p14="http://schemas.microsoft.com/office/powerpoint/2010/main" val="2665198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CE55D3D-AA24-CF53-6679-29B3C83F7646}"/>
              </a:ext>
            </a:extLst>
          </p:cNvPr>
          <p:cNvSpPr>
            <a:spLocks noGrp="1"/>
          </p:cNvSpPr>
          <p:nvPr>
            <p:ph idx="13"/>
          </p:nvPr>
        </p:nvSpPr>
        <p:spPr>
          <a:xfrm>
            <a:off x="475861" y="643813"/>
            <a:ext cx="8513593" cy="5831632"/>
          </a:xfrm>
        </p:spPr>
        <p:txBody>
          <a:bodyPr>
            <a:normAutofit lnSpcReduction="10000"/>
          </a:bodyPr>
          <a:lstStyle/>
          <a:p>
            <a:r>
              <a:rPr lang="en-US" b="1" dirty="0" err="1"/>
              <a:t>Toplumun</a:t>
            </a:r>
            <a:r>
              <a:rPr lang="en-US" b="1" dirty="0"/>
              <a:t> </a:t>
            </a:r>
            <a:r>
              <a:rPr lang="en-US" b="1" dirty="0" err="1"/>
              <a:t>İşlevleri</a:t>
            </a:r>
            <a:endParaRPr lang="tr-TR" b="1" dirty="0"/>
          </a:p>
          <a:p>
            <a:endParaRPr lang="en-US" b="1" dirty="0"/>
          </a:p>
          <a:p>
            <a:pPr lvl="0"/>
            <a:r>
              <a:rPr lang="en-US" sz="1900" b="1" dirty="0" err="1"/>
              <a:t>Kimlik</a:t>
            </a:r>
            <a:r>
              <a:rPr lang="en-US" sz="1900" b="1" dirty="0"/>
              <a:t> </a:t>
            </a:r>
            <a:r>
              <a:rPr lang="en-US" sz="1900" b="1" dirty="0" err="1"/>
              <a:t>Kazandırma</a:t>
            </a:r>
            <a:r>
              <a:rPr lang="en-US" sz="1900" b="1" dirty="0"/>
              <a:t>:</a:t>
            </a:r>
            <a:br>
              <a:rPr lang="en-US" sz="1900" dirty="0"/>
            </a:br>
            <a:r>
              <a:rPr lang="en-US" sz="1900" dirty="0" err="1"/>
              <a:t>Toplum</a:t>
            </a:r>
            <a:r>
              <a:rPr lang="en-US" sz="1900" dirty="0"/>
              <a:t> </a:t>
            </a:r>
            <a:r>
              <a:rPr lang="en-US" sz="1900" dirty="0" err="1"/>
              <a:t>bireylere</a:t>
            </a:r>
            <a:r>
              <a:rPr lang="en-US" sz="1900" dirty="0"/>
              <a:t> “biz </a:t>
            </a:r>
            <a:r>
              <a:rPr lang="en-US" sz="1900" dirty="0" err="1"/>
              <a:t>kimiz</a:t>
            </a:r>
            <a:r>
              <a:rPr lang="en-US" sz="1900" dirty="0"/>
              <a:t>?” </a:t>
            </a:r>
            <a:r>
              <a:rPr lang="en-US" sz="1900" dirty="0" err="1"/>
              <a:t>sorusunun</a:t>
            </a:r>
            <a:r>
              <a:rPr lang="en-US" sz="1900" dirty="0"/>
              <a:t> </a:t>
            </a:r>
            <a:r>
              <a:rPr lang="en-US" sz="1900" dirty="0" err="1"/>
              <a:t>cevabını</a:t>
            </a:r>
            <a:r>
              <a:rPr lang="en-US" sz="1900" dirty="0"/>
              <a:t> </a:t>
            </a:r>
            <a:r>
              <a:rPr lang="en-US" sz="1900" dirty="0" err="1"/>
              <a:t>verir</a:t>
            </a:r>
            <a:r>
              <a:rPr lang="en-US" sz="1900" dirty="0"/>
              <a:t>.</a:t>
            </a:r>
            <a:br>
              <a:rPr lang="en-US" sz="1900" dirty="0"/>
            </a:br>
            <a:r>
              <a:rPr lang="en-US" sz="1900" dirty="0"/>
              <a:t>Dil, din, </a:t>
            </a:r>
            <a:r>
              <a:rPr lang="en-US" sz="1900" dirty="0" err="1"/>
              <a:t>tarih</a:t>
            </a:r>
            <a:r>
              <a:rPr lang="en-US" sz="1900" dirty="0"/>
              <a:t> </a:t>
            </a:r>
            <a:r>
              <a:rPr lang="en-US" sz="1900" dirty="0" err="1"/>
              <a:t>ve</a:t>
            </a:r>
            <a:r>
              <a:rPr lang="en-US" sz="1900" dirty="0"/>
              <a:t> </a:t>
            </a:r>
            <a:r>
              <a:rPr lang="en-US" sz="1900" dirty="0" err="1"/>
              <a:t>kültür</a:t>
            </a:r>
            <a:r>
              <a:rPr lang="en-US" sz="1900" dirty="0"/>
              <a:t> </a:t>
            </a:r>
            <a:r>
              <a:rPr lang="en-US" sz="1900" dirty="0" err="1"/>
              <a:t>aracılığıyla</a:t>
            </a:r>
            <a:r>
              <a:rPr lang="en-US" sz="1900" dirty="0"/>
              <a:t> </a:t>
            </a:r>
            <a:r>
              <a:rPr lang="en-US" sz="1900" dirty="0" err="1"/>
              <a:t>birey</a:t>
            </a:r>
            <a:r>
              <a:rPr lang="en-US" sz="1900" dirty="0"/>
              <a:t> </a:t>
            </a:r>
            <a:r>
              <a:rPr lang="en-US" sz="1900" dirty="0" err="1"/>
              <a:t>toplumsal</a:t>
            </a:r>
            <a:r>
              <a:rPr lang="en-US" sz="1900" dirty="0"/>
              <a:t> </a:t>
            </a:r>
            <a:r>
              <a:rPr lang="en-US" sz="1900" dirty="0" err="1"/>
              <a:t>kimlik</a:t>
            </a:r>
            <a:r>
              <a:rPr lang="en-US" sz="1900" dirty="0"/>
              <a:t> </a:t>
            </a:r>
            <a:r>
              <a:rPr lang="en-US" sz="1900" dirty="0" err="1"/>
              <a:t>kazanır</a:t>
            </a:r>
            <a:r>
              <a:rPr lang="en-US" sz="1900" dirty="0"/>
              <a:t>.</a:t>
            </a:r>
            <a:endParaRPr lang="tr-TR" sz="1900" dirty="0"/>
          </a:p>
          <a:p>
            <a:pPr lvl="0"/>
            <a:endParaRPr lang="en-US" sz="1900" dirty="0"/>
          </a:p>
          <a:p>
            <a:pPr lvl="0"/>
            <a:r>
              <a:rPr lang="en-US" sz="1900" b="1" dirty="0" err="1"/>
              <a:t>Sosyalleşme</a:t>
            </a:r>
            <a:r>
              <a:rPr lang="en-US" sz="1900" b="1" dirty="0"/>
              <a:t>:</a:t>
            </a:r>
            <a:br>
              <a:rPr lang="en-US" sz="1900" dirty="0"/>
            </a:br>
            <a:r>
              <a:rPr lang="en-US" sz="1900" dirty="0" err="1"/>
              <a:t>Toplum</a:t>
            </a:r>
            <a:r>
              <a:rPr lang="en-US" sz="1900" dirty="0"/>
              <a:t> </a:t>
            </a:r>
            <a:r>
              <a:rPr lang="en-US" sz="1900" dirty="0" err="1"/>
              <a:t>bireye</a:t>
            </a:r>
            <a:r>
              <a:rPr lang="en-US" sz="1900" dirty="0"/>
              <a:t> </a:t>
            </a:r>
            <a:r>
              <a:rPr lang="en-US" sz="1900" dirty="0" err="1"/>
              <a:t>kuralları</a:t>
            </a:r>
            <a:r>
              <a:rPr lang="en-US" sz="1900" dirty="0"/>
              <a:t> </a:t>
            </a:r>
            <a:r>
              <a:rPr lang="en-US" sz="1900" dirty="0" err="1"/>
              <a:t>öğretir</a:t>
            </a:r>
            <a:r>
              <a:rPr lang="en-US" sz="1900" dirty="0"/>
              <a:t>, </a:t>
            </a:r>
            <a:r>
              <a:rPr lang="en-US" sz="1900" dirty="0" err="1"/>
              <a:t>değerleri</a:t>
            </a:r>
            <a:r>
              <a:rPr lang="en-US" sz="1900" dirty="0"/>
              <a:t> </a:t>
            </a:r>
            <a:r>
              <a:rPr lang="en-US" sz="1900" dirty="0" err="1"/>
              <a:t>aktarır</a:t>
            </a:r>
            <a:r>
              <a:rPr lang="en-US" sz="1900" dirty="0"/>
              <a:t>.</a:t>
            </a:r>
            <a:br>
              <a:rPr lang="en-US" sz="1900" dirty="0"/>
            </a:br>
            <a:r>
              <a:rPr lang="en-US" sz="1900" dirty="0"/>
              <a:t>Aile, </a:t>
            </a:r>
            <a:r>
              <a:rPr lang="en-US" sz="1900" dirty="0" err="1"/>
              <a:t>okul</a:t>
            </a:r>
            <a:r>
              <a:rPr lang="en-US" sz="1900" dirty="0"/>
              <a:t>, </a:t>
            </a:r>
            <a:r>
              <a:rPr lang="en-US" sz="1900" dirty="0" err="1"/>
              <a:t>medya</a:t>
            </a:r>
            <a:r>
              <a:rPr lang="en-US" sz="1900" dirty="0"/>
              <a:t> </a:t>
            </a:r>
            <a:r>
              <a:rPr lang="en-US" sz="1900" dirty="0" err="1"/>
              <a:t>gibi</a:t>
            </a:r>
            <a:r>
              <a:rPr lang="en-US" sz="1900" dirty="0"/>
              <a:t> </a:t>
            </a:r>
            <a:r>
              <a:rPr lang="en-US" sz="1900" dirty="0" err="1"/>
              <a:t>kurumlar</a:t>
            </a:r>
            <a:r>
              <a:rPr lang="en-US" sz="1900" dirty="0"/>
              <a:t> </a:t>
            </a:r>
            <a:r>
              <a:rPr lang="en-US" sz="1900" dirty="0" err="1"/>
              <a:t>sosyalleşmenin</a:t>
            </a:r>
            <a:r>
              <a:rPr lang="en-US" sz="1900" dirty="0"/>
              <a:t> </a:t>
            </a:r>
            <a:r>
              <a:rPr lang="en-US" sz="1900" dirty="0" err="1"/>
              <a:t>temel</a:t>
            </a:r>
            <a:r>
              <a:rPr lang="en-US" sz="1900" dirty="0"/>
              <a:t> </a:t>
            </a:r>
            <a:r>
              <a:rPr lang="en-US" sz="1900" dirty="0" err="1"/>
              <a:t>aracıdır</a:t>
            </a:r>
            <a:r>
              <a:rPr lang="en-US" sz="1900" dirty="0"/>
              <a:t>.</a:t>
            </a:r>
            <a:endParaRPr lang="tr-TR" sz="1900" dirty="0"/>
          </a:p>
          <a:p>
            <a:pPr lvl="0"/>
            <a:endParaRPr lang="en-US" sz="1900" dirty="0"/>
          </a:p>
          <a:p>
            <a:pPr lvl="0"/>
            <a:r>
              <a:rPr lang="en-US" sz="1900" b="1" dirty="0" err="1"/>
              <a:t>Toplumsal</a:t>
            </a:r>
            <a:r>
              <a:rPr lang="en-US" sz="1900" b="1" dirty="0"/>
              <a:t> </a:t>
            </a:r>
            <a:r>
              <a:rPr lang="en-US" sz="1900" b="1" dirty="0" err="1"/>
              <a:t>Kontrol</a:t>
            </a:r>
            <a:r>
              <a:rPr lang="en-US" sz="1900" b="1" dirty="0"/>
              <a:t>:</a:t>
            </a:r>
            <a:br>
              <a:rPr lang="en-US" sz="1900" dirty="0"/>
            </a:br>
            <a:r>
              <a:rPr lang="en-US" sz="1900" dirty="0" err="1"/>
              <a:t>Kurallar</a:t>
            </a:r>
            <a:r>
              <a:rPr lang="en-US" sz="1900" dirty="0"/>
              <a:t>, </a:t>
            </a:r>
            <a:r>
              <a:rPr lang="en-US" sz="1900" dirty="0" err="1"/>
              <a:t>yasalar</a:t>
            </a:r>
            <a:r>
              <a:rPr lang="en-US" sz="1900" dirty="0"/>
              <a:t>, </a:t>
            </a:r>
            <a:r>
              <a:rPr lang="en-US" sz="1900" dirty="0" err="1"/>
              <a:t>ahlak</a:t>
            </a:r>
            <a:r>
              <a:rPr lang="en-US" sz="1900" dirty="0"/>
              <a:t> </a:t>
            </a:r>
            <a:r>
              <a:rPr lang="en-US" sz="1900" dirty="0" err="1"/>
              <a:t>ve</a:t>
            </a:r>
            <a:r>
              <a:rPr lang="en-US" sz="1900" dirty="0"/>
              <a:t> din </a:t>
            </a:r>
            <a:r>
              <a:rPr lang="en-US" sz="1900" dirty="0" err="1"/>
              <a:t>aracılığıyla</a:t>
            </a:r>
            <a:r>
              <a:rPr lang="en-US" sz="1900" dirty="0"/>
              <a:t> </a:t>
            </a:r>
            <a:r>
              <a:rPr lang="en-US" sz="1900" dirty="0" err="1"/>
              <a:t>bireylerin</a:t>
            </a:r>
            <a:r>
              <a:rPr lang="en-US" sz="1900" dirty="0"/>
              <a:t> </a:t>
            </a:r>
            <a:r>
              <a:rPr lang="en-US" sz="1900" dirty="0" err="1"/>
              <a:t>davranışları</a:t>
            </a:r>
            <a:r>
              <a:rPr lang="en-US" sz="1900" dirty="0"/>
              <a:t> </a:t>
            </a:r>
            <a:r>
              <a:rPr lang="en-US" sz="1900" dirty="0" err="1"/>
              <a:t>düzenlenir</a:t>
            </a:r>
            <a:r>
              <a:rPr lang="en-US" sz="1900" dirty="0"/>
              <a:t>.</a:t>
            </a:r>
            <a:endParaRPr lang="tr-TR" sz="1900" dirty="0"/>
          </a:p>
          <a:p>
            <a:pPr lvl="0"/>
            <a:endParaRPr lang="en-US" sz="1900" dirty="0"/>
          </a:p>
          <a:p>
            <a:pPr lvl="0"/>
            <a:r>
              <a:rPr lang="en-US" sz="1900" b="1" dirty="0" err="1"/>
              <a:t>Dayanışma</a:t>
            </a:r>
            <a:r>
              <a:rPr lang="en-US" sz="1900" b="1" dirty="0"/>
              <a:t>:</a:t>
            </a:r>
            <a:br>
              <a:rPr lang="en-US" sz="1900" dirty="0"/>
            </a:br>
            <a:r>
              <a:rPr lang="en-US" sz="1900" dirty="0" err="1"/>
              <a:t>Toplum</a:t>
            </a:r>
            <a:r>
              <a:rPr lang="en-US" sz="1900" dirty="0"/>
              <a:t> </a:t>
            </a:r>
            <a:r>
              <a:rPr lang="en-US" sz="1900" dirty="0" err="1"/>
              <a:t>bireyler</a:t>
            </a:r>
            <a:r>
              <a:rPr lang="en-US" sz="1900" dirty="0"/>
              <a:t> </a:t>
            </a:r>
            <a:r>
              <a:rPr lang="en-US" sz="1900" dirty="0" err="1"/>
              <a:t>arasında</a:t>
            </a:r>
            <a:r>
              <a:rPr lang="en-US" sz="1900" dirty="0"/>
              <a:t> </a:t>
            </a:r>
            <a:r>
              <a:rPr lang="en-US" sz="1900" dirty="0" err="1"/>
              <a:t>iş</a:t>
            </a:r>
            <a:r>
              <a:rPr lang="en-US" sz="1900" dirty="0"/>
              <a:t> </a:t>
            </a:r>
            <a:r>
              <a:rPr lang="en-US" sz="1900" dirty="0" err="1"/>
              <a:t>birliği</a:t>
            </a:r>
            <a:r>
              <a:rPr lang="en-US" sz="1900" dirty="0"/>
              <a:t> </a:t>
            </a:r>
            <a:r>
              <a:rPr lang="en-US" sz="1900" dirty="0" err="1"/>
              <a:t>ve</a:t>
            </a:r>
            <a:r>
              <a:rPr lang="en-US" sz="1900" dirty="0"/>
              <a:t> </a:t>
            </a:r>
            <a:r>
              <a:rPr lang="en-US" sz="1900" dirty="0" err="1"/>
              <a:t>yardımlaşmayı</a:t>
            </a:r>
            <a:r>
              <a:rPr lang="en-US" sz="1900" dirty="0"/>
              <a:t> </a:t>
            </a:r>
            <a:r>
              <a:rPr lang="en-US" sz="1900" dirty="0" err="1"/>
              <a:t>teşvik</a:t>
            </a:r>
            <a:r>
              <a:rPr lang="en-US" sz="1900" dirty="0"/>
              <a:t> </a:t>
            </a:r>
            <a:r>
              <a:rPr lang="en-US" sz="1900" dirty="0" err="1"/>
              <a:t>eder</a:t>
            </a:r>
            <a:r>
              <a:rPr lang="en-US" sz="1900" dirty="0"/>
              <a:t>.</a:t>
            </a:r>
            <a:br>
              <a:rPr lang="en-US" sz="1900" dirty="0"/>
            </a:br>
            <a:r>
              <a:rPr lang="en-US" sz="1900" dirty="0" err="1"/>
              <a:t>Kıbrıs’ta</a:t>
            </a:r>
            <a:r>
              <a:rPr lang="en-US" sz="1900" dirty="0"/>
              <a:t> </a:t>
            </a:r>
            <a:r>
              <a:rPr lang="en-US" sz="1900" dirty="0" err="1"/>
              <a:t>doğal</a:t>
            </a:r>
            <a:r>
              <a:rPr lang="en-US" sz="1900" dirty="0"/>
              <a:t> </a:t>
            </a:r>
            <a:r>
              <a:rPr lang="en-US" sz="1900" dirty="0" err="1"/>
              <a:t>afet</a:t>
            </a:r>
            <a:r>
              <a:rPr lang="en-US" sz="1900" dirty="0"/>
              <a:t> </a:t>
            </a:r>
            <a:r>
              <a:rPr lang="en-US" sz="1900" dirty="0" err="1"/>
              <a:t>veya</a:t>
            </a:r>
            <a:r>
              <a:rPr lang="en-US" sz="1900" dirty="0"/>
              <a:t> </a:t>
            </a:r>
            <a:r>
              <a:rPr lang="en-US" sz="1900" dirty="0" err="1"/>
              <a:t>hastalık</a:t>
            </a:r>
            <a:r>
              <a:rPr lang="en-US" sz="1900" dirty="0"/>
              <a:t> </a:t>
            </a:r>
            <a:r>
              <a:rPr lang="en-US" sz="1900" dirty="0" err="1"/>
              <a:t>durumlarında</a:t>
            </a:r>
            <a:r>
              <a:rPr lang="en-US" sz="1900" dirty="0"/>
              <a:t> </a:t>
            </a:r>
            <a:r>
              <a:rPr lang="en-US" sz="1900" dirty="0" err="1"/>
              <a:t>mahalle</a:t>
            </a:r>
            <a:r>
              <a:rPr lang="en-US" sz="1900" dirty="0"/>
              <a:t> </a:t>
            </a:r>
            <a:r>
              <a:rPr lang="en-US" sz="1900" dirty="0" err="1"/>
              <a:t>dayanışması</a:t>
            </a:r>
            <a:r>
              <a:rPr lang="en-US" sz="1900" dirty="0"/>
              <a:t> </a:t>
            </a:r>
            <a:r>
              <a:rPr lang="en-US" sz="1900" dirty="0" err="1"/>
              <a:t>bunun</a:t>
            </a:r>
            <a:r>
              <a:rPr lang="en-US" sz="1900" dirty="0"/>
              <a:t> </a:t>
            </a:r>
            <a:r>
              <a:rPr lang="en-US" sz="1900" dirty="0" err="1"/>
              <a:t>güzel</a:t>
            </a:r>
            <a:r>
              <a:rPr lang="en-US" sz="1900" dirty="0"/>
              <a:t> </a:t>
            </a:r>
            <a:r>
              <a:rPr lang="en-US" sz="1900" dirty="0" err="1"/>
              <a:t>örneğidir</a:t>
            </a:r>
            <a:r>
              <a:rPr lang="en-US" sz="1900" dirty="0"/>
              <a:t>.</a:t>
            </a:r>
            <a:endParaRPr lang="tr-TR" sz="1900" dirty="0"/>
          </a:p>
          <a:p>
            <a:pPr lvl="0"/>
            <a:endParaRPr lang="en-US" sz="1900" dirty="0"/>
          </a:p>
          <a:p>
            <a:pPr lvl="0"/>
            <a:r>
              <a:rPr lang="en-US" sz="1900" b="1" dirty="0" err="1"/>
              <a:t>Değişim</a:t>
            </a:r>
            <a:r>
              <a:rPr lang="en-US" sz="1900" b="1" dirty="0"/>
              <a:t> </a:t>
            </a:r>
            <a:r>
              <a:rPr lang="en-US" sz="1900" b="1" dirty="0" err="1"/>
              <a:t>ve</a:t>
            </a:r>
            <a:r>
              <a:rPr lang="en-US" sz="1900" b="1" dirty="0"/>
              <a:t> </a:t>
            </a:r>
            <a:r>
              <a:rPr lang="en-US" sz="1900" b="1" dirty="0" err="1"/>
              <a:t>Yenilik</a:t>
            </a:r>
            <a:r>
              <a:rPr lang="en-US" sz="1900" b="1" dirty="0"/>
              <a:t>:</a:t>
            </a:r>
            <a:br>
              <a:rPr lang="en-US" sz="1900" dirty="0"/>
            </a:br>
            <a:r>
              <a:rPr lang="en-US" sz="1900" dirty="0" err="1"/>
              <a:t>Toplum</a:t>
            </a:r>
            <a:r>
              <a:rPr lang="en-US" sz="1900" dirty="0"/>
              <a:t>, yeni </a:t>
            </a:r>
            <a:r>
              <a:rPr lang="en-US" sz="1900" dirty="0" err="1"/>
              <a:t>düşüncelere</a:t>
            </a:r>
            <a:r>
              <a:rPr lang="en-US" sz="1900" dirty="0"/>
              <a:t> </a:t>
            </a:r>
            <a:r>
              <a:rPr lang="en-US" sz="1900" dirty="0" err="1"/>
              <a:t>ve</a:t>
            </a:r>
            <a:r>
              <a:rPr lang="en-US" sz="1900" dirty="0"/>
              <a:t> </a:t>
            </a:r>
            <a:r>
              <a:rPr lang="en-US" sz="1900" dirty="0" err="1"/>
              <a:t>teknolojilere</a:t>
            </a:r>
            <a:r>
              <a:rPr lang="en-US" sz="1900" dirty="0"/>
              <a:t> </a:t>
            </a:r>
            <a:r>
              <a:rPr lang="en-US" sz="1900" dirty="0" err="1"/>
              <a:t>uyum</a:t>
            </a:r>
            <a:r>
              <a:rPr lang="en-US" sz="1900" dirty="0"/>
              <a:t> </a:t>
            </a:r>
            <a:r>
              <a:rPr lang="en-US" sz="1900" dirty="0" err="1"/>
              <a:t>sağlayarak</a:t>
            </a:r>
            <a:r>
              <a:rPr lang="en-US" sz="1900" dirty="0"/>
              <a:t> </a:t>
            </a:r>
            <a:r>
              <a:rPr lang="en-US" sz="1900" dirty="0" err="1"/>
              <a:t>kendini</a:t>
            </a:r>
            <a:r>
              <a:rPr lang="en-US" sz="1900" dirty="0"/>
              <a:t> </a:t>
            </a:r>
            <a:r>
              <a:rPr lang="en-US" sz="1900" dirty="0" err="1"/>
              <a:t>yeniler</a:t>
            </a:r>
            <a:r>
              <a:rPr lang="en-US" sz="1900" dirty="0"/>
              <a:t>.</a:t>
            </a:r>
          </a:p>
          <a:p>
            <a:endParaRPr lang="en-US" dirty="0"/>
          </a:p>
        </p:txBody>
      </p:sp>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12</a:t>
            </a:fld>
            <a:endParaRPr lang="en-US" dirty="0"/>
          </a:p>
        </p:txBody>
      </p:sp>
    </p:spTree>
    <p:extLst>
      <p:ext uri="{BB962C8B-B14F-4D97-AF65-F5344CB8AC3E}">
        <p14:creationId xmlns:p14="http://schemas.microsoft.com/office/powerpoint/2010/main" val="4072101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13</a:t>
            </a:fld>
            <a:endParaRPr lang="en-US" dirty="0"/>
          </a:p>
        </p:txBody>
      </p:sp>
      <p:sp>
        <p:nvSpPr>
          <p:cNvPr id="7" name="Text Placeholder 6">
            <a:extLst>
              <a:ext uri="{FF2B5EF4-FFF2-40B4-BE49-F238E27FC236}">
                <a16:creationId xmlns:a16="http://schemas.microsoft.com/office/drawing/2014/main" id="{65BC0C8B-D7E6-54BE-1412-01B6BE1DF1CF}"/>
              </a:ext>
            </a:extLst>
          </p:cNvPr>
          <p:cNvSpPr>
            <a:spLocks noGrp="1"/>
          </p:cNvSpPr>
          <p:nvPr>
            <p:ph type="body" sz="quarter" idx="13"/>
          </p:nvPr>
        </p:nvSpPr>
        <p:spPr>
          <a:xfrm>
            <a:off x="62954" y="737117"/>
            <a:ext cx="11758932" cy="5980923"/>
          </a:xfrm>
        </p:spPr>
        <p:txBody>
          <a:bodyPr/>
          <a:lstStyle/>
          <a:p>
            <a:endParaRPr lang="tr-TR" b="1" dirty="0"/>
          </a:p>
          <a:p>
            <a:endParaRPr lang="tr-TR" b="1" dirty="0"/>
          </a:p>
          <a:p>
            <a:r>
              <a:rPr lang="en-US" sz="2400" b="1" dirty="0"/>
              <a:t>Örnek Olay: </a:t>
            </a:r>
            <a:r>
              <a:rPr lang="en-US" sz="2400" b="1" dirty="0" err="1"/>
              <a:t>Kıbrıs’ta</a:t>
            </a:r>
            <a:r>
              <a:rPr lang="en-US" sz="2400" b="1" dirty="0"/>
              <a:t> </a:t>
            </a:r>
            <a:r>
              <a:rPr lang="en-US" sz="2400" b="1" dirty="0" err="1"/>
              <a:t>Toplumsal</a:t>
            </a:r>
            <a:r>
              <a:rPr lang="en-US" sz="2400" b="1" dirty="0"/>
              <a:t> </a:t>
            </a:r>
            <a:r>
              <a:rPr lang="en-US" sz="2400" b="1" dirty="0" err="1"/>
              <a:t>Dayanışma</a:t>
            </a:r>
            <a:endParaRPr lang="en-US" sz="2400" b="1" dirty="0"/>
          </a:p>
          <a:p>
            <a:r>
              <a:rPr lang="en-US" dirty="0" err="1"/>
              <a:t>Kıbrıs’ta</a:t>
            </a:r>
            <a:r>
              <a:rPr lang="en-US" dirty="0"/>
              <a:t> </a:t>
            </a:r>
            <a:r>
              <a:rPr lang="en-US" dirty="0" err="1"/>
              <a:t>özellikle</a:t>
            </a:r>
            <a:r>
              <a:rPr lang="en-US" dirty="0"/>
              <a:t> </a:t>
            </a:r>
            <a:r>
              <a:rPr lang="en-US" dirty="0" err="1"/>
              <a:t>küçük</a:t>
            </a:r>
            <a:r>
              <a:rPr lang="en-US" dirty="0"/>
              <a:t> </a:t>
            </a:r>
            <a:r>
              <a:rPr lang="en-US" dirty="0" err="1"/>
              <a:t>yerleşim</a:t>
            </a:r>
            <a:r>
              <a:rPr lang="en-US" dirty="0"/>
              <a:t> </a:t>
            </a:r>
            <a:r>
              <a:rPr lang="en-US" dirty="0" err="1"/>
              <a:t>birimlerinde</a:t>
            </a:r>
            <a:r>
              <a:rPr lang="en-US" dirty="0"/>
              <a:t> </a:t>
            </a:r>
            <a:r>
              <a:rPr lang="en-US" dirty="0" err="1"/>
              <a:t>hâlâ</a:t>
            </a:r>
            <a:r>
              <a:rPr lang="en-US" dirty="0"/>
              <a:t> </a:t>
            </a:r>
            <a:r>
              <a:rPr lang="en-US" dirty="0" err="1"/>
              <a:t>güçlü</a:t>
            </a:r>
            <a:r>
              <a:rPr lang="en-US" dirty="0"/>
              <a:t> </a:t>
            </a:r>
            <a:r>
              <a:rPr lang="en-US" dirty="0" err="1"/>
              <a:t>bir</a:t>
            </a:r>
            <a:r>
              <a:rPr lang="en-US" dirty="0"/>
              <a:t> </a:t>
            </a:r>
            <a:r>
              <a:rPr lang="en-US" dirty="0" err="1"/>
              <a:t>toplumsal</a:t>
            </a:r>
            <a:r>
              <a:rPr lang="en-US" dirty="0"/>
              <a:t> </a:t>
            </a:r>
            <a:r>
              <a:rPr lang="en-US" dirty="0" err="1"/>
              <a:t>dayanışma</a:t>
            </a:r>
            <a:r>
              <a:rPr lang="en-US" dirty="0"/>
              <a:t> </a:t>
            </a:r>
            <a:r>
              <a:rPr lang="en-US" dirty="0" err="1"/>
              <a:t>kültürü</a:t>
            </a:r>
            <a:r>
              <a:rPr lang="en-US" dirty="0"/>
              <a:t> </a:t>
            </a:r>
            <a:r>
              <a:rPr lang="en-US" dirty="0" err="1"/>
              <a:t>vardır</a:t>
            </a:r>
            <a:r>
              <a:rPr lang="en-US" dirty="0"/>
              <a:t>.</a:t>
            </a:r>
            <a:br>
              <a:rPr lang="en-US" dirty="0"/>
            </a:br>
            <a:r>
              <a:rPr lang="en-US" dirty="0" err="1"/>
              <a:t>Düğünler</a:t>
            </a:r>
            <a:r>
              <a:rPr lang="en-US" dirty="0"/>
              <a:t>, </a:t>
            </a:r>
            <a:r>
              <a:rPr lang="en-US" dirty="0" err="1"/>
              <a:t>cenazeler</a:t>
            </a:r>
            <a:r>
              <a:rPr lang="en-US" dirty="0"/>
              <a:t>, </a:t>
            </a:r>
            <a:r>
              <a:rPr lang="en-US" dirty="0" err="1"/>
              <a:t>imece</a:t>
            </a:r>
            <a:r>
              <a:rPr lang="en-US" dirty="0"/>
              <a:t> </a:t>
            </a:r>
            <a:r>
              <a:rPr lang="en-US" dirty="0" err="1"/>
              <a:t>usulü</a:t>
            </a:r>
            <a:r>
              <a:rPr lang="en-US" dirty="0"/>
              <a:t> </a:t>
            </a:r>
            <a:r>
              <a:rPr lang="en-US" dirty="0" err="1"/>
              <a:t>yardımlar</a:t>
            </a:r>
            <a:r>
              <a:rPr lang="en-US" dirty="0"/>
              <a:t> </a:t>
            </a:r>
            <a:r>
              <a:rPr lang="en-US" dirty="0" err="1"/>
              <a:t>ve</a:t>
            </a:r>
            <a:r>
              <a:rPr lang="en-US" dirty="0"/>
              <a:t> </a:t>
            </a:r>
            <a:r>
              <a:rPr lang="en-US" dirty="0" err="1"/>
              <a:t>bayram</a:t>
            </a:r>
            <a:r>
              <a:rPr lang="en-US" dirty="0"/>
              <a:t> </a:t>
            </a:r>
            <a:r>
              <a:rPr lang="en-US" dirty="0" err="1"/>
              <a:t>kutlamaları</a:t>
            </a:r>
            <a:r>
              <a:rPr lang="en-US" dirty="0"/>
              <a:t>, </a:t>
            </a:r>
            <a:r>
              <a:rPr lang="en-US" dirty="0" err="1"/>
              <a:t>toplumsal</a:t>
            </a:r>
            <a:r>
              <a:rPr lang="en-US" dirty="0"/>
              <a:t> </a:t>
            </a:r>
            <a:r>
              <a:rPr lang="en-US" dirty="0" err="1"/>
              <a:t>birlikteliği</a:t>
            </a:r>
            <a:r>
              <a:rPr lang="en-US" dirty="0"/>
              <a:t> </a:t>
            </a:r>
            <a:r>
              <a:rPr lang="en-US" dirty="0" err="1"/>
              <a:t>pekiştirir</a:t>
            </a:r>
            <a:r>
              <a:rPr lang="en-US" dirty="0"/>
              <a:t>.</a:t>
            </a:r>
          </a:p>
          <a:p>
            <a:r>
              <a:rPr lang="en-US" dirty="0"/>
              <a:t>Bu </a:t>
            </a:r>
            <a:r>
              <a:rPr lang="en-US" dirty="0" err="1"/>
              <a:t>yapı</a:t>
            </a:r>
            <a:r>
              <a:rPr lang="en-US" dirty="0"/>
              <a:t>, </a:t>
            </a:r>
            <a:r>
              <a:rPr lang="en-US" b="1" dirty="0" err="1"/>
              <a:t>Durkheim’ın</a:t>
            </a:r>
            <a:r>
              <a:rPr lang="en-US" b="1" dirty="0"/>
              <a:t> </a:t>
            </a:r>
            <a:r>
              <a:rPr lang="en-US" b="1" dirty="0" err="1"/>
              <a:t>mekanik</a:t>
            </a:r>
            <a:r>
              <a:rPr lang="en-US" b="1" dirty="0"/>
              <a:t> </a:t>
            </a:r>
            <a:r>
              <a:rPr lang="en-US" b="1" dirty="0" err="1"/>
              <a:t>dayanışma</a:t>
            </a:r>
            <a:r>
              <a:rPr lang="en-US" dirty="0"/>
              <a:t> </a:t>
            </a:r>
            <a:r>
              <a:rPr lang="en-US" dirty="0" err="1"/>
              <a:t>kavramına</a:t>
            </a:r>
            <a:r>
              <a:rPr lang="en-US" dirty="0"/>
              <a:t> </a:t>
            </a:r>
            <a:r>
              <a:rPr lang="en-US" dirty="0" err="1"/>
              <a:t>uygundur</a:t>
            </a:r>
            <a:r>
              <a:rPr lang="en-US" dirty="0"/>
              <a:t>:</a:t>
            </a:r>
            <a:br>
              <a:rPr lang="en-US" dirty="0"/>
            </a:br>
            <a:r>
              <a:rPr lang="en-US" dirty="0" err="1"/>
              <a:t>Toplum</a:t>
            </a:r>
            <a:r>
              <a:rPr lang="en-US" dirty="0"/>
              <a:t>, </a:t>
            </a:r>
            <a:r>
              <a:rPr lang="en-US" dirty="0" err="1"/>
              <a:t>ortak</a:t>
            </a:r>
            <a:r>
              <a:rPr lang="en-US" dirty="0"/>
              <a:t> </a:t>
            </a:r>
            <a:r>
              <a:rPr lang="en-US" dirty="0" err="1"/>
              <a:t>duygular</a:t>
            </a:r>
            <a:r>
              <a:rPr lang="en-US" dirty="0"/>
              <a:t> </a:t>
            </a:r>
            <a:r>
              <a:rPr lang="en-US" dirty="0" err="1"/>
              <a:t>ve</a:t>
            </a:r>
            <a:r>
              <a:rPr lang="en-US" dirty="0"/>
              <a:t> </a:t>
            </a:r>
            <a:r>
              <a:rPr lang="en-US" dirty="0" err="1"/>
              <a:t>değerler</a:t>
            </a:r>
            <a:r>
              <a:rPr lang="en-US" dirty="0"/>
              <a:t> </a:t>
            </a:r>
            <a:r>
              <a:rPr lang="en-US" dirty="0" err="1"/>
              <a:t>etrafında</a:t>
            </a:r>
            <a:r>
              <a:rPr lang="en-US" dirty="0"/>
              <a:t> </a:t>
            </a:r>
            <a:r>
              <a:rPr lang="en-US" dirty="0" err="1"/>
              <a:t>birleşir</a:t>
            </a:r>
            <a:r>
              <a:rPr lang="en-US" dirty="0"/>
              <a:t>.</a:t>
            </a:r>
          </a:p>
          <a:p>
            <a:r>
              <a:rPr lang="en-US" dirty="0" err="1"/>
              <a:t>Ancak</a:t>
            </a:r>
            <a:r>
              <a:rPr lang="en-US" dirty="0"/>
              <a:t> </a:t>
            </a:r>
            <a:r>
              <a:rPr lang="en-US" dirty="0" err="1"/>
              <a:t>Lefkoşa</a:t>
            </a:r>
            <a:r>
              <a:rPr lang="en-US" dirty="0"/>
              <a:t> </a:t>
            </a:r>
            <a:r>
              <a:rPr lang="en-US" dirty="0" err="1"/>
              <a:t>ve</a:t>
            </a:r>
            <a:r>
              <a:rPr lang="en-US" dirty="0"/>
              <a:t> </a:t>
            </a:r>
            <a:r>
              <a:rPr lang="en-US" dirty="0" err="1"/>
              <a:t>Girne</a:t>
            </a:r>
            <a:r>
              <a:rPr lang="en-US" dirty="0"/>
              <a:t> </a:t>
            </a:r>
            <a:r>
              <a:rPr lang="en-US" dirty="0" err="1"/>
              <a:t>gibi</a:t>
            </a:r>
            <a:r>
              <a:rPr lang="en-US" dirty="0"/>
              <a:t> </a:t>
            </a:r>
            <a:r>
              <a:rPr lang="en-US" dirty="0" err="1"/>
              <a:t>şehirleşmiş</a:t>
            </a:r>
            <a:r>
              <a:rPr lang="en-US" dirty="0"/>
              <a:t> </a:t>
            </a:r>
            <a:r>
              <a:rPr lang="en-US" dirty="0" err="1"/>
              <a:t>bölgelerde</a:t>
            </a:r>
            <a:r>
              <a:rPr lang="en-US" dirty="0"/>
              <a:t> </a:t>
            </a:r>
            <a:r>
              <a:rPr lang="en-US" b="1" dirty="0" err="1"/>
              <a:t>organik</a:t>
            </a:r>
            <a:r>
              <a:rPr lang="en-US" b="1" dirty="0"/>
              <a:t> </a:t>
            </a:r>
            <a:r>
              <a:rPr lang="en-US" b="1" dirty="0" err="1"/>
              <a:t>dayanışma</a:t>
            </a:r>
            <a:r>
              <a:rPr lang="en-US" dirty="0"/>
              <a:t> (</a:t>
            </a:r>
            <a:r>
              <a:rPr lang="en-US" dirty="0" err="1"/>
              <a:t>farklı</a:t>
            </a:r>
            <a:r>
              <a:rPr lang="en-US" dirty="0"/>
              <a:t> </a:t>
            </a:r>
            <a:r>
              <a:rPr lang="en-US" dirty="0" err="1"/>
              <a:t>işlevlerin</a:t>
            </a:r>
            <a:r>
              <a:rPr lang="en-US" dirty="0"/>
              <a:t> </a:t>
            </a:r>
            <a:r>
              <a:rPr lang="en-US" dirty="0" err="1"/>
              <a:t>bir</a:t>
            </a:r>
            <a:r>
              <a:rPr lang="en-US" dirty="0"/>
              <a:t> </a:t>
            </a:r>
            <a:r>
              <a:rPr lang="en-US" dirty="0" err="1"/>
              <a:t>arada</a:t>
            </a:r>
            <a:r>
              <a:rPr lang="en-US" dirty="0"/>
              <a:t> </a:t>
            </a:r>
            <a:r>
              <a:rPr lang="en-US" dirty="0" err="1"/>
              <a:t>işlemesi</a:t>
            </a:r>
            <a:r>
              <a:rPr lang="en-US" dirty="0"/>
              <a:t>) </a:t>
            </a:r>
            <a:r>
              <a:rPr lang="en-US" dirty="0" err="1"/>
              <a:t>daha</a:t>
            </a:r>
            <a:r>
              <a:rPr lang="en-US" dirty="0"/>
              <a:t> </a:t>
            </a:r>
            <a:r>
              <a:rPr lang="en-US" dirty="0" err="1"/>
              <a:t>belirgin</a:t>
            </a:r>
            <a:r>
              <a:rPr lang="en-US" dirty="0"/>
              <a:t> hale </a:t>
            </a:r>
            <a:r>
              <a:rPr lang="en-US" dirty="0" err="1"/>
              <a:t>gelmiştir</a:t>
            </a:r>
            <a:r>
              <a:rPr lang="en-US" dirty="0"/>
              <a:t>.</a:t>
            </a:r>
            <a:br>
              <a:rPr lang="en-US" dirty="0"/>
            </a:br>
            <a:r>
              <a:rPr lang="en-US" dirty="0"/>
              <a:t>Bu durum, </a:t>
            </a:r>
            <a:r>
              <a:rPr lang="en-US" dirty="0" err="1"/>
              <a:t>modernleşme</a:t>
            </a:r>
            <a:r>
              <a:rPr lang="en-US" dirty="0"/>
              <a:t> </a:t>
            </a:r>
            <a:r>
              <a:rPr lang="en-US" dirty="0" err="1"/>
              <a:t>sürecinin</a:t>
            </a:r>
            <a:r>
              <a:rPr lang="en-US" dirty="0"/>
              <a:t> </a:t>
            </a:r>
            <a:r>
              <a:rPr lang="en-US" dirty="0" err="1"/>
              <a:t>sosyolojik</a:t>
            </a:r>
            <a:r>
              <a:rPr lang="en-US" dirty="0"/>
              <a:t> </a:t>
            </a:r>
            <a:r>
              <a:rPr lang="en-US" dirty="0" err="1"/>
              <a:t>bir</a:t>
            </a:r>
            <a:r>
              <a:rPr lang="en-US" dirty="0"/>
              <a:t> </a:t>
            </a:r>
            <a:r>
              <a:rPr lang="en-US" dirty="0" err="1"/>
              <a:t>göstergesidir</a:t>
            </a:r>
            <a:r>
              <a:rPr lang="en-US" dirty="0"/>
              <a:t>.</a:t>
            </a:r>
          </a:p>
          <a:p>
            <a:endParaRPr lang="en-US" dirty="0"/>
          </a:p>
        </p:txBody>
      </p:sp>
    </p:spTree>
    <p:extLst>
      <p:ext uri="{BB962C8B-B14F-4D97-AF65-F5344CB8AC3E}">
        <p14:creationId xmlns:p14="http://schemas.microsoft.com/office/powerpoint/2010/main" val="3969996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3">
            <a:extLst>
              <a:ext uri="{FF2B5EF4-FFF2-40B4-BE49-F238E27FC236}">
                <a16:creationId xmlns:a16="http://schemas.microsoft.com/office/drawing/2014/main" id="{288BD9B8-D6A6-D55A-830D-4D3CC2DC3933}"/>
              </a:ext>
            </a:extLst>
          </p:cNvPr>
          <p:cNvSpPr>
            <a:spLocks noGrp="1"/>
          </p:cNvSpPr>
          <p:nvPr>
            <p:ph sz="half" idx="2"/>
          </p:nvPr>
        </p:nvSpPr>
        <p:spPr>
          <a:xfrm>
            <a:off x="1550564" y="793102"/>
            <a:ext cx="9739477" cy="5471519"/>
          </a:xfrm>
        </p:spPr>
        <p:txBody>
          <a:bodyPr>
            <a:normAutofit/>
          </a:bodyPr>
          <a:lstStyle/>
          <a:p>
            <a:endParaRPr lang="tr-TR" dirty="0"/>
          </a:p>
          <a:p>
            <a:pPr marL="0" indent="0">
              <a:buNone/>
            </a:pPr>
            <a:r>
              <a:rPr lang="tr-TR" sz="2400" b="1" dirty="0"/>
              <a:t>    </a:t>
            </a:r>
            <a:r>
              <a:rPr lang="en-US" sz="2400" b="1" dirty="0" err="1"/>
              <a:t>Güncel</a:t>
            </a:r>
            <a:r>
              <a:rPr lang="en-US" sz="2400" b="1" dirty="0"/>
              <a:t> </a:t>
            </a:r>
            <a:r>
              <a:rPr lang="en-US" sz="2400" b="1" dirty="0" err="1"/>
              <a:t>Sosyolojik</a:t>
            </a:r>
            <a:r>
              <a:rPr lang="en-US" sz="2400" b="1" dirty="0"/>
              <a:t> Örnek: </a:t>
            </a:r>
            <a:r>
              <a:rPr lang="en-US" sz="2400" b="1" dirty="0" err="1"/>
              <a:t>Türkiye’de</a:t>
            </a:r>
            <a:r>
              <a:rPr lang="en-US" sz="2400" b="1" dirty="0"/>
              <a:t> </a:t>
            </a:r>
            <a:r>
              <a:rPr lang="en-US" sz="2400" b="1" dirty="0" err="1"/>
              <a:t>Toplumsal</a:t>
            </a:r>
            <a:r>
              <a:rPr lang="en-US" sz="2400" b="1" dirty="0"/>
              <a:t> </a:t>
            </a:r>
            <a:r>
              <a:rPr lang="en-US" sz="2400" b="1" dirty="0" err="1"/>
              <a:t>Değişim</a:t>
            </a:r>
            <a:endParaRPr lang="en-US" sz="2400" b="1" dirty="0"/>
          </a:p>
          <a:p>
            <a:r>
              <a:rPr lang="en-US" dirty="0"/>
              <a:t>Son 50 </a:t>
            </a:r>
            <a:r>
              <a:rPr lang="en-US" dirty="0" err="1"/>
              <a:t>yılda</a:t>
            </a:r>
            <a:r>
              <a:rPr lang="en-US" dirty="0"/>
              <a:t> Türkiye, </a:t>
            </a:r>
            <a:r>
              <a:rPr lang="en-US" dirty="0" err="1"/>
              <a:t>geleneksel</a:t>
            </a:r>
            <a:r>
              <a:rPr lang="en-US" dirty="0"/>
              <a:t> </a:t>
            </a:r>
            <a:r>
              <a:rPr lang="en-US" dirty="0" err="1"/>
              <a:t>tarım</a:t>
            </a:r>
            <a:r>
              <a:rPr lang="en-US" dirty="0"/>
              <a:t> </a:t>
            </a:r>
            <a:r>
              <a:rPr lang="en-US" dirty="0" err="1"/>
              <a:t>toplumundan</a:t>
            </a:r>
            <a:r>
              <a:rPr lang="en-US" dirty="0"/>
              <a:t> </a:t>
            </a:r>
            <a:r>
              <a:rPr lang="en-US" dirty="0" err="1"/>
              <a:t>sanayi</a:t>
            </a:r>
            <a:r>
              <a:rPr lang="en-US" dirty="0"/>
              <a:t> </a:t>
            </a:r>
            <a:r>
              <a:rPr lang="en-US" dirty="0" err="1"/>
              <a:t>ve</a:t>
            </a:r>
            <a:r>
              <a:rPr lang="en-US" dirty="0"/>
              <a:t> </a:t>
            </a:r>
            <a:r>
              <a:rPr lang="en-US" dirty="0" err="1"/>
              <a:t>bilgi</a:t>
            </a:r>
            <a:r>
              <a:rPr lang="en-US" dirty="0"/>
              <a:t> </a:t>
            </a:r>
            <a:r>
              <a:rPr lang="en-US" dirty="0" err="1"/>
              <a:t>toplumuna</a:t>
            </a:r>
            <a:r>
              <a:rPr lang="en-US" dirty="0"/>
              <a:t> </a:t>
            </a:r>
            <a:r>
              <a:rPr lang="en-US" dirty="0" err="1"/>
              <a:t>geçiş</a:t>
            </a:r>
            <a:r>
              <a:rPr lang="en-US" dirty="0"/>
              <a:t> </a:t>
            </a:r>
            <a:r>
              <a:rPr lang="en-US" dirty="0" err="1"/>
              <a:t>süreci</a:t>
            </a:r>
            <a:r>
              <a:rPr lang="en-US" dirty="0"/>
              <a:t> </a:t>
            </a:r>
            <a:r>
              <a:rPr lang="en-US" dirty="0" err="1"/>
              <a:t>yaşamıştır</a:t>
            </a:r>
            <a:r>
              <a:rPr lang="en-US" dirty="0"/>
              <a:t>.</a:t>
            </a:r>
            <a:br>
              <a:rPr lang="en-US" dirty="0"/>
            </a:br>
            <a:r>
              <a:rPr lang="en-US" dirty="0" err="1"/>
              <a:t>Köyden</a:t>
            </a:r>
            <a:r>
              <a:rPr lang="en-US" dirty="0"/>
              <a:t> </a:t>
            </a:r>
            <a:r>
              <a:rPr lang="en-US" dirty="0" err="1"/>
              <a:t>kente</a:t>
            </a:r>
            <a:r>
              <a:rPr lang="en-US" dirty="0"/>
              <a:t> </a:t>
            </a:r>
            <a:r>
              <a:rPr lang="en-US" dirty="0" err="1"/>
              <a:t>göç</a:t>
            </a:r>
            <a:r>
              <a:rPr lang="en-US" dirty="0"/>
              <a:t>, </a:t>
            </a:r>
            <a:r>
              <a:rPr lang="en-US" dirty="0" err="1"/>
              <a:t>eğitimde</a:t>
            </a:r>
            <a:r>
              <a:rPr lang="en-US" dirty="0"/>
              <a:t> </a:t>
            </a:r>
            <a:r>
              <a:rPr lang="en-US" dirty="0" err="1"/>
              <a:t>yaygınlaşma</a:t>
            </a:r>
            <a:r>
              <a:rPr lang="en-US" dirty="0"/>
              <a:t>, </a:t>
            </a:r>
            <a:r>
              <a:rPr lang="en-US" dirty="0" err="1"/>
              <a:t>kadınların</a:t>
            </a:r>
            <a:r>
              <a:rPr lang="en-US" dirty="0"/>
              <a:t> </a:t>
            </a:r>
            <a:r>
              <a:rPr lang="en-US" dirty="0" err="1"/>
              <a:t>iş</a:t>
            </a:r>
            <a:r>
              <a:rPr lang="en-US" dirty="0"/>
              <a:t> </a:t>
            </a:r>
            <a:r>
              <a:rPr lang="en-US" dirty="0" err="1"/>
              <a:t>gücüne</a:t>
            </a:r>
            <a:r>
              <a:rPr lang="en-US" dirty="0"/>
              <a:t> </a:t>
            </a:r>
            <a:r>
              <a:rPr lang="en-US" dirty="0" err="1"/>
              <a:t>katılımı</a:t>
            </a:r>
            <a:r>
              <a:rPr lang="en-US" dirty="0"/>
              <a:t> </a:t>
            </a:r>
            <a:r>
              <a:rPr lang="en-US" dirty="0" err="1"/>
              <a:t>gibi</a:t>
            </a:r>
            <a:r>
              <a:rPr lang="en-US" dirty="0"/>
              <a:t> </a:t>
            </a:r>
            <a:r>
              <a:rPr lang="en-US" dirty="0" err="1"/>
              <a:t>olgular</a:t>
            </a:r>
            <a:r>
              <a:rPr lang="en-US" dirty="0"/>
              <a:t> </a:t>
            </a:r>
            <a:r>
              <a:rPr lang="en-US" dirty="0" err="1"/>
              <a:t>toplumsal</a:t>
            </a:r>
            <a:r>
              <a:rPr lang="en-US" dirty="0"/>
              <a:t> </a:t>
            </a:r>
            <a:r>
              <a:rPr lang="en-US" dirty="0" err="1"/>
              <a:t>yapıyı</a:t>
            </a:r>
            <a:r>
              <a:rPr lang="en-US" dirty="0"/>
              <a:t> </a:t>
            </a:r>
            <a:r>
              <a:rPr lang="en-US" dirty="0" err="1"/>
              <a:t>dönüştürmüştür</a:t>
            </a:r>
            <a:r>
              <a:rPr lang="en-US" dirty="0"/>
              <a:t>.</a:t>
            </a:r>
          </a:p>
          <a:p>
            <a:r>
              <a:rPr lang="en-US" dirty="0"/>
              <a:t>Bu </a:t>
            </a:r>
            <a:r>
              <a:rPr lang="en-US" dirty="0" err="1"/>
              <a:t>dönüşüm</a:t>
            </a:r>
            <a:r>
              <a:rPr lang="en-US" dirty="0"/>
              <a:t>, </a:t>
            </a:r>
            <a:r>
              <a:rPr lang="en-US" b="1" dirty="0" err="1"/>
              <a:t>sosyal</a:t>
            </a:r>
            <a:r>
              <a:rPr lang="en-US" b="1" dirty="0"/>
              <a:t> </a:t>
            </a:r>
            <a:r>
              <a:rPr lang="en-US" b="1" dirty="0" err="1"/>
              <a:t>yapı</a:t>
            </a:r>
            <a:r>
              <a:rPr lang="en-US" dirty="0"/>
              <a:t> </a:t>
            </a:r>
            <a:r>
              <a:rPr lang="en-US" dirty="0" err="1"/>
              <a:t>ve</a:t>
            </a:r>
            <a:r>
              <a:rPr lang="en-US" dirty="0"/>
              <a:t> </a:t>
            </a:r>
            <a:r>
              <a:rPr lang="en-US" b="1" dirty="0" err="1"/>
              <a:t>toplumsal</a:t>
            </a:r>
            <a:r>
              <a:rPr lang="en-US" b="1" dirty="0"/>
              <a:t> </a:t>
            </a:r>
            <a:r>
              <a:rPr lang="en-US" b="1" dirty="0" err="1"/>
              <a:t>kurumlar</a:t>
            </a:r>
            <a:r>
              <a:rPr lang="en-US" dirty="0"/>
              <a:t> </a:t>
            </a:r>
            <a:r>
              <a:rPr lang="en-US" dirty="0" err="1"/>
              <a:t>arasındaki</a:t>
            </a:r>
            <a:r>
              <a:rPr lang="en-US" dirty="0"/>
              <a:t> </a:t>
            </a:r>
            <a:r>
              <a:rPr lang="en-US" dirty="0" err="1"/>
              <a:t>etkileşimi</a:t>
            </a:r>
            <a:r>
              <a:rPr lang="en-US" dirty="0"/>
              <a:t> </a:t>
            </a:r>
            <a:r>
              <a:rPr lang="en-US" dirty="0" err="1"/>
              <a:t>gözler</a:t>
            </a:r>
            <a:r>
              <a:rPr lang="en-US" dirty="0"/>
              <a:t> </a:t>
            </a:r>
            <a:r>
              <a:rPr lang="en-US" dirty="0" err="1"/>
              <a:t>önüne</a:t>
            </a:r>
            <a:r>
              <a:rPr lang="en-US" dirty="0"/>
              <a:t> </a:t>
            </a:r>
            <a:r>
              <a:rPr lang="en-US" dirty="0" err="1"/>
              <a:t>sermektedir</a:t>
            </a:r>
            <a:r>
              <a:rPr lang="en-US" dirty="0"/>
              <a:t>.</a:t>
            </a:r>
            <a:br>
              <a:rPr lang="en-US" dirty="0"/>
            </a:br>
            <a:endParaRPr lang="tr-TR" dirty="0"/>
          </a:p>
          <a:p>
            <a:pPr marL="0" indent="0">
              <a:buNone/>
            </a:pPr>
            <a:r>
              <a:rPr lang="tr-TR" sz="2000" b="1" dirty="0"/>
              <a:t>     </a:t>
            </a:r>
            <a:r>
              <a:rPr lang="en-US" sz="2000" b="1" dirty="0" err="1"/>
              <a:t>Örneğin</a:t>
            </a:r>
            <a:r>
              <a:rPr lang="en-US" sz="2000" b="1" dirty="0"/>
              <a:t>:</a:t>
            </a:r>
          </a:p>
          <a:p>
            <a:pPr lvl="0"/>
            <a:r>
              <a:rPr lang="en-US" dirty="0" err="1"/>
              <a:t>Kadınların</a:t>
            </a:r>
            <a:r>
              <a:rPr lang="en-US" dirty="0"/>
              <a:t> </a:t>
            </a:r>
            <a:r>
              <a:rPr lang="en-US" dirty="0" err="1"/>
              <a:t>eğitim</a:t>
            </a:r>
            <a:r>
              <a:rPr lang="en-US" dirty="0"/>
              <a:t> </a:t>
            </a:r>
            <a:r>
              <a:rPr lang="en-US" dirty="0" err="1"/>
              <a:t>düzeyinin</a:t>
            </a:r>
            <a:r>
              <a:rPr lang="en-US" dirty="0"/>
              <a:t> </a:t>
            </a:r>
            <a:r>
              <a:rPr lang="en-US" dirty="0" err="1"/>
              <a:t>artması</a:t>
            </a:r>
            <a:r>
              <a:rPr lang="en-US" dirty="0"/>
              <a:t> </a:t>
            </a:r>
            <a:r>
              <a:rPr lang="en-US" dirty="0" err="1"/>
              <a:t>aile</a:t>
            </a:r>
            <a:r>
              <a:rPr lang="en-US" dirty="0"/>
              <a:t> </a:t>
            </a:r>
            <a:r>
              <a:rPr lang="en-US" dirty="0" err="1"/>
              <a:t>içi</a:t>
            </a:r>
            <a:r>
              <a:rPr lang="en-US" dirty="0"/>
              <a:t> </a:t>
            </a:r>
            <a:r>
              <a:rPr lang="en-US" dirty="0" err="1"/>
              <a:t>karar</a:t>
            </a:r>
            <a:r>
              <a:rPr lang="en-US" dirty="0"/>
              <a:t> alma </a:t>
            </a:r>
            <a:r>
              <a:rPr lang="en-US" dirty="0" err="1"/>
              <a:t>süreçlerini</a:t>
            </a:r>
            <a:r>
              <a:rPr lang="en-US" dirty="0"/>
              <a:t> </a:t>
            </a:r>
            <a:r>
              <a:rPr lang="en-US" dirty="0" err="1"/>
              <a:t>değiştirmiştir</a:t>
            </a:r>
            <a:r>
              <a:rPr lang="en-US" dirty="0"/>
              <a:t>.</a:t>
            </a:r>
          </a:p>
          <a:p>
            <a:pPr lvl="0"/>
            <a:r>
              <a:rPr lang="en-US" dirty="0" err="1"/>
              <a:t>Teknolojinin</a:t>
            </a:r>
            <a:r>
              <a:rPr lang="en-US" dirty="0"/>
              <a:t> </a:t>
            </a:r>
            <a:r>
              <a:rPr lang="en-US" dirty="0" err="1"/>
              <a:t>gelişmesi</a:t>
            </a:r>
            <a:r>
              <a:rPr lang="en-US" dirty="0"/>
              <a:t> yeni </a:t>
            </a:r>
            <a:r>
              <a:rPr lang="en-US" dirty="0" err="1"/>
              <a:t>meslek</a:t>
            </a:r>
            <a:r>
              <a:rPr lang="en-US" dirty="0"/>
              <a:t> </a:t>
            </a:r>
            <a:r>
              <a:rPr lang="en-US" dirty="0" err="1"/>
              <a:t>türleri</a:t>
            </a:r>
            <a:r>
              <a:rPr lang="en-US" dirty="0"/>
              <a:t> </a:t>
            </a:r>
            <a:r>
              <a:rPr lang="en-US" dirty="0" err="1"/>
              <a:t>doğurmuştur</a:t>
            </a:r>
            <a:r>
              <a:rPr lang="en-US" dirty="0"/>
              <a:t>.</a:t>
            </a:r>
          </a:p>
          <a:p>
            <a:r>
              <a:rPr lang="en-US" dirty="0"/>
              <a:t>Medya, yeni </a:t>
            </a:r>
            <a:r>
              <a:rPr lang="en-US" dirty="0" err="1"/>
              <a:t>bir</a:t>
            </a:r>
            <a:r>
              <a:rPr lang="en-US" dirty="0"/>
              <a:t> </a:t>
            </a:r>
            <a:r>
              <a:rPr lang="en-US" dirty="0" err="1"/>
              <a:t>kamusal</a:t>
            </a:r>
            <a:r>
              <a:rPr lang="en-US" dirty="0"/>
              <a:t> </a:t>
            </a:r>
            <a:r>
              <a:rPr lang="en-US" dirty="0" err="1"/>
              <a:t>alan</a:t>
            </a:r>
            <a:r>
              <a:rPr lang="en-US" dirty="0"/>
              <a:t> </a:t>
            </a:r>
            <a:r>
              <a:rPr lang="en-US" dirty="0" err="1"/>
              <a:t>oluşturmuştur</a:t>
            </a:r>
            <a:r>
              <a:rPr lang="en-US" dirty="0"/>
              <a:t>.</a:t>
            </a:r>
          </a:p>
        </p:txBody>
      </p:sp>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14</a:t>
            </a:fld>
            <a:endParaRPr lang="en-US" dirty="0"/>
          </a:p>
        </p:txBody>
      </p:sp>
    </p:spTree>
    <p:extLst>
      <p:ext uri="{BB962C8B-B14F-4D97-AF65-F5344CB8AC3E}">
        <p14:creationId xmlns:p14="http://schemas.microsoft.com/office/powerpoint/2010/main" val="2498021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AC0C7FF8-9CAF-6C67-C1E5-AF40401D0B3D}"/>
              </a:ext>
            </a:extLst>
          </p:cNvPr>
          <p:cNvGraphicFramePr>
            <a:graphicFrameLocks noGrp="1"/>
          </p:cNvGraphicFramePr>
          <p:nvPr>
            <p:ph sz="quarter" idx="4"/>
            <p:extLst>
              <p:ext uri="{D42A27DB-BD31-4B8C-83A1-F6EECF244321}">
                <p14:modId xmlns:p14="http://schemas.microsoft.com/office/powerpoint/2010/main" val="3671627234"/>
              </p:ext>
            </p:extLst>
          </p:nvPr>
        </p:nvGraphicFramePr>
        <p:xfrm>
          <a:off x="914400" y="783771"/>
          <a:ext cx="10510836" cy="5480856"/>
        </p:xfrm>
        <a:graphic>
          <a:graphicData uri="http://schemas.openxmlformats.org/drawingml/2006/table">
            <a:tbl>
              <a:tblPr firstRow="1" bandRow="1">
                <a:tableStyleId>{C083E6E3-FA7D-4D7B-A595-EF9225AFEA82}</a:tableStyleId>
              </a:tblPr>
              <a:tblGrid>
                <a:gridCol w="4080076">
                  <a:extLst>
                    <a:ext uri="{9D8B030D-6E8A-4147-A177-3AD203B41FA5}">
                      <a16:colId xmlns:a16="http://schemas.microsoft.com/office/drawing/2014/main" val="1764027237"/>
                    </a:ext>
                  </a:extLst>
                </a:gridCol>
                <a:gridCol w="4080076">
                  <a:extLst>
                    <a:ext uri="{9D8B030D-6E8A-4147-A177-3AD203B41FA5}">
                      <a16:colId xmlns:a16="http://schemas.microsoft.com/office/drawing/2014/main" val="778914542"/>
                    </a:ext>
                  </a:extLst>
                </a:gridCol>
                <a:gridCol w="1175342">
                  <a:extLst>
                    <a:ext uri="{9D8B030D-6E8A-4147-A177-3AD203B41FA5}">
                      <a16:colId xmlns:a16="http://schemas.microsoft.com/office/drawing/2014/main" val="4233386372"/>
                    </a:ext>
                  </a:extLst>
                </a:gridCol>
                <a:gridCol w="1175342">
                  <a:extLst>
                    <a:ext uri="{9D8B030D-6E8A-4147-A177-3AD203B41FA5}">
                      <a16:colId xmlns:a16="http://schemas.microsoft.com/office/drawing/2014/main" val="1626524931"/>
                    </a:ext>
                  </a:extLst>
                </a:gridCol>
              </a:tblGrid>
              <a:tr h="913476">
                <a:tc>
                  <a:txBody>
                    <a:bodyPr/>
                    <a:lstStyle/>
                    <a:p>
                      <a:endParaRPr lang="en-US" dirty="0"/>
                    </a:p>
                  </a:txBody>
                  <a:tcPr anchor="ctr"/>
                </a:tc>
                <a:tc>
                  <a:txBody>
                    <a:bodyPr/>
                    <a:lstStyle/>
                    <a:p>
                      <a:endParaRPr lang="en-US" dirty="0"/>
                    </a:p>
                  </a:txBody>
                  <a:tcPr anchor="ctr"/>
                </a:tc>
                <a:tc>
                  <a:txBody>
                    <a:bodyPr/>
                    <a:lstStyle/>
                    <a:p>
                      <a:endParaRPr lang="en-US" dirty="0"/>
                    </a:p>
                  </a:txBody>
                  <a:tcPr anchor="ctr"/>
                </a:tc>
                <a:tc>
                  <a:txBody>
                    <a:bodyPr/>
                    <a:lstStyle/>
                    <a:p>
                      <a:endParaRPr lang="en-US" dirty="0"/>
                    </a:p>
                  </a:txBody>
                  <a:tcPr anchor="ctr"/>
                </a:tc>
                <a:extLst>
                  <a:ext uri="{0D108BD9-81ED-4DB2-BD59-A6C34878D82A}">
                    <a16:rowId xmlns:a16="http://schemas.microsoft.com/office/drawing/2014/main" val="2865033212"/>
                  </a:ext>
                </a:extLst>
              </a:tr>
              <a:tr h="913476">
                <a:tc>
                  <a:txBody>
                    <a:bodyPr/>
                    <a:lstStyle/>
                    <a:p>
                      <a:endParaRPr lang="en-US" dirty="0"/>
                    </a:p>
                  </a:txBody>
                  <a:tcPr anchor="ctr"/>
                </a:tc>
                <a:tc>
                  <a:txBody>
                    <a:bodyPr/>
                    <a:lstStyle/>
                    <a:p>
                      <a:endParaRPr lang="en-US" dirty="0"/>
                    </a:p>
                  </a:txBody>
                  <a:tcPr anchor="ctr"/>
                </a:tc>
                <a:tc>
                  <a:txBody>
                    <a:bodyPr/>
                    <a:lstStyle/>
                    <a:p>
                      <a:endParaRPr lang="en-US" dirty="0"/>
                    </a:p>
                  </a:txBody>
                  <a:tcPr anchor="ctr"/>
                </a:tc>
                <a:tc>
                  <a:txBody>
                    <a:bodyPr/>
                    <a:lstStyle/>
                    <a:p>
                      <a:endParaRPr lang="en-US" dirty="0"/>
                    </a:p>
                  </a:txBody>
                  <a:tcPr anchor="ctr"/>
                </a:tc>
                <a:extLst>
                  <a:ext uri="{0D108BD9-81ED-4DB2-BD59-A6C34878D82A}">
                    <a16:rowId xmlns:a16="http://schemas.microsoft.com/office/drawing/2014/main" val="773796761"/>
                  </a:ext>
                </a:extLst>
              </a:tr>
              <a:tr h="913476">
                <a:tc>
                  <a:txBody>
                    <a:bodyPr/>
                    <a:lstStyle/>
                    <a:p>
                      <a:endParaRPr lang="en-US" dirty="0"/>
                    </a:p>
                  </a:txBody>
                  <a:tcPr anchor="ctr"/>
                </a:tc>
                <a:tc>
                  <a:txBody>
                    <a:bodyPr/>
                    <a:lstStyle/>
                    <a:p>
                      <a:endParaRPr lang="en-US" dirty="0"/>
                    </a:p>
                  </a:txBody>
                  <a:tcPr anchor="ctr"/>
                </a:tc>
                <a:tc>
                  <a:txBody>
                    <a:bodyPr/>
                    <a:lstStyle/>
                    <a:p>
                      <a:endParaRPr lang="en-US" dirty="0"/>
                    </a:p>
                  </a:txBody>
                  <a:tcPr anchor="ctr"/>
                </a:tc>
                <a:tc>
                  <a:txBody>
                    <a:bodyPr/>
                    <a:lstStyle/>
                    <a:p>
                      <a:endParaRPr lang="en-US" dirty="0"/>
                    </a:p>
                  </a:txBody>
                  <a:tcPr anchor="ctr"/>
                </a:tc>
                <a:extLst>
                  <a:ext uri="{0D108BD9-81ED-4DB2-BD59-A6C34878D82A}">
                    <a16:rowId xmlns:a16="http://schemas.microsoft.com/office/drawing/2014/main" val="1789202252"/>
                  </a:ext>
                </a:extLst>
              </a:tr>
              <a:tr h="913476">
                <a:tc>
                  <a:txBody>
                    <a:bodyPr/>
                    <a:lstStyle/>
                    <a:p>
                      <a:endParaRPr lang="en-US" dirty="0"/>
                    </a:p>
                  </a:txBody>
                  <a:tcPr anchor="ctr"/>
                </a:tc>
                <a:tc>
                  <a:txBody>
                    <a:bodyPr/>
                    <a:lstStyle/>
                    <a:p>
                      <a:endParaRPr lang="en-US" dirty="0"/>
                    </a:p>
                  </a:txBody>
                  <a:tcPr anchor="ctr"/>
                </a:tc>
                <a:tc>
                  <a:txBody>
                    <a:bodyPr/>
                    <a:lstStyle/>
                    <a:p>
                      <a:endParaRPr lang="en-US" dirty="0"/>
                    </a:p>
                  </a:txBody>
                  <a:tcPr anchor="ctr"/>
                </a:tc>
                <a:tc>
                  <a:txBody>
                    <a:bodyPr/>
                    <a:lstStyle/>
                    <a:p>
                      <a:endParaRPr lang="en-US" dirty="0"/>
                    </a:p>
                  </a:txBody>
                  <a:tcPr anchor="ctr"/>
                </a:tc>
                <a:extLst>
                  <a:ext uri="{0D108BD9-81ED-4DB2-BD59-A6C34878D82A}">
                    <a16:rowId xmlns:a16="http://schemas.microsoft.com/office/drawing/2014/main" val="2325356481"/>
                  </a:ext>
                </a:extLst>
              </a:tr>
              <a:tr h="913476">
                <a:tc>
                  <a:txBody>
                    <a:bodyPr/>
                    <a:lstStyle/>
                    <a:p>
                      <a:endParaRPr lang="en-US" dirty="0"/>
                    </a:p>
                  </a:txBody>
                  <a:tcPr anchor="ctr"/>
                </a:tc>
                <a:tc>
                  <a:txBody>
                    <a:bodyPr/>
                    <a:lstStyle/>
                    <a:p>
                      <a:endParaRPr lang="en-US" dirty="0"/>
                    </a:p>
                  </a:txBody>
                  <a:tcPr anchor="ctr"/>
                </a:tc>
                <a:tc>
                  <a:txBody>
                    <a:bodyPr/>
                    <a:lstStyle/>
                    <a:p>
                      <a:endParaRPr lang="en-US" dirty="0"/>
                    </a:p>
                  </a:txBody>
                  <a:tcPr anchor="ctr"/>
                </a:tc>
                <a:tc>
                  <a:txBody>
                    <a:bodyPr/>
                    <a:lstStyle/>
                    <a:p>
                      <a:endParaRPr lang="en-US" dirty="0"/>
                    </a:p>
                  </a:txBody>
                  <a:tcPr anchor="ctr"/>
                </a:tc>
                <a:extLst>
                  <a:ext uri="{0D108BD9-81ED-4DB2-BD59-A6C34878D82A}">
                    <a16:rowId xmlns:a16="http://schemas.microsoft.com/office/drawing/2014/main" val="3322085491"/>
                  </a:ext>
                </a:extLst>
              </a:tr>
              <a:tr h="913476">
                <a:tc>
                  <a:txBody>
                    <a:bodyPr/>
                    <a:lstStyle/>
                    <a:p>
                      <a:endParaRPr lang="en-US" dirty="0"/>
                    </a:p>
                  </a:txBody>
                  <a:tcPr anchor="ctr"/>
                </a:tc>
                <a:tc>
                  <a:txBody>
                    <a:bodyPr/>
                    <a:lstStyle/>
                    <a:p>
                      <a:endParaRPr lang="en-US" dirty="0"/>
                    </a:p>
                  </a:txBody>
                  <a:tcPr anchor="ctr"/>
                </a:tc>
                <a:tc>
                  <a:txBody>
                    <a:bodyPr/>
                    <a:lstStyle/>
                    <a:p>
                      <a:endParaRPr lang="en-US" dirty="0"/>
                    </a:p>
                  </a:txBody>
                  <a:tcPr anchor="ctr"/>
                </a:tc>
                <a:tc>
                  <a:txBody>
                    <a:bodyPr/>
                    <a:lstStyle/>
                    <a:p>
                      <a:endParaRPr lang="en-US" dirty="0"/>
                    </a:p>
                  </a:txBody>
                  <a:tcPr anchor="ctr"/>
                </a:tc>
                <a:extLst>
                  <a:ext uri="{0D108BD9-81ED-4DB2-BD59-A6C34878D82A}">
                    <a16:rowId xmlns:a16="http://schemas.microsoft.com/office/drawing/2014/main" val="2682318458"/>
                  </a:ext>
                </a:extLst>
              </a:tr>
            </a:tbl>
          </a:graphicData>
        </a:graphic>
      </p:graphicFrame>
      <p:sp>
        <p:nvSpPr>
          <p:cNvPr id="3" name="Slide Number Placeholder 2">
            <a:extLst>
              <a:ext uri="{FF2B5EF4-FFF2-40B4-BE49-F238E27FC236}">
                <a16:creationId xmlns:a16="http://schemas.microsoft.com/office/drawing/2014/main" id="{AC21286A-7B29-3B58-1636-0F45723890A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15</a:t>
            </a:fld>
            <a:endParaRPr lang="en-US" dirty="0"/>
          </a:p>
        </p:txBody>
      </p:sp>
      <p:pic>
        <p:nvPicPr>
          <p:cNvPr id="8" name="Picture 7">
            <a:extLst>
              <a:ext uri="{FF2B5EF4-FFF2-40B4-BE49-F238E27FC236}">
                <a16:creationId xmlns:a16="http://schemas.microsoft.com/office/drawing/2014/main" id="{8E237F6C-547E-50E4-992D-47ED5D8C4305}"/>
              </a:ext>
            </a:extLst>
          </p:cNvPr>
          <p:cNvPicPr>
            <a:picLocks noChangeAspect="1"/>
          </p:cNvPicPr>
          <p:nvPr/>
        </p:nvPicPr>
        <p:blipFill>
          <a:blip r:embed="rId3"/>
          <a:stretch>
            <a:fillRect/>
          </a:stretch>
        </p:blipFill>
        <p:spPr>
          <a:xfrm>
            <a:off x="223935" y="690465"/>
            <a:ext cx="11053665" cy="5710336"/>
          </a:xfrm>
          <a:prstGeom prst="rect">
            <a:avLst/>
          </a:prstGeom>
        </p:spPr>
      </p:pic>
    </p:spTree>
    <p:extLst>
      <p:ext uri="{BB962C8B-B14F-4D97-AF65-F5344CB8AC3E}">
        <p14:creationId xmlns:p14="http://schemas.microsoft.com/office/powerpoint/2010/main" val="1686213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6BBBDD-81BD-5890-7DC4-675B51689522}"/>
              </a:ext>
            </a:extLst>
          </p:cNvPr>
          <p:cNvSpPr>
            <a:spLocks noGrp="1"/>
          </p:cNvSpPr>
          <p:nvPr>
            <p:ph sz="quarter" idx="4"/>
          </p:nvPr>
        </p:nvSpPr>
        <p:spPr>
          <a:xfrm>
            <a:off x="914400" y="765111"/>
            <a:ext cx="10511627" cy="5499514"/>
          </a:xfrm>
        </p:spPr>
        <p:txBody>
          <a:bodyPr/>
          <a:lstStyle/>
          <a:p>
            <a:pPr marL="0" indent="0">
              <a:buNone/>
            </a:pPr>
            <a:r>
              <a:rPr lang="tr-TR" sz="2400" b="1" dirty="0"/>
              <a:t>     </a:t>
            </a:r>
            <a:r>
              <a:rPr lang="en-US" sz="2400" b="1" dirty="0" err="1"/>
              <a:t>Tartışma</a:t>
            </a:r>
            <a:r>
              <a:rPr lang="en-US" sz="2400" b="1" dirty="0"/>
              <a:t> </a:t>
            </a:r>
            <a:r>
              <a:rPr lang="en-US" sz="2400" b="1" dirty="0" err="1"/>
              <a:t>Soruları</a:t>
            </a:r>
            <a:r>
              <a:rPr lang="en-US" sz="2400" b="1" dirty="0"/>
              <a:t> </a:t>
            </a:r>
            <a:r>
              <a:rPr lang="en-US" sz="2400" b="1" dirty="0" err="1"/>
              <a:t>ve</a:t>
            </a:r>
            <a:r>
              <a:rPr lang="en-US" sz="2400" b="1" dirty="0"/>
              <a:t> </a:t>
            </a:r>
            <a:r>
              <a:rPr lang="en-US" sz="2400" b="1" dirty="0" err="1"/>
              <a:t>Cevapları</a:t>
            </a:r>
            <a:endParaRPr lang="en-US" sz="2400" dirty="0"/>
          </a:p>
          <a:p>
            <a:pPr marL="0" indent="0">
              <a:buNone/>
            </a:pPr>
            <a:r>
              <a:rPr lang="tr-TR" b="1" dirty="0"/>
              <a:t>       </a:t>
            </a:r>
            <a:r>
              <a:rPr lang="en-US" b="1" dirty="0"/>
              <a:t>Soru 1:</a:t>
            </a:r>
            <a:r>
              <a:rPr lang="en-US" dirty="0"/>
              <a:t> </a:t>
            </a:r>
            <a:r>
              <a:rPr lang="en-US" dirty="0" err="1"/>
              <a:t>Toplum</a:t>
            </a:r>
            <a:r>
              <a:rPr lang="en-US" dirty="0"/>
              <a:t> </a:t>
            </a:r>
            <a:r>
              <a:rPr lang="en-US" dirty="0" err="1"/>
              <a:t>sadece</a:t>
            </a:r>
            <a:r>
              <a:rPr lang="en-US" dirty="0"/>
              <a:t> </a:t>
            </a:r>
            <a:r>
              <a:rPr lang="en-US" dirty="0" err="1"/>
              <a:t>bir</a:t>
            </a:r>
            <a:r>
              <a:rPr lang="en-US" dirty="0"/>
              <a:t> </a:t>
            </a:r>
            <a:r>
              <a:rPr lang="en-US" dirty="0" err="1"/>
              <a:t>arada</a:t>
            </a:r>
            <a:r>
              <a:rPr lang="en-US" dirty="0"/>
              <a:t> </a:t>
            </a:r>
            <a:r>
              <a:rPr lang="en-US" dirty="0" err="1"/>
              <a:t>yaşayan</a:t>
            </a:r>
            <a:r>
              <a:rPr lang="en-US" dirty="0"/>
              <a:t> </a:t>
            </a:r>
            <a:r>
              <a:rPr lang="en-US" dirty="0" err="1"/>
              <a:t>bireylerin</a:t>
            </a:r>
            <a:r>
              <a:rPr lang="en-US" dirty="0"/>
              <a:t> </a:t>
            </a:r>
            <a:r>
              <a:rPr lang="en-US" dirty="0" err="1"/>
              <a:t>toplamı</a:t>
            </a:r>
            <a:r>
              <a:rPr lang="en-US" dirty="0"/>
              <a:t> </a:t>
            </a:r>
            <a:r>
              <a:rPr lang="en-US" dirty="0" err="1"/>
              <a:t>mıdır</a:t>
            </a:r>
            <a:r>
              <a:rPr lang="en-US" dirty="0"/>
              <a:t>?</a:t>
            </a:r>
            <a:endParaRPr lang="tr-TR" dirty="0"/>
          </a:p>
          <a:p>
            <a:pPr>
              <a:buFont typeface="Wingdings" panose="05000000000000000000" pitchFamily="2" charset="2"/>
              <a:buChar char="v"/>
            </a:pPr>
            <a:r>
              <a:rPr lang="en-US" dirty="0"/>
              <a:t> </a:t>
            </a:r>
            <a:r>
              <a:rPr lang="en-US" b="1" dirty="0" err="1"/>
              <a:t>Cevap</a:t>
            </a:r>
            <a:r>
              <a:rPr lang="en-US" b="1" dirty="0"/>
              <a:t>:</a:t>
            </a:r>
            <a:r>
              <a:rPr lang="en-US" dirty="0"/>
              <a:t> </a:t>
            </a:r>
            <a:r>
              <a:rPr lang="en-US" dirty="0" err="1"/>
              <a:t>Hayır</a:t>
            </a:r>
            <a:r>
              <a:rPr lang="en-US" dirty="0"/>
              <a:t>. </a:t>
            </a:r>
            <a:r>
              <a:rPr lang="en-US" dirty="0" err="1"/>
              <a:t>Toplum</a:t>
            </a:r>
            <a:r>
              <a:rPr lang="en-US" dirty="0"/>
              <a:t>, </a:t>
            </a:r>
            <a:r>
              <a:rPr lang="en-US" dirty="0" err="1"/>
              <a:t>bireylerin</a:t>
            </a:r>
            <a:r>
              <a:rPr lang="en-US" dirty="0"/>
              <a:t> </a:t>
            </a:r>
            <a:r>
              <a:rPr lang="en-US" dirty="0" err="1"/>
              <a:t>bir</a:t>
            </a:r>
            <a:r>
              <a:rPr lang="en-US" dirty="0"/>
              <a:t> </a:t>
            </a:r>
            <a:r>
              <a:rPr lang="en-US" dirty="0" err="1"/>
              <a:t>arada</a:t>
            </a:r>
            <a:r>
              <a:rPr lang="en-US" dirty="0"/>
              <a:t> </a:t>
            </a:r>
            <a:r>
              <a:rPr lang="en-US" dirty="0" err="1"/>
              <a:t>yaşamalarının</a:t>
            </a:r>
            <a:r>
              <a:rPr lang="en-US" dirty="0"/>
              <a:t> </a:t>
            </a:r>
            <a:r>
              <a:rPr lang="en-US" dirty="0" err="1"/>
              <a:t>ötesinde</a:t>
            </a:r>
            <a:r>
              <a:rPr lang="en-US" dirty="0"/>
              <a:t>, </a:t>
            </a:r>
            <a:r>
              <a:rPr lang="en-US" dirty="0" err="1"/>
              <a:t>ilişkilerin</a:t>
            </a:r>
            <a:r>
              <a:rPr lang="en-US" dirty="0"/>
              <a:t> </a:t>
            </a:r>
            <a:r>
              <a:rPr lang="en-US" dirty="0" err="1"/>
              <a:t>örgütlendiği</a:t>
            </a:r>
            <a:r>
              <a:rPr lang="en-US" dirty="0"/>
              <a:t>, </a:t>
            </a:r>
            <a:r>
              <a:rPr lang="en-US" dirty="0" err="1"/>
              <a:t>değerlerin</a:t>
            </a:r>
            <a:r>
              <a:rPr lang="en-US" dirty="0"/>
              <a:t> </a:t>
            </a:r>
            <a:r>
              <a:rPr lang="en-US" dirty="0" err="1"/>
              <a:t>paylaşıldığı</a:t>
            </a:r>
            <a:r>
              <a:rPr lang="en-US" dirty="0"/>
              <a:t> </a:t>
            </a:r>
            <a:r>
              <a:rPr lang="en-US" dirty="0" err="1"/>
              <a:t>bir</a:t>
            </a:r>
            <a:r>
              <a:rPr lang="en-US" dirty="0"/>
              <a:t> </a:t>
            </a:r>
            <a:r>
              <a:rPr lang="en-US" dirty="0" err="1"/>
              <a:t>sistemdir</a:t>
            </a:r>
            <a:r>
              <a:rPr lang="en-US" dirty="0"/>
              <a:t>.</a:t>
            </a:r>
          </a:p>
          <a:p>
            <a:pPr>
              <a:buFont typeface="Wingdings" panose="05000000000000000000" pitchFamily="2" charset="2"/>
              <a:buChar char="v"/>
            </a:pPr>
            <a:r>
              <a:rPr lang="en-US" b="1" dirty="0"/>
              <a:t>Soru 2:</a:t>
            </a:r>
            <a:r>
              <a:rPr lang="en-US" dirty="0"/>
              <a:t> </a:t>
            </a:r>
            <a:r>
              <a:rPr lang="en-US" dirty="0" err="1"/>
              <a:t>Geleneksel</a:t>
            </a:r>
            <a:r>
              <a:rPr lang="en-US" dirty="0"/>
              <a:t> </a:t>
            </a:r>
            <a:r>
              <a:rPr lang="en-US" dirty="0" err="1"/>
              <a:t>ve</a:t>
            </a:r>
            <a:r>
              <a:rPr lang="en-US" dirty="0"/>
              <a:t> modern </a:t>
            </a:r>
            <a:r>
              <a:rPr lang="en-US" dirty="0" err="1"/>
              <a:t>toplumlar</a:t>
            </a:r>
            <a:r>
              <a:rPr lang="en-US" dirty="0"/>
              <a:t> </a:t>
            </a:r>
            <a:r>
              <a:rPr lang="en-US" dirty="0" err="1"/>
              <a:t>arasındaki</a:t>
            </a:r>
            <a:r>
              <a:rPr lang="en-US" dirty="0"/>
              <a:t> </a:t>
            </a:r>
            <a:r>
              <a:rPr lang="en-US" dirty="0" err="1"/>
              <a:t>temel</a:t>
            </a:r>
            <a:r>
              <a:rPr lang="en-US" dirty="0"/>
              <a:t> fark </a:t>
            </a:r>
            <a:r>
              <a:rPr lang="en-US" dirty="0" err="1"/>
              <a:t>nedir</a:t>
            </a:r>
            <a:r>
              <a:rPr lang="en-US" dirty="0"/>
              <a:t>?</a:t>
            </a:r>
            <a:br>
              <a:rPr lang="en-US" dirty="0"/>
            </a:br>
            <a:r>
              <a:rPr lang="en-US" dirty="0"/>
              <a:t> </a:t>
            </a:r>
            <a:r>
              <a:rPr lang="en-US" b="1" dirty="0" err="1"/>
              <a:t>Cevap</a:t>
            </a:r>
            <a:r>
              <a:rPr lang="en-US" b="1" dirty="0"/>
              <a:t>:</a:t>
            </a:r>
            <a:r>
              <a:rPr lang="en-US" dirty="0"/>
              <a:t> </a:t>
            </a:r>
            <a:r>
              <a:rPr lang="en-US" dirty="0" err="1"/>
              <a:t>Geleneksel</a:t>
            </a:r>
            <a:r>
              <a:rPr lang="en-US" dirty="0"/>
              <a:t> </a:t>
            </a:r>
            <a:r>
              <a:rPr lang="en-US" dirty="0" err="1"/>
              <a:t>toplumlarda</a:t>
            </a:r>
            <a:r>
              <a:rPr lang="en-US" dirty="0"/>
              <a:t> </a:t>
            </a:r>
            <a:r>
              <a:rPr lang="en-US" dirty="0" err="1"/>
              <a:t>yüz</a:t>
            </a:r>
            <a:r>
              <a:rPr lang="en-US" dirty="0"/>
              <a:t> </a:t>
            </a:r>
            <a:r>
              <a:rPr lang="en-US" dirty="0" err="1"/>
              <a:t>yüze</a:t>
            </a:r>
            <a:r>
              <a:rPr lang="en-US" dirty="0"/>
              <a:t> </a:t>
            </a:r>
            <a:r>
              <a:rPr lang="en-US" dirty="0" err="1"/>
              <a:t>ilişkiler</a:t>
            </a:r>
            <a:r>
              <a:rPr lang="en-US" dirty="0"/>
              <a:t> </a:t>
            </a:r>
            <a:r>
              <a:rPr lang="en-US" dirty="0" err="1"/>
              <a:t>ve</a:t>
            </a:r>
            <a:r>
              <a:rPr lang="en-US" dirty="0"/>
              <a:t> </a:t>
            </a:r>
            <a:r>
              <a:rPr lang="en-US" dirty="0" err="1"/>
              <a:t>ortak</a:t>
            </a:r>
            <a:r>
              <a:rPr lang="en-US" dirty="0"/>
              <a:t> </a:t>
            </a:r>
            <a:r>
              <a:rPr lang="en-US" dirty="0" err="1"/>
              <a:t>değerler</a:t>
            </a:r>
            <a:r>
              <a:rPr lang="en-US" dirty="0"/>
              <a:t> </a:t>
            </a:r>
            <a:r>
              <a:rPr lang="en-US" dirty="0" err="1"/>
              <a:t>hâkimdir</a:t>
            </a:r>
            <a:r>
              <a:rPr lang="en-US" dirty="0"/>
              <a:t>; modern </a:t>
            </a:r>
            <a:r>
              <a:rPr lang="en-US" dirty="0" err="1"/>
              <a:t>toplumlarda</a:t>
            </a:r>
            <a:r>
              <a:rPr lang="en-US" dirty="0"/>
              <a:t> </a:t>
            </a:r>
            <a:r>
              <a:rPr lang="en-US" dirty="0" err="1"/>
              <a:t>ise</a:t>
            </a:r>
            <a:r>
              <a:rPr lang="en-US" dirty="0"/>
              <a:t> </a:t>
            </a:r>
            <a:r>
              <a:rPr lang="en-US" dirty="0" err="1"/>
              <a:t>iş</a:t>
            </a:r>
            <a:r>
              <a:rPr lang="en-US" dirty="0"/>
              <a:t> </a:t>
            </a:r>
            <a:r>
              <a:rPr lang="en-US" dirty="0" err="1"/>
              <a:t>bölümü</a:t>
            </a:r>
            <a:r>
              <a:rPr lang="en-US" dirty="0"/>
              <a:t> </a:t>
            </a:r>
            <a:r>
              <a:rPr lang="en-US" dirty="0" err="1"/>
              <a:t>ve</a:t>
            </a:r>
            <a:r>
              <a:rPr lang="en-US" dirty="0"/>
              <a:t> </a:t>
            </a:r>
            <a:r>
              <a:rPr lang="en-US" dirty="0" err="1"/>
              <a:t>bireyselleşme</a:t>
            </a:r>
            <a:r>
              <a:rPr lang="en-US" dirty="0"/>
              <a:t> </a:t>
            </a:r>
            <a:r>
              <a:rPr lang="en-US" dirty="0" err="1"/>
              <a:t>ön</a:t>
            </a:r>
            <a:r>
              <a:rPr lang="en-US" dirty="0"/>
              <a:t> </a:t>
            </a:r>
            <a:r>
              <a:rPr lang="en-US" dirty="0" err="1"/>
              <a:t>plandadır</a:t>
            </a:r>
            <a:r>
              <a:rPr lang="en-US" dirty="0"/>
              <a:t>.</a:t>
            </a:r>
          </a:p>
          <a:p>
            <a:endParaRPr lang="en-US" dirty="0"/>
          </a:p>
        </p:txBody>
      </p:sp>
      <p:sp>
        <p:nvSpPr>
          <p:cNvPr id="4" name="Slide Number Placeholder 3">
            <a:extLst>
              <a:ext uri="{FF2B5EF4-FFF2-40B4-BE49-F238E27FC236}">
                <a16:creationId xmlns:a16="http://schemas.microsoft.com/office/drawing/2014/main" id="{75629BF9-C7E8-E431-7C73-561569A0E23F}"/>
              </a:ext>
            </a:extLst>
          </p:cNvPr>
          <p:cNvSpPr>
            <a:spLocks noGrp="1"/>
          </p:cNvSpPr>
          <p:nvPr>
            <p:ph type="sldNum" sz="quarter" idx="10"/>
          </p:nvPr>
        </p:nvSpPr>
        <p:spPr/>
        <p:txBody>
          <a:bodyPr/>
          <a:lstStyle/>
          <a:p>
            <a:fld id="{48F63A3B-78C7-47BE-AE5E-E10140E04643}" type="slidenum">
              <a:rPr lang="en-US" smtClean="0"/>
              <a:pPr/>
              <a:t>16</a:t>
            </a:fld>
            <a:endParaRPr lang="en-US" dirty="0"/>
          </a:p>
        </p:txBody>
      </p:sp>
    </p:spTree>
    <p:extLst>
      <p:ext uri="{BB962C8B-B14F-4D97-AF65-F5344CB8AC3E}">
        <p14:creationId xmlns:p14="http://schemas.microsoft.com/office/powerpoint/2010/main" val="2899660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F503B66-6F40-9BDF-B6C7-EBE6EB888684}"/>
              </a:ext>
            </a:extLst>
          </p:cNvPr>
          <p:cNvPicPr>
            <a:picLocks noGrp="1" noChangeAspect="1"/>
          </p:cNvPicPr>
          <p:nvPr>
            <p:ph sz="quarter" idx="4"/>
          </p:nvPr>
        </p:nvPicPr>
        <p:blipFill>
          <a:blip r:embed="rId2"/>
          <a:stretch>
            <a:fillRect/>
          </a:stretch>
        </p:blipFill>
        <p:spPr>
          <a:xfrm>
            <a:off x="2369976" y="1007706"/>
            <a:ext cx="7175239" cy="4889241"/>
          </a:xfrm>
          <a:prstGeom prst="rect">
            <a:avLst/>
          </a:prstGeom>
        </p:spPr>
      </p:pic>
      <p:sp>
        <p:nvSpPr>
          <p:cNvPr id="4" name="Slide Number Placeholder 3">
            <a:extLst>
              <a:ext uri="{FF2B5EF4-FFF2-40B4-BE49-F238E27FC236}">
                <a16:creationId xmlns:a16="http://schemas.microsoft.com/office/drawing/2014/main" id="{4AAE8C8D-8FB9-8CB1-B9A5-19EB67B7B826}"/>
              </a:ext>
            </a:extLst>
          </p:cNvPr>
          <p:cNvSpPr>
            <a:spLocks noGrp="1"/>
          </p:cNvSpPr>
          <p:nvPr>
            <p:ph type="sldNum" sz="quarter" idx="10"/>
          </p:nvPr>
        </p:nvSpPr>
        <p:spPr/>
        <p:txBody>
          <a:bodyPr/>
          <a:lstStyle/>
          <a:p>
            <a:fld id="{48F63A3B-78C7-47BE-AE5E-E10140E04643}" type="slidenum">
              <a:rPr lang="en-US" smtClean="0"/>
              <a:pPr/>
              <a:t>17</a:t>
            </a:fld>
            <a:endParaRPr lang="en-US" dirty="0"/>
          </a:p>
        </p:txBody>
      </p:sp>
    </p:spTree>
    <p:extLst>
      <p:ext uri="{BB962C8B-B14F-4D97-AF65-F5344CB8AC3E}">
        <p14:creationId xmlns:p14="http://schemas.microsoft.com/office/powerpoint/2010/main" val="1195353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C5E683-89D2-3639-AFDC-A25A0179FF3B}"/>
              </a:ext>
            </a:extLst>
          </p:cNvPr>
          <p:cNvSpPr>
            <a:spLocks noGrp="1"/>
          </p:cNvSpPr>
          <p:nvPr>
            <p:ph sz="quarter" idx="4"/>
          </p:nvPr>
        </p:nvSpPr>
        <p:spPr>
          <a:xfrm>
            <a:off x="681136" y="727789"/>
            <a:ext cx="10744892" cy="5536836"/>
          </a:xfrm>
        </p:spPr>
        <p:txBody>
          <a:bodyPr/>
          <a:lstStyle/>
          <a:p>
            <a:pPr marL="0" indent="0">
              <a:buNone/>
            </a:pPr>
            <a:r>
              <a:rPr lang="tr-TR" b="1" dirty="0"/>
              <a:t>  </a:t>
            </a:r>
          </a:p>
          <a:p>
            <a:pPr marL="0" indent="0">
              <a:buNone/>
            </a:pPr>
            <a:r>
              <a:rPr lang="tr-TR" b="1" dirty="0"/>
              <a:t> </a:t>
            </a:r>
            <a:r>
              <a:rPr lang="en-US" b="1" dirty="0"/>
              <a:t>Soru 3: </a:t>
            </a:r>
            <a:r>
              <a:rPr lang="en-US" b="1" dirty="0" err="1"/>
              <a:t>Kültür</a:t>
            </a:r>
            <a:r>
              <a:rPr lang="en-US" b="1" dirty="0"/>
              <a:t> </a:t>
            </a:r>
            <a:r>
              <a:rPr lang="en-US" b="1" dirty="0" err="1"/>
              <a:t>toplumsal</a:t>
            </a:r>
            <a:r>
              <a:rPr lang="en-US" b="1" dirty="0"/>
              <a:t> </a:t>
            </a:r>
            <a:r>
              <a:rPr lang="en-US" b="1" dirty="0" err="1"/>
              <a:t>dayanışmayı</a:t>
            </a:r>
            <a:r>
              <a:rPr lang="en-US" b="1" dirty="0"/>
              <a:t> </a:t>
            </a:r>
            <a:r>
              <a:rPr lang="en-US" b="1" dirty="0" err="1"/>
              <a:t>nasıl</a:t>
            </a:r>
            <a:r>
              <a:rPr lang="en-US" b="1" dirty="0"/>
              <a:t> </a:t>
            </a:r>
            <a:r>
              <a:rPr lang="en-US" b="1" dirty="0" err="1"/>
              <a:t>güçlendirir</a:t>
            </a:r>
            <a:r>
              <a:rPr lang="en-US" b="1" dirty="0"/>
              <a:t>?</a:t>
            </a:r>
            <a:endParaRPr lang="tr-TR" b="1" dirty="0"/>
          </a:p>
          <a:p>
            <a:pPr>
              <a:buFont typeface="Wingdings" panose="05000000000000000000" pitchFamily="2" charset="2"/>
              <a:buChar char="v"/>
            </a:pPr>
            <a:r>
              <a:rPr lang="en-US" dirty="0"/>
              <a:t> </a:t>
            </a:r>
            <a:r>
              <a:rPr lang="en-US" b="1" dirty="0" err="1"/>
              <a:t>Cevap</a:t>
            </a:r>
            <a:r>
              <a:rPr lang="en-US" b="1" dirty="0"/>
              <a:t>:</a:t>
            </a:r>
            <a:r>
              <a:rPr lang="en-US" dirty="0"/>
              <a:t> </a:t>
            </a:r>
            <a:r>
              <a:rPr lang="en-US" dirty="0" err="1"/>
              <a:t>Ortak</a:t>
            </a:r>
            <a:r>
              <a:rPr lang="en-US" dirty="0"/>
              <a:t> </a:t>
            </a:r>
            <a:r>
              <a:rPr lang="en-US" dirty="0" err="1"/>
              <a:t>kültür</a:t>
            </a:r>
            <a:r>
              <a:rPr lang="en-US" dirty="0"/>
              <a:t>, </a:t>
            </a:r>
            <a:r>
              <a:rPr lang="en-US" dirty="0" err="1"/>
              <a:t>bireyler</a:t>
            </a:r>
            <a:r>
              <a:rPr lang="en-US" dirty="0"/>
              <a:t> </a:t>
            </a:r>
            <a:r>
              <a:rPr lang="en-US" dirty="0" err="1"/>
              <a:t>arasında</a:t>
            </a:r>
            <a:r>
              <a:rPr lang="en-US" dirty="0"/>
              <a:t> </a:t>
            </a:r>
            <a:r>
              <a:rPr lang="en-US" dirty="0" err="1"/>
              <a:t>aidiyet</a:t>
            </a:r>
            <a:r>
              <a:rPr lang="en-US" dirty="0"/>
              <a:t> </a:t>
            </a:r>
            <a:r>
              <a:rPr lang="en-US" dirty="0" err="1"/>
              <a:t>duygusu</a:t>
            </a:r>
            <a:r>
              <a:rPr lang="en-US" dirty="0"/>
              <a:t> </a:t>
            </a:r>
            <a:r>
              <a:rPr lang="en-US" dirty="0" err="1"/>
              <a:t>yaratır</a:t>
            </a:r>
            <a:r>
              <a:rPr lang="en-US" dirty="0"/>
              <a:t> </a:t>
            </a:r>
            <a:r>
              <a:rPr lang="en-US" dirty="0" err="1"/>
              <a:t>ve</a:t>
            </a:r>
            <a:r>
              <a:rPr lang="en-US" dirty="0"/>
              <a:t> </a:t>
            </a:r>
            <a:r>
              <a:rPr lang="en-US" dirty="0" err="1"/>
              <a:t>toplumsal</a:t>
            </a:r>
            <a:r>
              <a:rPr lang="en-US" dirty="0"/>
              <a:t> </a:t>
            </a:r>
            <a:r>
              <a:rPr lang="en-US" dirty="0" err="1"/>
              <a:t>bütünleşmeyi</a:t>
            </a:r>
            <a:r>
              <a:rPr lang="en-US" dirty="0"/>
              <a:t> </a:t>
            </a:r>
            <a:r>
              <a:rPr lang="en-US" dirty="0" err="1"/>
              <a:t>sağlar</a:t>
            </a:r>
            <a:r>
              <a:rPr lang="en-US" dirty="0"/>
              <a:t>.</a:t>
            </a:r>
            <a:endParaRPr lang="tr-TR" dirty="0"/>
          </a:p>
          <a:p>
            <a:pPr marL="0" indent="0">
              <a:buNone/>
            </a:pPr>
            <a:endParaRPr lang="tr-TR" b="1" dirty="0"/>
          </a:p>
          <a:p>
            <a:pPr marL="0" indent="0">
              <a:buNone/>
            </a:pPr>
            <a:r>
              <a:rPr lang="en-US" b="1" dirty="0"/>
              <a:t>Soru 4:</a:t>
            </a:r>
            <a:r>
              <a:rPr lang="en-US" dirty="0"/>
              <a:t> </a:t>
            </a:r>
            <a:r>
              <a:rPr lang="en-US" dirty="0" err="1"/>
              <a:t>Toplumsal</a:t>
            </a:r>
            <a:r>
              <a:rPr lang="en-US" dirty="0"/>
              <a:t> </a:t>
            </a:r>
            <a:r>
              <a:rPr lang="en-US" dirty="0" err="1"/>
              <a:t>değişim</a:t>
            </a:r>
            <a:r>
              <a:rPr lang="en-US" dirty="0"/>
              <a:t> her zaman </a:t>
            </a:r>
            <a:r>
              <a:rPr lang="en-US" dirty="0" err="1"/>
              <a:t>ilerleme</a:t>
            </a:r>
            <a:r>
              <a:rPr lang="en-US" dirty="0"/>
              <a:t> </a:t>
            </a:r>
            <a:r>
              <a:rPr lang="en-US" dirty="0" err="1"/>
              <a:t>midir</a:t>
            </a:r>
            <a:r>
              <a:rPr lang="en-US" dirty="0"/>
              <a:t>?</a:t>
            </a:r>
            <a:br>
              <a:rPr lang="en-US" dirty="0"/>
            </a:br>
            <a:endParaRPr lang="tr-TR" dirty="0"/>
          </a:p>
          <a:p>
            <a:pPr>
              <a:buFont typeface="Wingdings" panose="05000000000000000000" pitchFamily="2" charset="2"/>
              <a:buChar char="v"/>
            </a:pPr>
            <a:r>
              <a:rPr lang="en-US" b="1" dirty="0" err="1"/>
              <a:t>Cevap</a:t>
            </a:r>
            <a:r>
              <a:rPr lang="en-US" b="1" dirty="0"/>
              <a:t>:</a:t>
            </a:r>
            <a:r>
              <a:rPr lang="en-US" dirty="0"/>
              <a:t> </a:t>
            </a:r>
            <a:r>
              <a:rPr lang="en-US" dirty="0" err="1"/>
              <a:t>Hayır</a:t>
            </a:r>
            <a:r>
              <a:rPr lang="en-US" dirty="0"/>
              <a:t>. Her </a:t>
            </a:r>
            <a:r>
              <a:rPr lang="en-US" dirty="0" err="1"/>
              <a:t>değişim</a:t>
            </a:r>
            <a:r>
              <a:rPr lang="en-US" dirty="0"/>
              <a:t> </a:t>
            </a:r>
            <a:r>
              <a:rPr lang="en-US" dirty="0" err="1"/>
              <a:t>toplumsal</a:t>
            </a:r>
            <a:r>
              <a:rPr lang="en-US" dirty="0"/>
              <a:t> </a:t>
            </a:r>
            <a:r>
              <a:rPr lang="en-US" dirty="0" err="1"/>
              <a:t>gelişme</a:t>
            </a:r>
            <a:r>
              <a:rPr lang="en-US" dirty="0"/>
              <a:t> </a:t>
            </a:r>
            <a:r>
              <a:rPr lang="en-US" dirty="0" err="1"/>
              <a:t>anlamına</a:t>
            </a:r>
            <a:r>
              <a:rPr lang="en-US" dirty="0"/>
              <a:t> </a:t>
            </a:r>
            <a:r>
              <a:rPr lang="en-US" dirty="0" err="1"/>
              <a:t>gelmez</a:t>
            </a:r>
            <a:r>
              <a:rPr lang="en-US" dirty="0"/>
              <a:t>; </a:t>
            </a:r>
            <a:r>
              <a:rPr lang="en-US" dirty="0" err="1"/>
              <a:t>bazı</a:t>
            </a:r>
            <a:r>
              <a:rPr lang="en-US" dirty="0"/>
              <a:t> </a:t>
            </a:r>
            <a:r>
              <a:rPr lang="en-US" dirty="0" err="1"/>
              <a:t>değişimler</a:t>
            </a:r>
            <a:r>
              <a:rPr lang="en-US" dirty="0"/>
              <a:t> yeni </a:t>
            </a:r>
            <a:r>
              <a:rPr lang="en-US" dirty="0" err="1"/>
              <a:t>sorunlar</a:t>
            </a:r>
            <a:r>
              <a:rPr lang="en-US" dirty="0"/>
              <a:t> da </a:t>
            </a:r>
            <a:r>
              <a:rPr lang="en-US" dirty="0" err="1"/>
              <a:t>yaratabilir</a:t>
            </a:r>
            <a:r>
              <a:rPr lang="en-US" dirty="0"/>
              <a:t> (</a:t>
            </a:r>
            <a:r>
              <a:rPr lang="en-US" dirty="0" err="1"/>
              <a:t>örneğin</a:t>
            </a:r>
            <a:r>
              <a:rPr lang="en-US" dirty="0"/>
              <a:t> </a:t>
            </a:r>
            <a:r>
              <a:rPr lang="en-US" dirty="0" err="1"/>
              <a:t>dijital</a:t>
            </a:r>
            <a:r>
              <a:rPr lang="en-US" dirty="0"/>
              <a:t> </a:t>
            </a:r>
            <a:r>
              <a:rPr lang="en-US" dirty="0" err="1"/>
              <a:t>bağımlılık</a:t>
            </a:r>
            <a:r>
              <a:rPr lang="en-US" dirty="0"/>
              <a:t>, </a:t>
            </a:r>
            <a:r>
              <a:rPr lang="en-US" dirty="0" err="1"/>
              <a:t>toplumsal</a:t>
            </a:r>
            <a:r>
              <a:rPr lang="en-US" dirty="0"/>
              <a:t> </a:t>
            </a:r>
            <a:r>
              <a:rPr lang="en-US" dirty="0" err="1"/>
              <a:t>yabancılaşma</a:t>
            </a:r>
            <a:r>
              <a:rPr lang="en-US" dirty="0"/>
              <a:t>).</a:t>
            </a:r>
          </a:p>
          <a:p>
            <a:endParaRPr lang="en-US" dirty="0"/>
          </a:p>
        </p:txBody>
      </p:sp>
      <p:sp>
        <p:nvSpPr>
          <p:cNvPr id="4" name="Slide Number Placeholder 3">
            <a:extLst>
              <a:ext uri="{FF2B5EF4-FFF2-40B4-BE49-F238E27FC236}">
                <a16:creationId xmlns:a16="http://schemas.microsoft.com/office/drawing/2014/main" id="{0F585F24-1908-47BB-ABCE-DE1FBD157EA1}"/>
              </a:ext>
            </a:extLst>
          </p:cNvPr>
          <p:cNvSpPr>
            <a:spLocks noGrp="1"/>
          </p:cNvSpPr>
          <p:nvPr>
            <p:ph type="sldNum" sz="quarter" idx="10"/>
          </p:nvPr>
        </p:nvSpPr>
        <p:spPr/>
        <p:txBody>
          <a:bodyPr/>
          <a:lstStyle/>
          <a:p>
            <a:fld id="{48F63A3B-78C7-47BE-AE5E-E10140E04643}" type="slidenum">
              <a:rPr lang="en-US" smtClean="0"/>
              <a:pPr/>
              <a:t>18</a:t>
            </a:fld>
            <a:endParaRPr lang="en-US" dirty="0"/>
          </a:p>
        </p:txBody>
      </p:sp>
    </p:spTree>
    <p:extLst>
      <p:ext uri="{BB962C8B-B14F-4D97-AF65-F5344CB8AC3E}">
        <p14:creationId xmlns:p14="http://schemas.microsoft.com/office/powerpoint/2010/main" val="4271970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07D269-A883-54DE-15F0-41396E6FAB29}"/>
              </a:ext>
            </a:extLst>
          </p:cNvPr>
          <p:cNvSpPr>
            <a:spLocks noGrp="1"/>
          </p:cNvSpPr>
          <p:nvPr>
            <p:ph sz="quarter" idx="4"/>
          </p:nvPr>
        </p:nvSpPr>
        <p:spPr>
          <a:xfrm>
            <a:off x="382556" y="928689"/>
            <a:ext cx="11043472" cy="5335936"/>
          </a:xfrm>
        </p:spPr>
        <p:txBody>
          <a:bodyPr/>
          <a:lstStyle/>
          <a:p>
            <a:pPr marL="0" indent="0">
              <a:buNone/>
            </a:pPr>
            <a:r>
              <a:rPr lang="tr-TR" sz="2400" b="1" dirty="0"/>
              <a:t>     </a:t>
            </a:r>
            <a:r>
              <a:rPr lang="en-US" sz="2400" b="1" dirty="0" err="1"/>
              <a:t>Sonuç</a:t>
            </a:r>
            <a:endParaRPr lang="en-US" sz="2400" b="1" dirty="0"/>
          </a:p>
          <a:p>
            <a:r>
              <a:rPr lang="en-US" dirty="0" err="1"/>
              <a:t>Toplum</a:t>
            </a:r>
            <a:r>
              <a:rPr lang="en-US" dirty="0"/>
              <a:t>, </a:t>
            </a:r>
            <a:r>
              <a:rPr lang="en-US" dirty="0" err="1"/>
              <a:t>insanın</a:t>
            </a:r>
            <a:r>
              <a:rPr lang="en-US" dirty="0"/>
              <a:t> </a:t>
            </a:r>
            <a:r>
              <a:rPr lang="en-US" dirty="0" err="1"/>
              <a:t>birey</a:t>
            </a:r>
            <a:r>
              <a:rPr lang="en-US" dirty="0"/>
              <a:t> </a:t>
            </a:r>
            <a:r>
              <a:rPr lang="en-US" dirty="0" err="1"/>
              <a:t>olmasını</a:t>
            </a:r>
            <a:r>
              <a:rPr lang="en-US" dirty="0"/>
              <a:t> </a:t>
            </a:r>
            <a:r>
              <a:rPr lang="en-US" dirty="0" err="1"/>
              <a:t>mümkün</a:t>
            </a:r>
            <a:r>
              <a:rPr lang="en-US" dirty="0"/>
              <a:t> </a:t>
            </a:r>
            <a:r>
              <a:rPr lang="en-US" dirty="0" err="1"/>
              <a:t>kılan</a:t>
            </a:r>
            <a:r>
              <a:rPr lang="en-US" dirty="0"/>
              <a:t> </a:t>
            </a:r>
            <a:r>
              <a:rPr lang="en-US" dirty="0" err="1"/>
              <a:t>bir</a:t>
            </a:r>
            <a:r>
              <a:rPr lang="en-US" dirty="0"/>
              <a:t> </a:t>
            </a:r>
            <a:r>
              <a:rPr lang="en-US" dirty="0" err="1"/>
              <a:t>yapıdır</a:t>
            </a:r>
            <a:r>
              <a:rPr lang="en-US" dirty="0"/>
              <a:t>.</a:t>
            </a:r>
            <a:br>
              <a:rPr lang="en-US" dirty="0"/>
            </a:br>
            <a:r>
              <a:rPr lang="en-US" dirty="0" err="1"/>
              <a:t>Birey</a:t>
            </a:r>
            <a:r>
              <a:rPr lang="en-US" dirty="0"/>
              <a:t> </a:t>
            </a:r>
            <a:r>
              <a:rPr lang="en-US" dirty="0" err="1"/>
              <a:t>topluma</a:t>
            </a:r>
            <a:r>
              <a:rPr lang="en-US" dirty="0"/>
              <a:t> </a:t>
            </a:r>
            <a:r>
              <a:rPr lang="en-US" dirty="0" err="1"/>
              <a:t>doğar</a:t>
            </a:r>
            <a:r>
              <a:rPr lang="en-US" dirty="0"/>
              <a:t>, </a:t>
            </a:r>
            <a:r>
              <a:rPr lang="en-US" dirty="0" err="1"/>
              <a:t>toplumun</a:t>
            </a:r>
            <a:r>
              <a:rPr lang="en-US" dirty="0"/>
              <a:t> </a:t>
            </a:r>
            <a:r>
              <a:rPr lang="en-US" dirty="0" err="1"/>
              <a:t>kurallarını</a:t>
            </a:r>
            <a:r>
              <a:rPr lang="en-US" dirty="0"/>
              <a:t> </a:t>
            </a:r>
            <a:r>
              <a:rPr lang="en-US" dirty="0" err="1"/>
              <a:t>öğrenir</a:t>
            </a:r>
            <a:r>
              <a:rPr lang="en-US" dirty="0"/>
              <a:t>, </a:t>
            </a:r>
            <a:r>
              <a:rPr lang="en-US" dirty="0" err="1"/>
              <a:t>değerlerini</a:t>
            </a:r>
            <a:r>
              <a:rPr lang="en-US" dirty="0"/>
              <a:t> </a:t>
            </a:r>
            <a:r>
              <a:rPr lang="en-US" dirty="0" err="1"/>
              <a:t>içselleştirir</a:t>
            </a:r>
            <a:r>
              <a:rPr lang="en-US" dirty="0"/>
              <a:t>.</a:t>
            </a:r>
            <a:br>
              <a:rPr lang="en-US" dirty="0"/>
            </a:br>
            <a:r>
              <a:rPr lang="en-US" dirty="0" err="1"/>
              <a:t>Toplum</a:t>
            </a:r>
            <a:r>
              <a:rPr lang="en-US" dirty="0"/>
              <a:t> </a:t>
            </a:r>
            <a:r>
              <a:rPr lang="en-US" dirty="0" err="1"/>
              <a:t>olmadan</a:t>
            </a:r>
            <a:r>
              <a:rPr lang="en-US" dirty="0"/>
              <a:t> </a:t>
            </a:r>
            <a:r>
              <a:rPr lang="en-US" dirty="0" err="1"/>
              <a:t>birey</a:t>
            </a:r>
            <a:r>
              <a:rPr lang="en-US" dirty="0"/>
              <a:t> </a:t>
            </a:r>
            <a:r>
              <a:rPr lang="en-US" dirty="0" err="1"/>
              <a:t>anlamını</a:t>
            </a:r>
            <a:r>
              <a:rPr lang="en-US" dirty="0"/>
              <a:t> </a:t>
            </a:r>
            <a:r>
              <a:rPr lang="en-US" dirty="0" err="1"/>
              <a:t>yitirir</a:t>
            </a:r>
            <a:r>
              <a:rPr lang="en-US" dirty="0"/>
              <a:t>; </a:t>
            </a:r>
            <a:r>
              <a:rPr lang="en-US" dirty="0" err="1"/>
              <a:t>birey</a:t>
            </a:r>
            <a:r>
              <a:rPr lang="en-US" dirty="0"/>
              <a:t> </a:t>
            </a:r>
            <a:r>
              <a:rPr lang="en-US" dirty="0" err="1"/>
              <a:t>olmadan</a:t>
            </a:r>
            <a:r>
              <a:rPr lang="en-US" dirty="0"/>
              <a:t> da </a:t>
            </a:r>
            <a:r>
              <a:rPr lang="en-US" dirty="0" err="1"/>
              <a:t>toplum</a:t>
            </a:r>
            <a:r>
              <a:rPr lang="en-US" dirty="0"/>
              <a:t> var </a:t>
            </a:r>
            <a:r>
              <a:rPr lang="en-US" dirty="0" err="1"/>
              <a:t>olamaz</a:t>
            </a:r>
            <a:r>
              <a:rPr lang="en-US" dirty="0"/>
              <a:t>.</a:t>
            </a:r>
          </a:p>
          <a:p>
            <a:r>
              <a:rPr lang="en-US" dirty="0" err="1"/>
              <a:t>Sosyoloji</a:t>
            </a:r>
            <a:r>
              <a:rPr lang="en-US" dirty="0"/>
              <a:t>, </a:t>
            </a:r>
            <a:r>
              <a:rPr lang="en-US" dirty="0" err="1"/>
              <a:t>bu</a:t>
            </a:r>
            <a:r>
              <a:rPr lang="en-US" dirty="0"/>
              <a:t> </a:t>
            </a:r>
            <a:r>
              <a:rPr lang="en-US" dirty="0" err="1"/>
              <a:t>karşılıklı</a:t>
            </a:r>
            <a:r>
              <a:rPr lang="en-US" dirty="0"/>
              <a:t> </a:t>
            </a:r>
            <a:r>
              <a:rPr lang="en-US" dirty="0" err="1"/>
              <a:t>ilişkiyi</a:t>
            </a:r>
            <a:r>
              <a:rPr lang="en-US" dirty="0"/>
              <a:t> </a:t>
            </a:r>
            <a:r>
              <a:rPr lang="en-US" dirty="0" err="1"/>
              <a:t>bilimsel</a:t>
            </a:r>
            <a:r>
              <a:rPr lang="en-US" dirty="0"/>
              <a:t> </a:t>
            </a:r>
            <a:r>
              <a:rPr lang="en-US" dirty="0" err="1"/>
              <a:t>olarak</a:t>
            </a:r>
            <a:r>
              <a:rPr lang="en-US" dirty="0"/>
              <a:t> </a:t>
            </a:r>
            <a:r>
              <a:rPr lang="en-US" dirty="0" err="1"/>
              <a:t>anlamaya</a:t>
            </a:r>
            <a:r>
              <a:rPr lang="en-US" dirty="0"/>
              <a:t> </a:t>
            </a:r>
            <a:r>
              <a:rPr lang="en-US" dirty="0" err="1"/>
              <a:t>çalışır</a:t>
            </a:r>
            <a:r>
              <a:rPr lang="en-US" dirty="0"/>
              <a:t>.</a:t>
            </a:r>
            <a:br>
              <a:rPr lang="en-US" dirty="0"/>
            </a:br>
            <a:r>
              <a:rPr lang="en-US" dirty="0" err="1"/>
              <a:t>Toplum</a:t>
            </a:r>
            <a:r>
              <a:rPr lang="en-US" dirty="0"/>
              <a:t> </a:t>
            </a:r>
            <a:r>
              <a:rPr lang="en-US" dirty="0" err="1"/>
              <a:t>kavramı</a:t>
            </a:r>
            <a:r>
              <a:rPr lang="en-US" dirty="0"/>
              <a:t>, </a:t>
            </a:r>
            <a:r>
              <a:rPr lang="en-US" dirty="0" err="1"/>
              <a:t>sosyolojinin</a:t>
            </a:r>
            <a:r>
              <a:rPr lang="en-US" dirty="0"/>
              <a:t> </a:t>
            </a:r>
            <a:r>
              <a:rPr lang="en-US" dirty="0" err="1"/>
              <a:t>temel</a:t>
            </a:r>
            <a:r>
              <a:rPr lang="en-US" dirty="0"/>
              <a:t> </a:t>
            </a:r>
            <a:r>
              <a:rPr lang="en-US" dirty="0" err="1"/>
              <a:t>taşıdır</a:t>
            </a:r>
            <a:r>
              <a:rPr lang="en-US" dirty="0"/>
              <a:t> — </a:t>
            </a:r>
            <a:r>
              <a:rPr lang="en-US" dirty="0" err="1"/>
              <a:t>çünkü</a:t>
            </a:r>
            <a:r>
              <a:rPr lang="en-US" dirty="0"/>
              <a:t> her </a:t>
            </a:r>
            <a:r>
              <a:rPr lang="en-US" dirty="0" err="1"/>
              <a:t>toplumsal</a:t>
            </a:r>
            <a:r>
              <a:rPr lang="en-US" dirty="0"/>
              <a:t> </a:t>
            </a:r>
            <a:r>
              <a:rPr lang="en-US" dirty="0" err="1"/>
              <a:t>olgu</a:t>
            </a:r>
            <a:r>
              <a:rPr lang="en-US" dirty="0"/>
              <a:t>, </a:t>
            </a:r>
            <a:r>
              <a:rPr lang="en-US" dirty="0" err="1"/>
              <a:t>bu</a:t>
            </a:r>
            <a:r>
              <a:rPr lang="en-US" dirty="0"/>
              <a:t> </a:t>
            </a:r>
            <a:r>
              <a:rPr lang="en-US" dirty="0" err="1"/>
              <a:t>kavramın</a:t>
            </a:r>
            <a:r>
              <a:rPr lang="en-US" dirty="0"/>
              <a:t> </a:t>
            </a:r>
            <a:r>
              <a:rPr lang="en-US" dirty="0" err="1"/>
              <a:t>çevresinde</a:t>
            </a:r>
            <a:r>
              <a:rPr lang="en-US" dirty="0"/>
              <a:t> </a:t>
            </a:r>
            <a:r>
              <a:rPr lang="en-US" dirty="0" err="1"/>
              <a:t>şekillenir</a:t>
            </a:r>
            <a:r>
              <a:rPr lang="en-US" dirty="0"/>
              <a:t>.</a:t>
            </a:r>
          </a:p>
          <a:p>
            <a:r>
              <a:rPr lang="en-US" dirty="0"/>
              <a:t>“</a:t>
            </a:r>
            <a:r>
              <a:rPr lang="en-US" dirty="0" err="1"/>
              <a:t>Toplum</a:t>
            </a:r>
            <a:r>
              <a:rPr lang="en-US" dirty="0"/>
              <a:t>, </a:t>
            </a:r>
            <a:r>
              <a:rPr lang="en-US" dirty="0" err="1"/>
              <a:t>insanın</a:t>
            </a:r>
            <a:r>
              <a:rPr lang="en-US" dirty="0"/>
              <a:t> </a:t>
            </a:r>
            <a:r>
              <a:rPr lang="en-US" dirty="0" err="1"/>
              <a:t>aynasıdır</a:t>
            </a:r>
            <a:r>
              <a:rPr lang="en-US" dirty="0"/>
              <a:t>; </a:t>
            </a:r>
            <a:r>
              <a:rPr lang="en-US" dirty="0" err="1"/>
              <a:t>kendimizi</a:t>
            </a:r>
            <a:r>
              <a:rPr lang="en-US" dirty="0"/>
              <a:t> </a:t>
            </a:r>
            <a:r>
              <a:rPr lang="en-US" dirty="0" err="1"/>
              <a:t>orada</a:t>
            </a:r>
            <a:r>
              <a:rPr lang="en-US" dirty="0"/>
              <a:t> </a:t>
            </a:r>
            <a:r>
              <a:rPr lang="en-US" dirty="0" err="1"/>
              <a:t>görürüz</a:t>
            </a:r>
            <a:r>
              <a:rPr lang="en-US" dirty="0"/>
              <a:t>.” – </a:t>
            </a:r>
            <a:r>
              <a:rPr lang="en-US" i="1" dirty="0" err="1"/>
              <a:t>Yrd</a:t>
            </a:r>
            <a:r>
              <a:rPr lang="en-US" i="1" dirty="0"/>
              <a:t>. </a:t>
            </a:r>
            <a:r>
              <a:rPr lang="en-US" i="1" dirty="0" err="1"/>
              <a:t>Doç</a:t>
            </a:r>
            <a:r>
              <a:rPr lang="en-US" i="1" dirty="0"/>
              <a:t>. Dr. Sibel </a:t>
            </a:r>
            <a:r>
              <a:rPr lang="en-US" i="1" dirty="0" err="1"/>
              <a:t>Solyalı</a:t>
            </a:r>
            <a:endParaRPr lang="en-US" dirty="0"/>
          </a:p>
        </p:txBody>
      </p:sp>
      <p:sp>
        <p:nvSpPr>
          <p:cNvPr id="4" name="Slide Number Placeholder 3">
            <a:extLst>
              <a:ext uri="{FF2B5EF4-FFF2-40B4-BE49-F238E27FC236}">
                <a16:creationId xmlns:a16="http://schemas.microsoft.com/office/drawing/2014/main" id="{95C2CC5C-3F0F-1756-CC68-81DC8D03401F}"/>
              </a:ext>
            </a:extLst>
          </p:cNvPr>
          <p:cNvSpPr>
            <a:spLocks noGrp="1"/>
          </p:cNvSpPr>
          <p:nvPr>
            <p:ph type="sldNum" sz="quarter" idx="10"/>
          </p:nvPr>
        </p:nvSpPr>
        <p:spPr/>
        <p:txBody>
          <a:bodyPr/>
          <a:lstStyle/>
          <a:p>
            <a:fld id="{48F63A3B-78C7-47BE-AE5E-E10140E04643}" type="slidenum">
              <a:rPr lang="en-US" smtClean="0"/>
              <a:pPr/>
              <a:t>19</a:t>
            </a:fld>
            <a:endParaRPr lang="en-US" dirty="0"/>
          </a:p>
        </p:txBody>
      </p:sp>
    </p:spTree>
    <p:extLst>
      <p:ext uri="{BB962C8B-B14F-4D97-AF65-F5344CB8AC3E}">
        <p14:creationId xmlns:p14="http://schemas.microsoft.com/office/powerpoint/2010/main" val="2465102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4F3FCA-DDF5-FBC1-DB7B-09184BB42666}"/>
              </a:ext>
            </a:extLst>
          </p:cNvPr>
          <p:cNvSpPr>
            <a:spLocks noGrp="1"/>
          </p:cNvSpPr>
          <p:nvPr>
            <p:ph sz="quarter" idx="4"/>
          </p:nvPr>
        </p:nvSpPr>
        <p:spPr>
          <a:xfrm>
            <a:off x="914400" y="928689"/>
            <a:ext cx="10511627" cy="5335936"/>
          </a:xfrm>
        </p:spPr>
        <p:txBody>
          <a:bodyPr>
            <a:normAutofit lnSpcReduction="10000"/>
          </a:bodyPr>
          <a:lstStyle/>
          <a:p>
            <a:pPr marL="0" indent="0">
              <a:buNone/>
            </a:pPr>
            <a:r>
              <a:rPr lang="tr-TR" b="1" dirty="0"/>
              <a:t>       </a:t>
            </a:r>
          </a:p>
          <a:p>
            <a:pPr marL="0" indent="0">
              <a:buNone/>
            </a:pPr>
            <a:r>
              <a:rPr lang="tr-TR" b="1" dirty="0"/>
              <a:t>      </a:t>
            </a:r>
            <a:r>
              <a:rPr lang="en-US" sz="2400" b="1" dirty="0"/>
              <a:t>SOSYAL YAPI</a:t>
            </a:r>
          </a:p>
          <a:p>
            <a:pPr marL="0" indent="0">
              <a:buNone/>
            </a:pPr>
            <a:r>
              <a:rPr lang="tr-TR" b="1" dirty="0"/>
              <a:t>      </a:t>
            </a:r>
            <a:r>
              <a:rPr lang="en-US" dirty="0" err="1"/>
              <a:t>Sosyal</a:t>
            </a:r>
            <a:r>
              <a:rPr lang="en-US" dirty="0"/>
              <a:t> </a:t>
            </a:r>
            <a:r>
              <a:rPr lang="en-US" dirty="0" err="1"/>
              <a:t>Yapının</a:t>
            </a:r>
            <a:r>
              <a:rPr lang="en-US" dirty="0"/>
              <a:t> </a:t>
            </a:r>
            <a:r>
              <a:rPr lang="en-US" dirty="0" err="1"/>
              <a:t>Tanımı</a:t>
            </a:r>
            <a:endParaRPr lang="en-US" dirty="0"/>
          </a:p>
          <a:p>
            <a:r>
              <a:rPr lang="en-US" dirty="0" err="1"/>
              <a:t>Sosyal</a:t>
            </a:r>
            <a:r>
              <a:rPr lang="en-US" dirty="0"/>
              <a:t> </a:t>
            </a:r>
            <a:r>
              <a:rPr lang="en-US" dirty="0" err="1"/>
              <a:t>yapı</a:t>
            </a:r>
            <a:r>
              <a:rPr lang="en-US" dirty="0"/>
              <a:t>, </a:t>
            </a:r>
            <a:r>
              <a:rPr lang="en-US" dirty="0" err="1"/>
              <a:t>toplumun</a:t>
            </a:r>
            <a:r>
              <a:rPr lang="en-US" dirty="0"/>
              <a:t> </a:t>
            </a:r>
            <a:r>
              <a:rPr lang="en-US" dirty="0" err="1"/>
              <a:t>düzenli</a:t>
            </a:r>
            <a:r>
              <a:rPr lang="en-US" dirty="0"/>
              <a:t> </a:t>
            </a:r>
            <a:r>
              <a:rPr lang="en-US" dirty="0" err="1"/>
              <a:t>işleyişini</a:t>
            </a:r>
            <a:r>
              <a:rPr lang="en-US" dirty="0"/>
              <a:t> </a:t>
            </a:r>
            <a:r>
              <a:rPr lang="en-US" dirty="0" err="1"/>
              <a:t>sağlayan</a:t>
            </a:r>
            <a:r>
              <a:rPr lang="en-US" dirty="0"/>
              <a:t> </a:t>
            </a:r>
            <a:r>
              <a:rPr lang="en-US" dirty="0" err="1"/>
              <a:t>ilişkiler</a:t>
            </a:r>
            <a:r>
              <a:rPr lang="en-US" dirty="0"/>
              <a:t>, roller, </a:t>
            </a:r>
            <a:r>
              <a:rPr lang="en-US" dirty="0" err="1"/>
              <a:t>statüler</a:t>
            </a:r>
            <a:r>
              <a:rPr lang="en-US" dirty="0"/>
              <a:t>, </a:t>
            </a:r>
            <a:r>
              <a:rPr lang="en-US" dirty="0" err="1"/>
              <a:t>kurumlar</a:t>
            </a:r>
            <a:r>
              <a:rPr lang="en-US" dirty="0"/>
              <a:t> </a:t>
            </a:r>
            <a:r>
              <a:rPr lang="en-US" dirty="0" err="1"/>
              <a:t>ve</a:t>
            </a:r>
            <a:r>
              <a:rPr lang="en-US" dirty="0"/>
              <a:t> </a:t>
            </a:r>
            <a:r>
              <a:rPr lang="en-US" dirty="0" err="1"/>
              <a:t>değerler</a:t>
            </a:r>
            <a:r>
              <a:rPr lang="en-US" dirty="0"/>
              <a:t> </a:t>
            </a:r>
            <a:r>
              <a:rPr lang="en-US" dirty="0" err="1"/>
              <a:t>bütünüdür</a:t>
            </a:r>
            <a:r>
              <a:rPr lang="en-US" dirty="0"/>
              <a:t>.</a:t>
            </a:r>
            <a:br>
              <a:rPr lang="en-US" dirty="0"/>
            </a:br>
            <a:r>
              <a:rPr lang="en-US" dirty="0"/>
              <a:t>Bir </a:t>
            </a:r>
            <a:r>
              <a:rPr lang="en-US" dirty="0" err="1"/>
              <a:t>başka</a:t>
            </a:r>
            <a:r>
              <a:rPr lang="en-US" dirty="0"/>
              <a:t> </a:t>
            </a:r>
            <a:r>
              <a:rPr lang="en-US" dirty="0" err="1"/>
              <a:t>ifadeyle</a:t>
            </a:r>
            <a:r>
              <a:rPr lang="en-US" dirty="0"/>
              <a:t> </a:t>
            </a:r>
            <a:r>
              <a:rPr lang="en-US" dirty="0" err="1"/>
              <a:t>sosyal</a:t>
            </a:r>
            <a:r>
              <a:rPr lang="en-US" dirty="0"/>
              <a:t> </a:t>
            </a:r>
            <a:r>
              <a:rPr lang="en-US" dirty="0" err="1"/>
              <a:t>yapı</a:t>
            </a:r>
            <a:r>
              <a:rPr lang="en-US" dirty="0"/>
              <a:t>, </a:t>
            </a:r>
            <a:r>
              <a:rPr lang="en-US" dirty="0" err="1"/>
              <a:t>toplumun</a:t>
            </a:r>
            <a:r>
              <a:rPr lang="en-US" dirty="0"/>
              <a:t> </a:t>
            </a:r>
            <a:r>
              <a:rPr lang="en-US" dirty="0" err="1"/>
              <a:t>iskeletidir</a:t>
            </a:r>
            <a:r>
              <a:rPr lang="en-US" dirty="0"/>
              <a:t>.</a:t>
            </a:r>
            <a:br>
              <a:rPr lang="en-US" dirty="0"/>
            </a:br>
            <a:r>
              <a:rPr lang="en-US" dirty="0"/>
              <a:t>Bu </a:t>
            </a:r>
            <a:r>
              <a:rPr lang="en-US" dirty="0" err="1"/>
              <a:t>yapı</a:t>
            </a:r>
            <a:r>
              <a:rPr lang="en-US" dirty="0"/>
              <a:t> </a:t>
            </a:r>
            <a:r>
              <a:rPr lang="en-US" dirty="0" err="1"/>
              <a:t>olmadan</a:t>
            </a:r>
            <a:r>
              <a:rPr lang="en-US" dirty="0"/>
              <a:t> </a:t>
            </a:r>
            <a:r>
              <a:rPr lang="en-US" dirty="0" err="1"/>
              <a:t>toplumsal</a:t>
            </a:r>
            <a:r>
              <a:rPr lang="en-US" dirty="0"/>
              <a:t> </a:t>
            </a:r>
            <a:r>
              <a:rPr lang="en-US" dirty="0" err="1"/>
              <a:t>yaşamın</a:t>
            </a:r>
            <a:r>
              <a:rPr lang="en-US" dirty="0"/>
              <a:t> </a:t>
            </a:r>
            <a:r>
              <a:rPr lang="en-US" dirty="0" err="1"/>
              <a:t>düzenli</a:t>
            </a:r>
            <a:r>
              <a:rPr lang="en-US" dirty="0"/>
              <a:t> </a:t>
            </a:r>
            <a:r>
              <a:rPr lang="en-US" dirty="0" err="1"/>
              <a:t>biçimde</a:t>
            </a:r>
            <a:r>
              <a:rPr lang="en-US" dirty="0"/>
              <a:t> </a:t>
            </a:r>
            <a:r>
              <a:rPr lang="en-US" dirty="0" err="1"/>
              <a:t>sürmesi</a:t>
            </a:r>
            <a:r>
              <a:rPr lang="en-US" dirty="0"/>
              <a:t> </a:t>
            </a:r>
            <a:r>
              <a:rPr lang="en-US" dirty="0" err="1"/>
              <a:t>mümkün</a:t>
            </a:r>
            <a:r>
              <a:rPr lang="en-US" dirty="0"/>
              <a:t> </a:t>
            </a:r>
            <a:r>
              <a:rPr lang="en-US" dirty="0" err="1"/>
              <a:t>değildir</a:t>
            </a:r>
            <a:r>
              <a:rPr lang="en-US" dirty="0"/>
              <a:t>.</a:t>
            </a:r>
          </a:p>
          <a:p>
            <a:r>
              <a:rPr lang="en-US" b="1" dirty="0"/>
              <a:t>Giddens (1998)</a:t>
            </a:r>
            <a:r>
              <a:rPr lang="en-US" dirty="0"/>
              <a:t> </a:t>
            </a:r>
            <a:r>
              <a:rPr lang="en-US" dirty="0" err="1"/>
              <a:t>sosyal</a:t>
            </a:r>
            <a:r>
              <a:rPr lang="en-US" dirty="0"/>
              <a:t> </a:t>
            </a:r>
            <a:r>
              <a:rPr lang="en-US" dirty="0" err="1"/>
              <a:t>yapıyı</a:t>
            </a:r>
            <a:r>
              <a:rPr lang="en-US" dirty="0"/>
              <a:t>, </a:t>
            </a:r>
            <a:r>
              <a:rPr lang="en-US" dirty="0" err="1"/>
              <a:t>bireylerin</a:t>
            </a:r>
            <a:r>
              <a:rPr lang="en-US" dirty="0"/>
              <a:t> </a:t>
            </a:r>
            <a:r>
              <a:rPr lang="en-US" dirty="0" err="1"/>
              <a:t>eylemleriyle</a:t>
            </a:r>
            <a:r>
              <a:rPr lang="en-US" dirty="0"/>
              <a:t> </a:t>
            </a:r>
            <a:r>
              <a:rPr lang="en-US" dirty="0" err="1"/>
              <a:t>şekillenen</a:t>
            </a:r>
            <a:r>
              <a:rPr lang="en-US" dirty="0"/>
              <a:t>, </a:t>
            </a:r>
            <a:r>
              <a:rPr lang="en-US" dirty="0" err="1"/>
              <a:t>ancak</a:t>
            </a:r>
            <a:r>
              <a:rPr lang="en-US" dirty="0"/>
              <a:t> </a:t>
            </a:r>
            <a:r>
              <a:rPr lang="en-US" dirty="0" err="1"/>
              <a:t>aynı</a:t>
            </a:r>
            <a:r>
              <a:rPr lang="en-US" dirty="0"/>
              <a:t> </a:t>
            </a:r>
            <a:r>
              <a:rPr lang="en-US" dirty="0" err="1"/>
              <a:t>zamanda</a:t>
            </a:r>
            <a:r>
              <a:rPr lang="en-US" dirty="0"/>
              <a:t> </a:t>
            </a:r>
            <a:r>
              <a:rPr lang="en-US" dirty="0" err="1"/>
              <a:t>bireylerin</a:t>
            </a:r>
            <a:r>
              <a:rPr lang="en-US" dirty="0"/>
              <a:t> </a:t>
            </a:r>
            <a:r>
              <a:rPr lang="en-US" dirty="0" err="1"/>
              <a:t>davranışlarını</a:t>
            </a:r>
            <a:r>
              <a:rPr lang="en-US" dirty="0"/>
              <a:t> </a:t>
            </a:r>
            <a:r>
              <a:rPr lang="en-US" dirty="0" err="1"/>
              <a:t>sınırlandıran</a:t>
            </a:r>
            <a:r>
              <a:rPr lang="en-US" dirty="0"/>
              <a:t> </a:t>
            </a:r>
            <a:r>
              <a:rPr lang="en-US" dirty="0" err="1"/>
              <a:t>bir</a:t>
            </a:r>
            <a:r>
              <a:rPr lang="en-US" dirty="0"/>
              <a:t> </a:t>
            </a:r>
            <a:r>
              <a:rPr lang="en-US" dirty="0" err="1"/>
              <a:t>sistem</a:t>
            </a:r>
            <a:r>
              <a:rPr lang="en-US" dirty="0"/>
              <a:t> </a:t>
            </a:r>
            <a:r>
              <a:rPr lang="en-US" dirty="0" err="1"/>
              <a:t>olarak</a:t>
            </a:r>
            <a:r>
              <a:rPr lang="en-US" dirty="0"/>
              <a:t> </a:t>
            </a:r>
            <a:r>
              <a:rPr lang="en-US" dirty="0" err="1"/>
              <a:t>tanımlar</a:t>
            </a:r>
            <a:r>
              <a:rPr lang="en-US" dirty="0"/>
              <a:t>.</a:t>
            </a:r>
            <a:br>
              <a:rPr lang="en-US" dirty="0"/>
            </a:br>
            <a:r>
              <a:rPr lang="en-US" b="1" dirty="0"/>
              <a:t>Aron (2004)</a:t>
            </a:r>
            <a:r>
              <a:rPr lang="en-US" dirty="0"/>
              <a:t>, </a:t>
            </a:r>
            <a:r>
              <a:rPr lang="en-US" dirty="0" err="1"/>
              <a:t>toplumsal</a:t>
            </a:r>
            <a:r>
              <a:rPr lang="en-US" dirty="0"/>
              <a:t> </a:t>
            </a:r>
            <a:r>
              <a:rPr lang="en-US" dirty="0" err="1"/>
              <a:t>yapıyı</a:t>
            </a:r>
            <a:r>
              <a:rPr lang="en-US" dirty="0"/>
              <a:t> </a:t>
            </a:r>
            <a:r>
              <a:rPr lang="en-US" dirty="0" err="1"/>
              <a:t>tarihsel</a:t>
            </a:r>
            <a:r>
              <a:rPr lang="en-US" dirty="0"/>
              <a:t> </a:t>
            </a:r>
            <a:r>
              <a:rPr lang="en-US" dirty="0" err="1"/>
              <a:t>olarak</a:t>
            </a:r>
            <a:r>
              <a:rPr lang="en-US" dirty="0"/>
              <a:t> </a:t>
            </a:r>
            <a:r>
              <a:rPr lang="en-US" dirty="0" err="1"/>
              <a:t>değişen</a:t>
            </a:r>
            <a:r>
              <a:rPr lang="en-US" dirty="0"/>
              <a:t> </a:t>
            </a:r>
            <a:r>
              <a:rPr lang="en-US" dirty="0" err="1"/>
              <a:t>dinamik</a:t>
            </a:r>
            <a:r>
              <a:rPr lang="en-US" dirty="0"/>
              <a:t> </a:t>
            </a:r>
            <a:r>
              <a:rPr lang="en-US" dirty="0" err="1"/>
              <a:t>bir</a:t>
            </a:r>
            <a:r>
              <a:rPr lang="en-US" dirty="0"/>
              <a:t> </a:t>
            </a:r>
            <a:r>
              <a:rPr lang="en-US" dirty="0" err="1"/>
              <a:t>organizma</a:t>
            </a:r>
            <a:r>
              <a:rPr lang="en-US" dirty="0"/>
              <a:t> </a:t>
            </a:r>
            <a:r>
              <a:rPr lang="en-US" dirty="0" err="1"/>
              <a:t>olarak</a:t>
            </a:r>
            <a:r>
              <a:rPr lang="en-US" dirty="0"/>
              <a:t> </a:t>
            </a:r>
            <a:r>
              <a:rPr lang="en-US" dirty="0" err="1"/>
              <a:t>görür</a:t>
            </a:r>
            <a:r>
              <a:rPr lang="en-US" dirty="0"/>
              <a:t>.</a:t>
            </a:r>
            <a:br>
              <a:rPr lang="en-US" dirty="0"/>
            </a:br>
            <a:r>
              <a:rPr lang="en-US" b="1" dirty="0"/>
              <a:t>Durkheim (1956)</a:t>
            </a:r>
            <a:r>
              <a:rPr lang="en-US" dirty="0"/>
              <a:t> </a:t>
            </a:r>
            <a:r>
              <a:rPr lang="en-US" dirty="0" err="1"/>
              <a:t>ise</a:t>
            </a:r>
            <a:r>
              <a:rPr lang="en-US" dirty="0"/>
              <a:t> </a:t>
            </a:r>
            <a:r>
              <a:rPr lang="en-US" dirty="0" err="1"/>
              <a:t>toplumsal</a:t>
            </a:r>
            <a:r>
              <a:rPr lang="en-US" dirty="0"/>
              <a:t> </a:t>
            </a:r>
            <a:r>
              <a:rPr lang="en-US" dirty="0" err="1"/>
              <a:t>yapıyı</a:t>
            </a:r>
            <a:r>
              <a:rPr lang="en-US" dirty="0"/>
              <a:t>, </a:t>
            </a:r>
            <a:r>
              <a:rPr lang="en-US" dirty="0" err="1"/>
              <a:t>bireyleri</a:t>
            </a:r>
            <a:r>
              <a:rPr lang="en-US" dirty="0"/>
              <a:t> </a:t>
            </a:r>
            <a:r>
              <a:rPr lang="en-US" dirty="0" err="1"/>
              <a:t>bir</a:t>
            </a:r>
            <a:r>
              <a:rPr lang="en-US" dirty="0"/>
              <a:t> </a:t>
            </a:r>
            <a:r>
              <a:rPr lang="en-US" dirty="0" err="1"/>
              <a:t>arada</a:t>
            </a:r>
            <a:r>
              <a:rPr lang="en-US" dirty="0"/>
              <a:t> </a:t>
            </a:r>
            <a:r>
              <a:rPr lang="en-US" dirty="0" err="1"/>
              <a:t>tutan</a:t>
            </a:r>
            <a:r>
              <a:rPr lang="en-US" dirty="0"/>
              <a:t> </a:t>
            </a:r>
            <a:r>
              <a:rPr lang="en-US" dirty="0" err="1"/>
              <a:t>dayanışma</a:t>
            </a:r>
            <a:r>
              <a:rPr lang="en-US" dirty="0"/>
              <a:t> </a:t>
            </a:r>
            <a:r>
              <a:rPr lang="en-US" dirty="0" err="1"/>
              <a:t>biçimlerinin</a:t>
            </a:r>
            <a:r>
              <a:rPr lang="en-US" dirty="0"/>
              <a:t> </a:t>
            </a:r>
            <a:r>
              <a:rPr lang="en-US" dirty="0" err="1"/>
              <a:t>toplamı</a:t>
            </a:r>
            <a:r>
              <a:rPr lang="en-US" dirty="0"/>
              <a:t> </a:t>
            </a:r>
            <a:r>
              <a:rPr lang="en-US" dirty="0" err="1"/>
              <a:t>şeklinde</a:t>
            </a:r>
            <a:r>
              <a:rPr lang="en-US" dirty="0"/>
              <a:t> </a:t>
            </a:r>
            <a:r>
              <a:rPr lang="en-US" dirty="0" err="1"/>
              <a:t>açıklar</a:t>
            </a:r>
            <a:r>
              <a:rPr lang="en-US" dirty="0"/>
              <a:t>.</a:t>
            </a:r>
          </a:p>
          <a:p>
            <a:r>
              <a:rPr lang="en-US" dirty="0" err="1"/>
              <a:t>Toplum</a:t>
            </a:r>
            <a:r>
              <a:rPr lang="en-US" dirty="0"/>
              <a:t>, </a:t>
            </a:r>
            <a:r>
              <a:rPr lang="en-US" dirty="0" err="1"/>
              <a:t>tıpkı</a:t>
            </a:r>
            <a:r>
              <a:rPr lang="en-US" dirty="0"/>
              <a:t> </a:t>
            </a:r>
            <a:r>
              <a:rPr lang="en-US" dirty="0" err="1"/>
              <a:t>bir</a:t>
            </a:r>
            <a:r>
              <a:rPr lang="en-US" dirty="0"/>
              <a:t> </a:t>
            </a:r>
            <a:r>
              <a:rPr lang="en-US" dirty="0" err="1"/>
              <a:t>organizma</a:t>
            </a:r>
            <a:r>
              <a:rPr lang="en-US" dirty="0"/>
              <a:t> </a:t>
            </a:r>
            <a:r>
              <a:rPr lang="en-US" dirty="0" err="1"/>
              <a:t>gibi</a:t>
            </a:r>
            <a:r>
              <a:rPr lang="en-US" dirty="0"/>
              <a:t> </a:t>
            </a:r>
            <a:r>
              <a:rPr lang="en-US" dirty="0" err="1"/>
              <a:t>birbirine</a:t>
            </a:r>
            <a:r>
              <a:rPr lang="en-US" dirty="0"/>
              <a:t> </a:t>
            </a:r>
            <a:r>
              <a:rPr lang="en-US" dirty="0" err="1"/>
              <a:t>bağlı</a:t>
            </a:r>
            <a:r>
              <a:rPr lang="en-US" dirty="0"/>
              <a:t> </a:t>
            </a:r>
            <a:r>
              <a:rPr lang="en-US" dirty="0" err="1"/>
              <a:t>parçalardan</a:t>
            </a:r>
            <a:r>
              <a:rPr lang="en-US" dirty="0"/>
              <a:t> </a:t>
            </a:r>
            <a:r>
              <a:rPr lang="en-US" dirty="0" err="1"/>
              <a:t>oluşur</a:t>
            </a:r>
            <a:r>
              <a:rPr lang="en-US" dirty="0"/>
              <a:t>.</a:t>
            </a:r>
            <a:br>
              <a:rPr lang="en-US" dirty="0"/>
            </a:br>
            <a:r>
              <a:rPr lang="en-US" dirty="0"/>
              <a:t>Aile, </a:t>
            </a:r>
            <a:r>
              <a:rPr lang="en-US" dirty="0" err="1"/>
              <a:t>eğitim</a:t>
            </a:r>
            <a:r>
              <a:rPr lang="en-US" dirty="0"/>
              <a:t>, </a:t>
            </a:r>
            <a:r>
              <a:rPr lang="en-US" dirty="0" err="1"/>
              <a:t>ekonomi</a:t>
            </a:r>
            <a:r>
              <a:rPr lang="en-US" dirty="0"/>
              <a:t>, din </a:t>
            </a:r>
            <a:r>
              <a:rPr lang="en-US" dirty="0" err="1"/>
              <a:t>ve</a:t>
            </a:r>
            <a:r>
              <a:rPr lang="en-US" dirty="0"/>
              <a:t> </a:t>
            </a:r>
            <a:r>
              <a:rPr lang="en-US" dirty="0" err="1"/>
              <a:t>siyaset</a:t>
            </a:r>
            <a:r>
              <a:rPr lang="en-US" dirty="0"/>
              <a:t> </a:t>
            </a:r>
            <a:r>
              <a:rPr lang="en-US" dirty="0" err="1"/>
              <a:t>gibi</a:t>
            </a:r>
            <a:r>
              <a:rPr lang="en-US" dirty="0"/>
              <a:t> </a:t>
            </a:r>
            <a:r>
              <a:rPr lang="en-US" dirty="0" err="1"/>
              <a:t>kurumlar</a:t>
            </a:r>
            <a:r>
              <a:rPr lang="en-US" dirty="0"/>
              <a:t> </a:t>
            </a:r>
            <a:r>
              <a:rPr lang="en-US" dirty="0" err="1"/>
              <a:t>bu</a:t>
            </a:r>
            <a:r>
              <a:rPr lang="en-US" dirty="0"/>
              <a:t> </a:t>
            </a:r>
            <a:r>
              <a:rPr lang="en-US" dirty="0" err="1"/>
              <a:t>yapının</a:t>
            </a:r>
            <a:r>
              <a:rPr lang="en-US" dirty="0"/>
              <a:t> </a:t>
            </a:r>
            <a:r>
              <a:rPr lang="en-US" dirty="0" err="1"/>
              <a:t>organlarıdır</a:t>
            </a:r>
            <a:r>
              <a:rPr lang="en-US" dirty="0"/>
              <a:t>.</a:t>
            </a:r>
            <a:br>
              <a:rPr lang="en-US" dirty="0"/>
            </a:br>
            <a:r>
              <a:rPr lang="en-US" dirty="0"/>
              <a:t>Her </a:t>
            </a:r>
            <a:r>
              <a:rPr lang="en-US" dirty="0" err="1"/>
              <a:t>biri</a:t>
            </a:r>
            <a:r>
              <a:rPr lang="en-US" dirty="0"/>
              <a:t> </a:t>
            </a:r>
            <a:r>
              <a:rPr lang="en-US" dirty="0" err="1"/>
              <a:t>farklı</a:t>
            </a:r>
            <a:r>
              <a:rPr lang="en-US" dirty="0"/>
              <a:t> </a:t>
            </a:r>
            <a:r>
              <a:rPr lang="en-US" dirty="0" err="1"/>
              <a:t>bir</a:t>
            </a:r>
            <a:r>
              <a:rPr lang="en-US" dirty="0"/>
              <a:t> </a:t>
            </a:r>
            <a:r>
              <a:rPr lang="en-US" dirty="0" err="1"/>
              <a:t>işlevi</a:t>
            </a:r>
            <a:r>
              <a:rPr lang="en-US" dirty="0"/>
              <a:t> </a:t>
            </a:r>
            <a:r>
              <a:rPr lang="en-US" dirty="0" err="1"/>
              <a:t>yerine</a:t>
            </a:r>
            <a:r>
              <a:rPr lang="en-US" dirty="0"/>
              <a:t> </a:t>
            </a:r>
            <a:r>
              <a:rPr lang="en-US" dirty="0" err="1"/>
              <a:t>getirir</a:t>
            </a:r>
            <a:r>
              <a:rPr lang="en-US" dirty="0"/>
              <a:t>, </a:t>
            </a:r>
            <a:r>
              <a:rPr lang="en-US" dirty="0" err="1"/>
              <a:t>ancak</a:t>
            </a:r>
            <a:r>
              <a:rPr lang="en-US" dirty="0"/>
              <a:t> </a:t>
            </a:r>
            <a:r>
              <a:rPr lang="en-US" dirty="0" err="1"/>
              <a:t>tümü</a:t>
            </a:r>
            <a:r>
              <a:rPr lang="en-US" dirty="0"/>
              <a:t> </a:t>
            </a:r>
            <a:r>
              <a:rPr lang="en-US" dirty="0" err="1"/>
              <a:t>bir</a:t>
            </a:r>
            <a:r>
              <a:rPr lang="en-US" dirty="0"/>
              <a:t> </a:t>
            </a:r>
            <a:r>
              <a:rPr lang="en-US" dirty="0" err="1"/>
              <a:t>arada</a:t>
            </a:r>
            <a:r>
              <a:rPr lang="en-US" dirty="0"/>
              <a:t> </a:t>
            </a:r>
            <a:r>
              <a:rPr lang="en-US" dirty="0" err="1"/>
              <a:t>toplumsal</a:t>
            </a:r>
            <a:r>
              <a:rPr lang="en-US" dirty="0"/>
              <a:t> </a:t>
            </a:r>
            <a:r>
              <a:rPr lang="en-US" dirty="0" err="1"/>
              <a:t>dengeyi</a:t>
            </a:r>
            <a:r>
              <a:rPr lang="en-US" dirty="0"/>
              <a:t> </a:t>
            </a:r>
            <a:r>
              <a:rPr lang="en-US" dirty="0" err="1"/>
              <a:t>oluşturur</a:t>
            </a:r>
            <a:r>
              <a:rPr lang="en-US" dirty="0"/>
              <a:t>.</a:t>
            </a:r>
          </a:p>
          <a:p>
            <a:pPr marL="0" indent="0">
              <a:buNone/>
            </a:pPr>
            <a:br>
              <a:rPr lang="en-US" dirty="0"/>
            </a:br>
            <a:endParaRPr lang="en-US" dirty="0"/>
          </a:p>
          <a:p>
            <a:endParaRPr lang="en-US" dirty="0"/>
          </a:p>
        </p:txBody>
      </p:sp>
      <p:sp>
        <p:nvSpPr>
          <p:cNvPr id="4" name="Slide Number Placeholder 3">
            <a:extLst>
              <a:ext uri="{FF2B5EF4-FFF2-40B4-BE49-F238E27FC236}">
                <a16:creationId xmlns:a16="http://schemas.microsoft.com/office/drawing/2014/main" id="{CFC21F71-5E36-CA8A-ECD0-6E88ADB37559}"/>
              </a:ext>
            </a:extLst>
          </p:cNvPr>
          <p:cNvSpPr>
            <a:spLocks noGrp="1"/>
          </p:cNvSpPr>
          <p:nvPr>
            <p:ph type="sldNum" sz="quarter" idx="10"/>
          </p:nvPr>
        </p:nvSpPr>
        <p:spPr/>
        <p:txBody>
          <a:bodyPr/>
          <a:lstStyle/>
          <a:p>
            <a:fld id="{48F63A3B-78C7-47BE-AE5E-E10140E04643}" type="slidenum">
              <a:rPr lang="en-US" smtClean="0"/>
              <a:pPr/>
              <a:t>20</a:t>
            </a:fld>
            <a:endParaRPr lang="en-US" dirty="0"/>
          </a:p>
        </p:txBody>
      </p:sp>
    </p:spTree>
    <p:extLst>
      <p:ext uri="{BB962C8B-B14F-4D97-AF65-F5344CB8AC3E}">
        <p14:creationId xmlns:p14="http://schemas.microsoft.com/office/powerpoint/2010/main" val="20121632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9EDDF73-EB78-D8E2-7E8C-2B7387213F2B}"/>
              </a:ext>
            </a:extLst>
          </p:cNvPr>
          <p:cNvSpPr>
            <a:spLocks noGrp="1"/>
          </p:cNvSpPr>
          <p:nvPr>
            <p:ph type="sldNum" sz="quarter" idx="10"/>
          </p:nvPr>
        </p:nvSpPr>
        <p:spPr/>
        <p:txBody>
          <a:bodyPr/>
          <a:lstStyle/>
          <a:p>
            <a:fld id="{48F63A3B-78C7-47BE-AE5E-E10140E04643}" type="slidenum">
              <a:rPr lang="en-US" smtClean="0"/>
              <a:pPr/>
              <a:t>21</a:t>
            </a:fld>
            <a:endParaRPr lang="en-US" dirty="0"/>
          </a:p>
        </p:txBody>
      </p:sp>
      <p:pic>
        <p:nvPicPr>
          <p:cNvPr id="1026" name="Picture 2" descr="Sosyoloji - TOPLUMSAL KURUMLAR Nedir ? Özellikleri Nelerdir ?">
            <a:extLst>
              <a:ext uri="{FF2B5EF4-FFF2-40B4-BE49-F238E27FC236}">
                <a16:creationId xmlns:a16="http://schemas.microsoft.com/office/drawing/2014/main" id="{1E00742E-846E-0B10-9FF6-C107D1A628C3}"/>
              </a:ext>
            </a:extLst>
          </p:cNvPr>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2080727" y="1082351"/>
            <a:ext cx="7203232" cy="4553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27546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9A1373-DA96-7C12-F4A1-62FF74EC1EF4}"/>
              </a:ext>
            </a:extLst>
          </p:cNvPr>
          <p:cNvSpPr>
            <a:spLocks noGrp="1"/>
          </p:cNvSpPr>
          <p:nvPr>
            <p:ph sz="quarter" idx="4"/>
          </p:nvPr>
        </p:nvSpPr>
        <p:spPr>
          <a:xfrm>
            <a:off x="671804" y="457199"/>
            <a:ext cx="10754223" cy="6316825"/>
          </a:xfrm>
        </p:spPr>
        <p:txBody>
          <a:bodyPr>
            <a:normAutofit/>
          </a:bodyPr>
          <a:lstStyle/>
          <a:p>
            <a:pPr marL="0" indent="0">
              <a:buNone/>
            </a:pPr>
            <a:endParaRPr lang="tr-TR" sz="2600" b="1" dirty="0"/>
          </a:p>
          <a:p>
            <a:pPr marL="0" indent="0">
              <a:buNone/>
            </a:pPr>
            <a:r>
              <a:rPr lang="en-US" sz="2600" b="1" dirty="0" err="1"/>
              <a:t>Sosyal</a:t>
            </a:r>
            <a:r>
              <a:rPr lang="en-US" sz="2600" b="1" dirty="0"/>
              <a:t> </a:t>
            </a:r>
            <a:r>
              <a:rPr lang="en-US" sz="2600" b="1" dirty="0" err="1"/>
              <a:t>Yapının</a:t>
            </a:r>
            <a:r>
              <a:rPr lang="en-US" sz="2600" b="1" dirty="0"/>
              <a:t> </a:t>
            </a:r>
            <a:r>
              <a:rPr lang="en-US" sz="2600" b="1" dirty="0" err="1"/>
              <a:t>Unsurları</a:t>
            </a:r>
            <a:endParaRPr lang="en-US" sz="2600" b="1" dirty="0"/>
          </a:p>
          <a:p>
            <a:pPr marL="0" lvl="0" indent="0">
              <a:buNone/>
            </a:pPr>
            <a:r>
              <a:rPr lang="tr-TR" b="1" dirty="0"/>
              <a:t>1. </a:t>
            </a:r>
            <a:r>
              <a:rPr lang="en-US" b="1" dirty="0" err="1"/>
              <a:t>Statü</a:t>
            </a:r>
            <a:r>
              <a:rPr lang="en-US" b="1" dirty="0"/>
              <a:t> (</a:t>
            </a:r>
            <a:r>
              <a:rPr lang="en-US" b="1" dirty="0" err="1"/>
              <a:t>Toplumsal</a:t>
            </a:r>
            <a:r>
              <a:rPr lang="en-US" b="1" dirty="0"/>
              <a:t> </a:t>
            </a:r>
            <a:r>
              <a:rPr lang="en-US" b="1" dirty="0" err="1"/>
              <a:t>Konum</a:t>
            </a:r>
            <a:r>
              <a:rPr lang="en-US" b="1" dirty="0"/>
              <a:t>):</a:t>
            </a:r>
            <a:br>
              <a:rPr lang="en-US" dirty="0"/>
            </a:br>
            <a:r>
              <a:rPr lang="en-US" dirty="0" err="1"/>
              <a:t>Bireyin</a:t>
            </a:r>
            <a:r>
              <a:rPr lang="en-US" dirty="0"/>
              <a:t> </a:t>
            </a:r>
            <a:r>
              <a:rPr lang="en-US" dirty="0" err="1"/>
              <a:t>toplum</a:t>
            </a:r>
            <a:r>
              <a:rPr lang="en-US" dirty="0"/>
              <a:t> </a:t>
            </a:r>
            <a:r>
              <a:rPr lang="en-US" dirty="0" err="1"/>
              <a:t>içindeki</a:t>
            </a:r>
            <a:r>
              <a:rPr lang="en-US" dirty="0"/>
              <a:t> </a:t>
            </a:r>
            <a:r>
              <a:rPr lang="en-US" dirty="0" err="1"/>
              <a:t>yerini</a:t>
            </a:r>
            <a:r>
              <a:rPr lang="en-US" dirty="0"/>
              <a:t> </a:t>
            </a:r>
            <a:r>
              <a:rPr lang="en-US" dirty="0" err="1"/>
              <a:t>ifade</a:t>
            </a:r>
            <a:r>
              <a:rPr lang="en-US" dirty="0"/>
              <a:t> </a:t>
            </a:r>
            <a:r>
              <a:rPr lang="en-US" dirty="0" err="1"/>
              <a:t>eder</a:t>
            </a:r>
            <a:r>
              <a:rPr lang="en-US" dirty="0"/>
              <a:t>.</a:t>
            </a:r>
            <a:br>
              <a:rPr lang="en-US" dirty="0"/>
            </a:br>
            <a:r>
              <a:rPr lang="en-US" dirty="0" err="1"/>
              <a:t>Örneğin</a:t>
            </a:r>
            <a:r>
              <a:rPr lang="en-US" dirty="0"/>
              <a:t> “</a:t>
            </a:r>
            <a:r>
              <a:rPr lang="en-US" dirty="0" err="1"/>
              <a:t>öğretmen</a:t>
            </a:r>
            <a:r>
              <a:rPr lang="en-US" dirty="0"/>
              <a:t>”, “</a:t>
            </a:r>
            <a:r>
              <a:rPr lang="en-US" dirty="0" err="1"/>
              <a:t>anne</a:t>
            </a:r>
            <a:r>
              <a:rPr lang="en-US" dirty="0"/>
              <a:t>”, “</a:t>
            </a:r>
            <a:r>
              <a:rPr lang="en-US" dirty="0" err="1"/>
              <a:t>öğrenci</a:t>
            </a:r>
            <a:r>
              <a:rPr lang="en-US" dirty="0"/>
              <a:t>” </a:t>
            </a:r>
            <a:r>
              <a:rPr lang="en-US" dirty="0" err="1"/>
              <a:t>birer</a:t>
            </a:r>
            <a:r>
              <a:rPr lang="en-US" dirty="0"/>
              <a:t> </a:t>
            </a:r>
            <a:r>
              <a:rPr lang="en-US" dirty="0" err="1"/>
              <a:t>statüdür</a:t>
            </a:r>
            <a:r>
              <a:rPr lang="en-US" dirty="0"/>
              <a:t>.</a:t>
            </a:r>
            <a:br>
              <a:rPr lang="en-US" dirty="0"/>
            </a:br>
            <a:r>
              <a:rPr lang="en-US" dirty="0" err="1"/>
              <a:t>Statü</a:t>
            </a:r>
            <a:r>
              <a:rPr lang="en-US" dirty="0"/>
              <a:t> </a:t>
            </a:r>
            <a:r>
              <a:rPr lang="en-US" dirty="0" err="1"/>
              <a:t>doğuştan</a:t>
            </a:r>
            <a:r>
              <a:rPr lang="en-US" dirty="0"/>
              <a:t> (</a:t>
            </a:r>
            <a:r>
              <a:rPr lang="en-US" dirty="0" err="1"/>
              <a:t>örneğin</a:t>
            </a:r>
            <a:r>
              <a:rPr lang="en-US" dirty="0"/>
              <a:t> </a:t>
            </a:r>
            <a:r>
              <a:rPr lang="en-US" dirty="0" err="1"/>
              <a:t>cinsiyet</a:t>
            </a:r>
            <a:r>
              <a:rPr lang="en-US" dirty="0"/>
              <a:t>, </a:t>
            </a:r>
            <a:r>
              <a:rPr lang="en-US" dirty="0" err="1"/>
              <a:t>etnik</a:t>
            </a:r>
            <a:r>
              <a:rPr lang="en-US" dirty="0"/>
              <a:t> </a:t>
            </a:r>
            <a:r>
              <a:rPr lang="en-US" dirty="0" err="1"/>
              <a:t>köken</a:t>
            </a:r>
            <a:r>
              <a:rPr lang="en-US" dirty="0"/>
              <a:t>) </a:t>
            </a:r>
            <a:r>
              <a:rPr lang="en-US" dirty="0" err="1"/>
              <a:t>veya</a:t>
            </a:r>
            <a:r>
              <a:rPr lang="en-US" dirty="0"/>
              <a:t> </a:t>
            </a:r>
            <a:r>
              <a:rPr lang="en-US" dirty="0" err="1"/>
              <a:t>sonradan</a:t>
            </a:r>
            <a:r>
              <a:rPr lang="en-US" dirty="0"/>
              <a:t> (</a:t>
            </a:r>
            <a:r>
              <a:rPr lang="en-US" dirty="0" err="1"/>
              <a:t>örneğin</a:t>
            </a:r>
            <a:r>
              <a:rPr lang="en-US" dirty="0"/>
              <a:t> </a:t>
            </a:r>
            <a:r>
              <a:rPr lang="en-US" dirty="0" err="1"/>
              <a:t>meslek</a:t>
            </a:r>
            <a:r>
              <a:rPr lang="en-US" dirty="0"/>
              <a:t>, </a:t>
            </a:r>
            <a:r>
              <a:rPr lang="en-US" dirty="0" err="1"/>
              <a:t>eğitim</a:t>
            </a:r>
            <a:r>
              <a:rPr lang="en-US" dirty="0"/>
              <a:t>) </a:t>
            </a:r>
            <a:r>
              <a:rPr lang="en-US" dirty="0" err="1"/>
              <a:t>kazanılabilir</a:t>
            </a:r>
            <a:r>
              <a:rPr lang="en-US" dirty="0"/>
              <a:t>.</a:t>
            </a:r>
          </a:p>
          <a:p>
            <a:pPr marL="0" lvl="0" indent="0">
              <a:buNone/>
            </a:pPr>
            <a:r>
              <a:rPr lang="tr-TR" b="1" dirty="0"/>
              <a:t>2. </a:t>
            </a:r>
            <a:r>
              <a:rPr lang="en-US" b="1" dirty="0"/>
              <a:t>Rol:</a:t>
            </a:r>
            <a:br>
              <a:rPr lang="en-US" dirty="0"/>
            </a:br>
            <a:r>
              <a:rPr lang="en-US" dirty="0"/>
              <a:t>Her </a:t>
            </a:r>
            <a:r>
              <a:rPr lang="en-US" dirty="0" err="1"/>
              <a:t>statüye</a:t>
            </a:r>
            <a:r>
              <a:rPr lang="en-US" dirty="0"/>
              <a:t> </a:t>
            </a:r>
            <a:r>
              <a:rPr lang="en-US" dirty="0" err="1"/>
              <a:t>bağlı</a:t>
            </a:r>
            <a:r>
              <a:rPr lang="en-US" dirty="0"/>
              <a:t> </a:t>
            </a:r>
            <a:r>
              <a:rPr lang="en-US" dirty="0" err="1"/>
              <a:t>olarak</a:t>
            </a:r>
            <a:r>
              <a:rPr lang="en-US" dirty="0"/>
              <a:t> </a:t>
            </a:r>
            <a:r>
              <a:rPr lang="en-US" dirty="0" err="1"/>
              <a:t>bireyden</a:t>
            </a:r>
            <a:r>
              <a:rPr lang="en-US" dirty="0"/>
              <a:t> </a:t>
            </a:r>
            <a:r>
              <a:rPr lang="en-US" dirty="0" err="1"/>
              <a:t>beklenen</a:t>
            </a:r>
            <a:r>
              <a:rPr lang="en-US" dirty="0"/>
              <a:t> </a:t>
            </a:r>
            <a:r>
              <a:rPr lang="en-US" dirty="0" err="1"/>
              <a:t>davranışlar</a:t>
            </a:r>
            <a:r>
              <a:rPr lang="en-US" dirty="0"/>
              <a:t> </a:t>
            </a:r>
            <a:r>
              <a:rPr lang="en-US" dirty="0" err="1"/>
              <a:t>bütünüdür</a:t>
            </a:r>
            <a:r>
              <a:rPr lang="en-US" dirty="0"/>
              <a:t>.</a:t>
            </a:r>
            <a:br>
              <a:rPr lang="en-US" dirty="0"/>
            </a:br>
            <a:r>
              <a:rPr lang="en-US" dirty="0"/>
              <a:t>Bir </a:t>
            </a:r>
            <a:r>
              <a:rPr lang="en-US" dirty="0" err="1"/>
              <a:t>öğretmenin</a:t>
            </a:r>
            <a:r>
              <a:rPr lang="en-US" dirty="0"/>
              <a:t> </a:t>
            </a:r>
            <a:r>
              <a:rPr lang="en-US" dirty="0" err="1"/>
              <a:t>rolü</a:t>
            </a:r>
            <a:r>
              <a:rPr lang="en-US" dirty="0"/>
              <a:t>, </a:t>
            </a:r>
            <a:r>
              <a:rPr lang="en-US" dirty="0" err="1"/>
              <a:t>öğrencilere</a:t>
            </a:r>
            <a:r>
              <a:rPr lang="en-US" dirty="0"/>
              <a:t> </a:t>
            </a:r>
            <a:r>
              <a:rPr lang="en-US" dirty="0" err="1"/>
              <a:t>bilgi</a:t>
            </a:r>
            <a:r>
              <a:rPr lang="en-US" dirty="0"/>
              <a:t> </a:t>
            </a:r>
            <a:r>
              <a:rPr lang="en-US" dirty="0" err="1"/>
              <a:t>aktarmak</a:t>
            </a:r>
            <a:r>
              <a:rPr lang="en-US" dirty="0"/>
              <a:t>; </a:t>
            </a:r>
            <a:r>
              <a:rPr lang="en-US" dirty="0" err="1"/>
              <a:t>bir</a:t>
            </a:r>
            <a:r>
              <a:rPr lang="en-US" dirty="0"/>
              <a:t> </a:t>
            </a:r>
            <a:r>
              <a:rPr lang="en-US" dirty="0" err="1"/>
              <a:t>doktorun</a:t>
            </a:r>
            <a:r>
              <a:rPr lang="en-US" dirty="0"/>
              <a:t> </a:t>
            </a:r>
            <a:r>
              <a:rPr lang="en-US" dirty="0" err="1"/>
              <a:t>rolü</a:t>
            </a:r>
            <a:r>
              <a:rPr lang="en-US" dirty="0"/>
              <a:t>, </a:t>
            </a:r>
            <a:r>
              <a:rPr lang="en-US" dirty="0" err="1"/>
              <a:t>hastaları</a:t>
            </a:r>
            <a:r>
              <a:rPr lang="en-US" dirty="0"/>
              <a:t> </a:t>
            </a:r>
            <a:r>
              <a:rPr lang="en-US" dirty="0" err="1"/>
              <a:t>tedavi</a:t>
            </a:r>
            <a:r>
              <a:rPr lang="en-US" dirty="0"/>
              <a:t> </a:t>
            </a:r>
            <a:r>
              <a:rPr lang="en-US" dirty="0" err="1"/>
              <a:t>etmektir</a:t>
            </a:r>
            <a:r>
              <a:rPr lang="en-US" dirty="0"/>
              <a:t>.</a:t>
            </a:r>
          </a:p>
          <a:p>
            <a:pPr marL="0" lvl="0" indent="0">
              <a:buNone/>
            </a:pPr>
            <a:r>
              <a:rPr lang="tr-TR" b="1" dirty="0"/>
              <a:t>3. </a:t>
            </a:r>
            <a:r>
              <a:rPr lang="en-US" b="1" dirty="0"/>
              <a:t>Norm:</a:t>
            </a:r>
            <a:br>
              <a:rPr lang="en-US" dirty="0"/>
            </a:br>
            <a:r>
              <a:rPr lang="en-US" dirty="0" err="1"/>
              <a:t>Toplumun</a:t>
            </a:r>
            <a:r>
              <a:rPr lang="en-US" dirty="0"/>
              <a:t> </a:t>
            </a:r>
            <a:r>
              <a:rPr lang="en-US" dirty="0" err="1"/>
              <a:t>bireylerden</a:t>
            </a:r>
            <a:r>
              <a:rPr lang="en-US" dirty="0"/>
              <a:t> </a:t>
            </a:r>
            <a:r>
              <a:rPr lang="en-US" dirty="0" err="1"/>
              <a:t>beklediği</a:t>
            </a:r>
            <a:r>
              <a:rPr lang="en-US" dirty="0"/>
              <a:t> </a:t>
            </a:r>
            <a:r>
              <a:rPr lang="en-US" dirty="0" err="1"/>
              <a:t>davranış</a:t>
            </a:r>
            <a:r>
              <a:rPr lang="en-US" dirty="0"/>
              <a:t> </a:t>
            </a:r>
            <a:r>
              <a:rPr lang="en-US" dirty="0" err="1"/>
              <a:t>kalıplarıdır</a:t>
            </a:r>
            <a:r>
              <a:rPr lang="en-US" dirty="0"/>
              <a:t>.</a:t>
            </a:r>
            <a:br>
              <a:rPr lang="en-US" dirty="0"/>
            </a:br>
            <a:r>
              <a:rPr lang="en-US" dirty="0" err="1"/>
              <a:t>Normlar</a:t>
            </a:r>
            <a:r>
              <a:rPr lang="en-US" dirty="0"/>
              <a:t>, </a:t>
            </a:r>
            <a:r>
              <a:rPr lang="en-US" dirty="0" err="1"/>
              <a:t>toplumun</a:t>
            </a:r>
            <a:r>
              <a:rPr lang="en-US" dirty="0"/>
              <a:t> “</a:t>
            </a:r>
            <a:r>
              <a:rPr lang="en-US" dirty="0" err="1"/>
              <a:t>nasıl</a:t>
            </a:r>
            <a:r>
              <a:rPr lang="en-US" dirty="0"/>
              <a:t> </a:t>
            </a:r>
            <a:r>
              <a:rPr lang="en-US" dirty="0" err="1"/>
              <a:t>davranmalıyız</a:t>
            </a:r>
            <a:r>
              <a:rPr lang="en-US" dirty="0"/>
              <a:t>?” </a:t>
            </a:r>
            <a:r>
              <a:rPr lang="en-US" dirty="0" err="1"/>
              <a:t>sorusuna</a:t>
            </a:r>
            <a:r>
              <a:rPr lang="en-US" dirty="0"/>
              <a:t> </a:t>
            </a:r>
            <a:r>
              <a:rPr lang="en-US" dirty="0" err="1"/>
              <a:t>verdiği</a:t>
            </a:r>
            <a:r>
              <a:rPr lang="en-US" dirty="0"/>
              <a:t> </a:t>
            </a:r>
            <a:r>
              <a:rPr lang="en-US" dirty="0" err="1"/>
              <a:t>yanıttır</a:t>
            </a:r>
            <a:r>
              <a:rPr lang="en-US" dirty="0"/>
              <a:t>.</a:t>
            </a:r>
          </a:p>
          <a:p>
            <a:endParaRPr lang="en-US" dirty="0"/>
          </a:p>
        </p:txBody>
      </p:sp>
      <p:sp>
        <p:nvSpPr>
          <p:cNvPr id="4" name="Slide Number Placeholder 3">
            <a:extLst>
              <a:ext uri="{FF2B5EF4-FFF2-40B4-BE49-F238E27FC236}">
                <a16:creationId xmlns:a16="http://schemas.microsoft.com/office/drawing/2014/main" id="{F61C4461-585D-35FF-A36E-F82DA1C77E80}"/>
              </a:ext>
            </a:extLst>
          </p:cNvPr>
          <p:cNvSpPr>
            <a:spLocks noGrp="1"/>
          </p:cNvSpPr>
          <p:nvPr>
            <p:ph type="sldNum" sz="quarter" idx="10"/>
          </p:nvPr>
        </p:nvSpPr>
        <p:spPr/>
        <p:txBody>
          <a:bodyPr/>
          <a:lstStyle/>
          <a:p>
            <a:fld id="{48F63A3B-78C7-47BE-AE5E-E10140E04643}" type="slidenum">
              <a:rPr lang="en-US" smtClean="0"/>
              <a:pPr/>
              <a:t>22</a:t>
            </a:fld>
            <a:endParaRPr lang="en-US" dirty="0"/>
          </a:p>
        </p:txBody>
      </p:sp>
    </p:spTree>
    <p:extLst>
      <p:ext uri="{BB962C8B-B14F-4D97-AF65-F5344CB8AC3E}">
        <p14:creationId xmlns:p14="http://schemas.microsoft.com/office/powerpoint/2010/main" val="41073817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5E290E-800D-BFB8-1C10-B4CE779EEB0C}"/>
              </a:ext>
            </a:extLst>
          </p:cNvPr>
          <p:cNvSpPr>
            <a:spLocks noGrp="1"/>
          </p:cNvSpPr>
          <p:nvPr>
            <p:ph sz="quarter" idx="4"/>
          </p:nvPr>
        </p:nvSpPr>
        <p:spPr>
          <a:xfrm>
            <a:off x="774441" y="1159071"/>
            <a:ext cx="10511627" cy="3948557"/>
          </a:xfrm>
        </p:spPr>
        <p:txBody>
          <a:bodyPr/>
          <a:lstStyle/>
          <a:p>
            <a:pPr marL="0" lvl="0" indent="0">
              <a:buNone/>
            </a:pPr>
            <a:r>
              <a:rPr lang="tr-TR" b="1" dirty="0"/>
              <a:t>4. </a:t>
            </a:r>
            <a:r>
              <a:rPr lang="en-US" b="1" dirty="0"/>
              <a:t>Değer:</a:t>
            </a:r>
            <a:br>
              <a:rPr lang="en-US" dirty="0"/>
            </a:br>
            <a:r>
              <a:rPr lang="en-US" dirty="0" err="1"/>
              <a:t>Toplumun</a:t>
            </a:r>
            <a:r>
              <a:rPr lang="en-US" dirty="0"/>
              <a:t> </a:t>
            </a:r>
            <a:r>
              <a:rPr lang="en-US" dirty="0" err="1"/>
              <a:t>önemli</a:t>
            </a:r>
            <a:r>
              <a:rPr lang="en-US" dirty="0"/>
              <a:t> </a:t>
            </a:r>
            <a:r>
              <a:rPr lang="en-US" dirty="0" err="1"/>
              <a:t>gördüğü</a:t>
            </a:r>
            <a:r>
              <a:rPr lang="en-US" dirty="0"/>
              <a:t>, </a:t>
            </a:r>
            <a:r>
              <a:rPr lang="en-US" dirty="0" err="1"/>
              <a:t>davranışları</a:t>
            </a:r>
            <a:r>
              <a:rPr lang="en-US" dirty="0"/>
              <a:t> </a:t>
            </a:r>
            <a:r>
              <a:rPr lang="en-US" dirty="0" err="1"/>
              <a:t>yönlendiren</a:t>
            </a:r>
            <a:r>
              <a:rPr lang="en-US" dirty="0"/>
              <a:t> </a:t>
            </a:r>
            <a:r>
              <a:rPr lang="en-US" dirty="0" err="1"/>
              <a:t>inançlardır</a:t>
            </a:r>
            <a:r>
              <a:rPr lang="en-US" dirty="0"/>
              <a:t>.</a:t>
            </a:r>
            <a:br>
              <a:rPr lang="en-US" dirty="0"/>
            </a:br>
            <a:r>
              <a:rPr lang="en-US" dirty="0" err="1"/>
              <a:t>Örneğin</a:t>
            </a:r>
            <a:r>
              <a:rPr lang="en-US" dirty="0"/>
              <a:t> </a:t>
            </a:r>
            <a:r>
              <a:rPr lang="en-US" dirty="0" err="1"/>
              <a:t>adalet</a:t>
            </a:r>
            <a:r>
              <a:rPr lang="en-US" dirty="0"/>
              <a:t>, </a:t>
            </a:r>
            <a:r>
              <a:rPr lang="en-US" dirty="0" err="1"/>
              <a:t>saygı</a:t>
            </a:r>
            <a:r>
              <a:rPr lang="en-US" dirty="0"/>
              <a:t>, </a:t>
            </a:r>
            <a:r>
              <a:rPr lang="en-US" dirty="0" err="1"/>
              <a:t>dürüstlük</a:t>
            </a:r>
            <a:r>
              <a:rPr lang="en-US" dirty="0"/>
              <a:t> </a:t>
            </a:r>
            <a:r>
              <a:rPr lang="en-US" dirty="0" err="1"/>
              <a:t>birer</a:t>
            </a:r>
            <a:r>
              <a:rPr lang="en-US" dirty="0"/>
              <a:t> </a:t>
            </a:r>
            <a:r>
              <a:rPr lang="en-US" dirty="0" err="1"/>
              <a:t>değerdir</a:t>
            </a:r>
            <a:r>
              <a:rPr lang="en-US" dirty="0"/>
              <a:t>.</a:t>
            </a:r>
          </a:p>
          <a:p>
            <a:pPr marL="0" lvl="0" indent="0">
              <a:buNone/>
            </a:pPr>
            <a:r>
              <a:rPr lang="tr-TR" b="1" dirty="0"/>
              <a:t>5. </a:t>
            </a:r>
            <a:r>
              <a:rPr lang="en-US" b="1" dirty="0" err="1"/>
              <a:t>Kurum</a:t>
            </a:r>
            <a:r>
              <a:rPr lang="en-US" b="1" dirty="0"/>
              <a:t>:</a:t>
            </a:r>
            <a:br>
              <a:rPr lang="en-US" dirty="0"/>
            </a:br>
            <a:r>
              <a:rPr lang="en-US" dirty="0" err="1"/>
              <a:t>Toplumun</a:t>
            </a:r>
            <a:r>
              <a:rPr lang="en-US" dirty="0"/>
              <a:t> </a:t>
            </a:r>
            <a:r>
              <a:rPr lang="en-US" dirty="0" err="1"/>
              <a:t>temel</a:t>
            </a:r>
            <a:r>
              <a:rPr lang="en-US" dirty="0"/>
              <a:t> </a:t>
            </a:r>
            <a:r>
              <a:rPr lang="en-US" dirty="0" err="1"/>
              <a:t>ihtiyaçlarını</a:t>
            </a:r>
            <a:r>
              <a:rPr lang="en-US" dirty="0"/>
              <a:t> </a:t>
            </a:r>
            <a:r>
              <a:rPr lang="en-US" dirty="0" err="1"/>
              <a:t>karşılayan</a:t>
            </a:r>
            <a:r>
              <a:rPr lang="en-US" dirty="0"/>
              <a:t> </a:t>
            </a:r>
            <a:r>
              <a:rPr lang="en-US" dirty="0" err="1"/>
              <a:t>örgütlenmiş</a:t>
            </a:r>
            <a:r>
              <a:rPr lang="en-US" dirty="0"/>
              <a:t> </a:t>
            </a:r>
            <a:r>
              <a:rPr lang="en-US" dirty="0" err="1"/>
              <a:t>yapılardır</a:t>
            </a:r>
            <a:r>
              <a:rPr lang="en-US" dirty="0"/>
              <a:t> (</a:t>
            </a:r>
            <a:r>
              <a:rPr lang="en-US" dirty="0" err="1"/>
              <a:t>aile</a:t>
            </a:r>
            <a:r>
              <a:rPr lang="en-US" dirty="0"/>
              <a:t>, </a:t>
            </a:r>
            <a:r>
              <a:rPr lang="en-US" dirty="0" err="1"/>
              <a:t>eğitim</a:t>
            </a:r>
            <a:r>
              <a:rPr lang="en-US" dirty="0"/>
              <a:t>, </a:t>
            </a:r>
            <a:r>
              <a:rPr lang="en-US" dirty="0" err="1"/>
              <a:t>ekonomi</a:t>
            </a:r>
            <a:r>
              <a:rPr lang="en-US" dirty="0"/>
              <a:t>, </a:t>
            </a:r>
            <a:r>
              <a:rPr lang="en-US" dirty="0" err="1"/>
              <a:t>siyaset</a:t>
            </a:r>
            <a:r>
              <a:rPr lang="en-US" dirty="0"/>
              <a:t>, din).</a:t>
            </a:r>
          </a:p>
          <a:p>
            <a:pPr marL="0" lvl="0" indent="0">
              <a:buNone/>
            </a:pPr>
            <a:r>
              <a:rPr lang="tr-TR" b="1" dirty="0"/>
              <a:t>6. </a:t>
            </a:r>
            <a:r>
              <a:rPr lang="en-US" b="1" dirty="0" err="1"/>
              <a:t>Toplumsal</a:t>
            </a:r>
            <a:r>
              <a:rPr lang="en-US" b="1" dirty="0"/>
              <a:t> </a:t>
            </a:r>
            <a:r>
              <a:rPr lang="en-US" b="1" dirty="0" err="1"/>
              <a:t>İlişkiler</a:t>
            </a:r>
            <a:r>
              <a:rPr lang="en-US" b="1" dirty="0"/>
              <a:t>:</a:t>
            </a:r>
            <a:br>
              <a:rPr lang="en-US" dirty="0"/>
            </a:br>
            <a:r>
              <a:rPr lang="en-US" dirty="0" err="1"/>
              <a:t>İnsanlar</a:t>
            </a:r>
            <a:r>
              <a:rPr lang="en-US" dirty="0"/>
              <a:t> </a:t>
            </a:r>
            <a:r>
              <a:rPr lang="en-US" dirty="0" err="1"/>
              <a:t>arası</a:t>
            </a:r>
            <a:r>
              <a:rPr lang="en-US" dirty="0"/>
              <a:t> </a:t>
            </a:r>
            <a:r>
              <a:rPr lang="en-US" dirty="0" err="1"/>
              <a:t>etkileşim</a:t>
            </a:r>
            <a:r>
              <a:rPr lang="en-US" dirty="0"/>
              <a:t> </a:t>
            </a:r>
            <a:r>
              <a:rPr lang="en-US" dirty="0" err="1"/>
              <a:t>biçimleridir</a:t>
            </a:r>
            <a:r>
              <a:rPr lang="en-US" dirty="0"/>
              <a:t>.</a:t>
            </a:r>
            <a:br>
              <a:rPr lang="en-US" dirty="0"/>
            </a:br>
            <a:r>
              <a:rPr lang="en-US" dirty="0"/>
              <a:t>Bu </a:t>
            </a:r>
            <a:r>
              <a:rPr lang="en-US" dirty="0" err="1"/>
              <a:t>ilişkiler</a:t>
            </a:r>
            <a:r>
              <a:rPr lang="en-US" dirty="0"/>
              <a:t>, </a:t>
            </a:r>
            <a:r>
              <a:rPr lang="en-US" dirty="0" err="1"/>
              <a:t>bireylerin</a:t>
            </a:r>
            <a:r>
              <a:rPr lang="en-US" dirty="0"/>
              <a:t> </a:t>
            </a:r>
            <a:r>
              <a:rPr lang="en-US" dirty="0" err="1"/>
              <a:t>rollerine</a:t>
            </a:r>
            <a:r>
              <a:rPr lang="en-US" dirty="0"/>
              <a:t>, </a:t>
            </a:r>
            <a:r>
              <a:rPr lang="en-US" dirty="0" err="1"/>
              <a:t>statülerine</a:t>
            </a:r>
            <a:r>
              <a:rPr lang="en-US" dirty="0"/>
              <a:t> </a:t>
            </a:r>
            <a:r>
              <a:rPr lang="en-US" dirty="0" err="1"/>
              <a:t>ve</a:t>
            </a:r>
            <a:r>
              <a:rPr lang="en-US" dirty="0"/>
              <a:t> </a:t>
            </a:r>
            <a:r>
              <a:rPr lang="en-US" dirty="0" err="1"/>
              <a:t>değer</a:t>
            </a:r>
            <a:r>
              <a:rPr lang="en-US" dirty="0"/>
              <a:t> </a:t>
            </a:r>
            <a:r>
              <a:rPr lang="en-US" dirty="0" err="1"/>
              <a:t>sistemine</a:t>
            </a:r>
            <a:r>
              <a:rPr lang="en-US" dirty="0"/>
              <a:t> </a:t>
            </a:r>
            <a:r>
              <a:rPr lang="en-US" dirty="0" err="1"/>
              <a:t>göre</a:t>
            </a:r>
            <a:r>
              <a:rPr lang="en-US" dirty="0"/>
              <a:t> </a:t>
            </a:r>
            <a:r>
              <a:rPr lang="en-US" dirty="0" err="1"/>
              <a:t>şekillenir</a:t>
            </a:r>
            <a:r>
              <a:rPr lang="en-US" dirty="0"/>
              <a:t>.</a:t>
            </a:r>
          </a:p>
          <a:p>
            <a:endParaRPr lang="en-US" dirty="0"/>
          </a:p>
        </p:txBody>
      </p:sp>
      <p:sp>
        <p:nvSpPr>
          <p:cNvPr id="4" name="Slide Number Placeholder 3">
            <a:extLst>
              <a:ext uri="{FF2B5EF4-FFF2-40B4-BE49-F238E27FC236}">
                <a16:creationId xmlns:a16="http://schemas.microsoft.com/office/drawing/2014/main" id="{CDDE62BF-00AC-0269-27A9-7E40B5A267E5}"/>
              </a:ext>
            </a:extLst>
          </p:cNvPr>
          <p:cNvSpPr>
            <a:spLocks noGrp="1"/>
          </p:cNvSpPr>
          <p:nvPr>
            <p:ph type="sldNum" sz="quarter" idx="10"/>
          </p:nvPr>
        </p:nvSpPr>
        <p:spPr/>
        <p:txBody>
          <a:bodyPr/>
          <a:lstStyle/>
          <a:p>
            <a:fld id="{48F63A3B-78C7-47BE-AE5E-E10140E04643}" type="slidenum">
              <a:rPr lang="en-US" smtClean="0"/>
              <a:pPr/>
              <a:t>23</a:t>
            </a:fld>
            <a:endParaRPr lang="en-US" dirty="0"/>
          </a:p>
        </p:txBody>
      </p:sp>
    </p:spTree>
    <p:extLst>
      <p:ext uri="{BB962C8B-B14F-4D97-AF65-F5344CB8AC3E}">
        <p14:creationId xmlns:p14="http://schemas.microsoft.com/office/powerpoint/2010/main" val="38132954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95B035D-54E6-581C-6FE0-F266534DB12B}"/>
              </a:ext>
            </a:extLst>
          </p:cNvPr>
          <p:cNvPicPr>
            <a:picLocks noGrp="1" noChangeAspect="1"/>
          </p:cNvPicPr>
          <p:nvPr>
            <p:ph sz="quarter" idx="4"/>
          </p:nvPr>
        </p:nvPicPr>
        <p:blipFill>
          <a:blip r:embed="rId2"/>
          <a:stretch>
            <a:fillRect/>
          </a:stretch>
        </p:blipFill>
        <p:spPr>
          <a:xfrm>
            <a:off x="1836575" y="1045028"/>
            <a:ext cx="8518849" cy="4767943"/>
          </a:xfrm>
          <a:prstGeom prst="rect">
            <a:avLst/>
          </a:prstGeom>
        </p:spPr>
      </p:pic>
      <p:sp>
        <p:nvSpPr>
          <p:cNvPr id="4" name="Slide Number Placeholder 3">
            <a:extLst>
              <a:ext uri="{FF2B5EF4-FFF2-40B4-BE49-F238E27FC236}">
                <a16:creationId xmlns:a16="http://schemas.microsoft.com/office/drawing/2014/main" id="{8320A965-4F40-0F85-9BD7-851EA81B300B}"/>
              </a:ext>
            </a:extLst>
          </p:cNvPr>
          <p:cNvSpPr>
            <a:spLocks noGrp="1"/>
          </p:cNvSpPr>
          <p:nvPr>
            <p:ph type="sldNum" sz="quarter" idx="10"/>
          </p:nvPr>
        </p:nvSpPr>
        <p:spPr/>
        <p:txBody>
          <a:bodyPr/>
          <a:lstStyle/>
          <a:p>
            <a:fld id="{48F63A3B-78C7-47BE-AE5E-E10140E04643}" type="slidenum">
              <a:rPr lang="en-US" smtClean="0"/>
              <a:pPr/>
              <a:t>24</a:t>
            </a:fld>
            <a:endParaRPr lang="en-US" dirty="0"/>
          </a:p>
        </p:txBody>
      </p:sp>
    </p:spTree>
    <p:extLst>
      <p:ext uri="{BB962C8B-B14F-4D97-AF65-F5344CB8AC3E}">
        <p14:creationId xmlns:p14="http://schemas.microsoft.com/office/powerpoint/2010/main" val="4670891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16EF64-0EFD-1B1D-359D-D27E52C1B156}"/>
              </a:ext>
            </a:extLst>
          </p:cNvPr>
          <p:cNvSpPr>
            <a:spLocks noGrp="1"/>
          </p:cNvSpPr>
          <p:nvPr>
            <p:ph sz="quarter" idx="4"/>
          </p:nvPr>
        </p:nvSpPr>
        <p:spPr>
          <a:xfrm>
            <a:off x="914400" y="849087"/>
            <a:ext cx="10511627" cy="5415538"/>
          </a:xfrm>
        </p:spPr>
        <p:txBody>
          <a:bodyPr>
            <a:normAutofit fontScale="85000" lnSpcReduction="20000"/>
          </a:bodyPr>
          <a:lstStyle/>
          <a:p>
            <a:pPr marL="0" indent="0">
              <a:buNone/>
            </a:pPr>
            <a:r>
              <a:rPr lang="tr-TR" b="1" dirty="0"/>
              <a:t> </a:t>
            </a:r>
            <a:r>
              <a:rPr lang="en-US" sz="2400" b="1" dirty="0" err="1"/>
              <a:t>Sosyal</a:t>
            </a:r>
            <a:r>
              <a:rPr lang="en-US" sz="2400" b="1" dirty="0"/>
              <a:t> </a:t>
            </a:r>
            <a:r>
              <a:rPr lang="en-US" sz="2400" b="1" dirty="0" err="1"/>
              <a:t>Yapı</a:t>
            </a:r>
            <a:r>
              <a:rPr lang="en-US" sz="2400" b="1" dirty="0"/>
              <a:t> </a:t>
            </a:r>
            <a:r>
              <a:rPr lang="en-US" sz="2400" b="1" dirty="0" err="1"/>
              <a:t>Türleri</a:t>
            </a:r>
            <a:endParaRPr lang="en-US" sz="2400" b="1" dirty="0"/>
          </a:p>
          <a:p>
            <a:pPr marL="0" indent="0">
              <a:buNone/>
            </a:pPr>
            <a:endParaRPr lang="tr-TR" sz="2000" b="1" dirty="0"/>
          </a:p>
          <a:p>
            <a:pPr marL="0" indent="0">
              <a:buNone/>
            </a:pPr>
            <a:r>
              <a:rPr lang="en-US" sz="2000" b="1" dirty="0" err="1"/>
              <a:t>Sosyolojik</a:t>
            </a:r>
            <a:r>
              <a:rPr lang="en-US" sz="2000" b="1" dirty="0"/>
              <a:t> </a:t>
            </a:r>
            <a:r>
              <a:rPr lang="en-US" sz="2000" b="1" dirty="0" err="1"/>
              <a:t>literatürde</a:t>
            </a:r>
            <a:r>
              <a:rPr lang="en-US" sz="2000" b="1" dirty="0"/>
              <a:t> </a:t>
            </a:r>
            <a:r>
              <a:rPr lang="en-US" sz="2000" b="1" dirty="0" err="1"/>
              <a:t>sosyal</a:t>
            </a:r>
            <a:r>
              <a:rPr lang="en-US" sz="2000" b="1" dirty="0"/>
              <a:t> </a:t>
            </a:r>
            <a:r>
              <a:rPr lang="en-US" sz="2000" b="1" dirty="0" err="1"/>
              <a:t>yapı</a:t>
            </a:r>
            <a:r>
              <a:rPr lang="en-US" sz="2000" b="1" dirty="0"/>
              <a:t> </a:t>
            </a:r>
            <a:r>
              <a:rPr lang="en-US" sz="2000" b="1" dirty="0" err="1"/>
              <a:t>genellikle</a:t>
            </a:r>
            <a:r>
              <a:rPr lang="en-US" sz="2000" b="1" dirty="0"/>
              <a:t> </a:t>
            </a:r>
            <a:r>
              <a:rPr lang="en-US" sz="2000" b="1" dirty="0" err="1"/>
              <a:t>iki</a:t>
            </a:r>
            <a:r>
              <a:rPr lang="en-US" sz="2000" b="1" dirty="0"/>
              <a:t> </a:t>
            </a:r>
            <a:r>
              <a:rPr lang="en-US" sz="2000" b="1" dirty="0" err="1"/>
              <a:t>biçimde</a:t>
            </a:r>
            <a:r>
              <a:rPr lang="en-US" sz="2000" b="1" dirty="0"/>
              <a:t> </a:t>
            </a:r>
            <a:r>
              <a:rPr lang="en-US" sz="2000" b="1" dirty="0" err="1"/>
              <a:t>değerlendirilir</a:t>
            </a:r>
            <a:r>
              <a:rPr lang="en-US" sz="2000" b="1" dirty="0"/>
              <a:t>:</a:t>
            </a:r>
            <a:endParaRPr lang="tr-TR" sz="2000" b="1" dirty="0"/>
          </a:p>
          <a:p>
            <a:pPr marL="0" indent="0">
              <a:buNone/>
            </a:pPr>
            <a:endParaRPr lang="en-US" sz="2000" b="1" dirty="0"/>
          </a:p>
          <a:p>
            <a:pPr marL="0" indent="0">
              <a:buNone/>
            </a:pPr>
            <a:r>
              <a:rPr lang="en-US" sz="1900" b="1" dirty="0"/>
              <a:t>A. </a:t>
            </a:r>
            <a:r>
              <a:rPr lang="en-US" sz="1900" b="1" dirty="0" err="1"/>
              <a:t>Mekanik</a:t>
            </a:r>
            <a:r>
              <a:rPr lang="en-US" sz="1900" b="1" dirty="0"/>
              <a:t> </a:t>
            </a:r>
            <a:r>
              <a:rPr lang="en-US" sz="1900" b="1" dirty="0" err="1"/>
              <a:t>Yapı</a:t>
            </a:r>
            <a:r>
              <a:rPr lang="en-US" sz="1900" b="1" dirty="0"/>
              <a:t> (</a:t>
            </a:r>
            <a:r>
              <a:rPr lang="en-US" sz="1900" b="1" dirty="0" err="1"/>
              <a:t>Geleneksel</a:t>
            </a:r>
            <a:r>
              <a:rPr lang="en-US" sz="1900" b="1" dirty="0"/>
              <a:t> </a:t>
            </a:r>
            <a:r>
              <a:rPr lang="en-US" sz="1900" b="1" dirty="0" err="1"/>
              <a:t>Toplumlarda</a:t>
            </a:r>
            <a:r>
              <a:rPr lang="en-US" sz="1900" b="1" dirty="0"/>
              <a:t>)</a:t>
            </a:r>
          </a:p>
          <a:p>
            <a:pPr marL="0" lvl="0" indent="0">
              <a:buNone/>
            </a:pPr>
            <a:r>
              <a:rPr lang="en-US" dirty="0" err="1"/>
              <a:t>Dayanışma</a:t>
            </a:r>
            <a:r>
              <a:rPr lang="en-US" dirty="0"/>
              <a:t>, </a:t>
            </a:r>
            <a:r>
              <a:rPr lang="en-US" dirty="0" err="1"/>
              <a:t>ortak</a:t>
            </a:r>
            <a:r>
              <a:rPr lang="en-US" dirty="0"/>
              <a:t> </a:t>
            </a:r>
            <a:r>
              <a:rPr lang="en-US" dirty="0" err="1"/>
              <a:t>inanç</a:t>
            </a:r>
            <a:r>
              <a:rPr lang="en-US" dirty="0"/>
              <a:t> </a:t>
            </a:r>
            <a:r>
              <a:rPr lang="en-US" dirty="0" err="1"/>
              <a:t>ve</a:t>
            </a:r>
            <a:r>
              <a:rPr lang="en-US" dirty="0"/>
              <a:t> </a:t>
            </a:r>
            <a:r>
              <a:rPr lang="en-US" dirty="0" err="1"/>
              <a:t>değerler</a:t>
            </a:r>
            <a:r>
              <a:rPr lang="en-US" dirty="0"/>
              <a:t> </a:t>
            </a:r>
            <a:r>
              <a:rPr lang="en-US" dirty="0" err="1"/>
              <a:t>etrafında</a:t>
            </a:r>
            <a:r>
              <a:rPr lang="en-US" dirty="0"/>
              <a:t> </a:t>
            </a:r>
            <a:r>
              <a:rPr lang="en-US" dirty="0" err="1"/>
              <a:t>kurulur</a:t>
            </a:r>
            <a:r>
              <a:rPr lang="en-US" dirty="0"/>
              <a:t>.</a:t>
            </a:r>
          </a:p>
          <a:p>
            <a:pPr marL="0" lvl="0" indent="0">
              <a:buNone/>
            </a:pPr>
            <a:r>
              <a:rPr lang="en-US" dirty="0" err="1"/>
              <a:t>Bireyler</a:t>
            </a:r>
            <a:r>
              <a:rPr lang="en-US" dirty="0"/>
              <a:t> </a:t>
            </a:r>
            <a:r>
              <a:rPr lang="en-US" dirty="0" err="1"/>
              <a:t>birbirine</a:t>
            </a:r>
            <a:r>
              <a:rPr lang="en-US" dirty="0"/>
              <a:t> </a:t>
            </a:r>
            <a:r>
              <a:rPr lang="en-US" dirty="0" err="1"/>
              <a:t>benzer</a:t>
            </a:r>
            <a:r>
              <a:rPr lang="en-US" dirty="0"/>
              <a:t> </a:t>
            </a:r>
            <a:r>
              <a:rPr lang="en-US" dirty="0" err="1"/>
              <a:t>rollere</a:t>
            </a:r>
            <a:r>
              <a:rPr lang="en-US" dirty="0"/>
              <a:t> </a:t>
            </a:r>
            <a:r>
              <a:rPr lang="en-US" dirty="0" err="1"/>
              <a:t>sahiptir</a:t>
            </a:r>
            <a:r>
              <a:rPr lang="en-US" dirty="0"/>
              <a:t>.</a:t>
            </a:r>
          </a:p>
          <a:p>
            <a:pPr marL="0" lvl="0" indent="0">
              <a:buNone/>
            </a:pPr>
            <a:r>
              <a:rPr lang="en-US" dirty="0"/>
              <a:t>Durkheim </a:t>
            </a:r>
            <a:r>
              <a:rPr lang="en-US" dirty="0" err="1"/>
              <a:t>bu</a:t>
            </a:r>
            <a:r>
              <a:rPr lang="en-US" dirty="0"/>
              <a:t> </a:t>
            </a:r>
            <a:r>
              <a:rPr lang="en-US" dirty="0" err="1"/>
              <a:t>yapıya</a:t>
            </a:r>
            <a:r>
              <a:rPr lang="en-US" dirty="0"/>
              <a:t> “</a:t>
            </a:r>
            <a:r>
              <a:rPr lang="en-US" dirty="0" err="1"/>
              <a:t>mekanik</a:t>
            </a:r>
            <a:r>
              <a:rPr lang="en-US" dirty="0"/>
              <a:t> </a:t>
            </a:r>
            <a:r>
              <a:rPr lang="en-US" dirty="0" err="1"/>
              <a:t>dayanışma</a:t>
            </a:r>
            <a:r>
              <a:rPr lang="en-US" dirty="0"/>
              <a:t>” der.</a:t>
            </a:r>
            <a:endParaRPr lang="tr-TR" dirty="0"/>
          </a:p>
          <a:p>
            <a:pPr marL="0" lvl="0" indent="0">
              <a:buNone/>
            </a:pPr>
            <a:r>
              <a:rPr lang="en-US" b="1" dirty="0"/>
              <a:t>Örnek:</a:t>
            </a:r>
            <a:r>
              <a:rPr lang="en-US" dirty="0"/>
              <a:t> </a:t>
            </a:r>
            <a:r>
              <a:rPr lang="en-US" dirty="0" err="1"/>
              <a:t>Küçük</a:t>
            </a:r>
            <a:r>
              <a:rPr lang="en-US" dirty="0"/>
              <a:t> </a:t>
            </a:r>
            <a:r>
              <a:rPr lang="en-US" dirty="0" err="1"/>
              <a:t>köy</a:t>
            </a:r>
            <a:r>
              <a:rPr lang="en-US" dirty="0"/>
              <a:t> </a:t>
            </a:r>
            <a:r>
              <a:rPr lang="en-US" dirty="0" err="1"/>
              <a:t>toplulukları</a:t>
            </a:r>
            <a:r>
              <a:rPr lang="en-US" dirty="0"/>
              <a:t>, </a:t>
            </a:r>
            <a:r>
              <a:rPr lang="en-US" dirty="0" err="1"/>
              <a:t>akrabalık</a:t>
            </a:r>
            <a:r>
              <a:rPr lang="en-US" dirty="0"/>
              <a:t> </a:t>
            </a:r>
            <a:r>
              <a:rPr lang="en-US" dirty="0" err="1"/>
              <a:t>bağlarının</a:t>
            </a:r>
            <a:r>
              <a:rPr lang="en-US" dirty="0"/>
              <a:t> </a:t>
            </a:r>
            <a:r>
              <a:rPr lang="en-US" dirty="0" err="1"/>
              <a:t>güçlü</a:t>
            </a:r>
            <a:r>
              <a:rPr lang="en-US" dirty="0"/>
              <a:t> </a:t>
            </a:r>
            <a:r>
              <a:rPr lang="en-US" dirty="0" err="1"/>
              <a:t>olduğu</a:t>
            </a:r>
            <a:r>
              <a:rPr lang="en-US" dirty="0"/>
              <a:t> </a:t>
            </a:r>
            <a:r>
              <a:rPr lang="en-US" dirty="0" err="1"/>
              <a:t>toplumlar</a:t>
            </a:r>
            <a:r>
              <a:rPr lang="en-US" dirty="0"/>
              <a:t>.</a:t>
            </a:r>
          </a:p>
          <a:p>
            <a:pPr marL="0" indent="0">
              <a:buNone/>
            </a:pPr>
            <a:endParaRPr lang="tr-TR" b="1" dirty="0"/>
          </a:p>
          <a:p>
            <a:pPr marL="0" indent="0">
              <a:buNone/>
            </a:pPr>
            <a:r>
              <a:rPr lang="en-US" sz="1900" b="1" dirty="0"/>
              <a:t>B. </a:t>
            </a:r>
            <a:r>
              <a:rPr lang="en-US" sz="1900" b="1" dirty="0" err="1"/>
              <a:t>Organik</a:t>
            </a:r>
            <a:r>
              <a:rPr lang="en-US" sz="1900" b="1" dirty="0"/>
              <a:t> </a:t>
            </a:r>
            <a:r>
              <a:rPr lang="en-US" sz="1900" b="1" dirty="0" err="1"/>
              <a:t>Yapı</a:t>
            </a:r>
            <a:r>
              <a:rPr lang="en-US" sz="1900" b="1" dirty="0"/>
              <a:t> (Modern </a:t>
            </a:r>
            <a:r>
              <a:rPr lang="en-US" sz="1900" b="1" dirty="0" err="1"/>
              <a:t>Toplumlarda</a:t>
            </a:r>
            <a:r>
              <a:rPr lang="en-US" sz="1900" b="1" dirty="0"/>
              <a:t>)</a:t>
            </a:r>
            <a:endParaRPr lang="en-US" sz="1900" dirty="0"/>
          </a:p>
          <a:p>
            <a:pPr marL="0" lvl="0" indent="0">
              <a:buNone/>
            </a:pPr>
            <a:r>
              <a:rPr lang="en-US" dirty="0" err="1"/>
              <a:t>İş</a:t>
            </a:r>
            <a:r>
              <a:rPr lang="en-US" dirty="0"/>
              <a:t> </a:t>
            </a:r>
            <a:r>
              <a:rPr lang="en-US" dirty="0" err="1"/>
              <a:t>bölümü</a:t>
            </a:r>
            <a:r>
              <a:rPr lang="en-US" dirty="0"/>
              <a:t> </a:t>
            </a:r>
            <a:r>
              <a:rPr lang="en-US" dirty="0" err="1"/>
              <a:t>gelişmiştir</a:t>
            </a:r>
            <a:r>
              <a:rPr lang="en-US" dirty="0"/>
              <a:t>; </a:t>
            </a:r>
            <a:r>
              <a:rPr lang="en-US" dirty="0" err="1"/>
              <a:t>bireyler</a:t>
            </a:r>
            <a:r>
              <a:rPr lang="en-US" dirty="0"/>
              <a:t> </a:t>
            </a:r>
            <a:r>
              <a:rPr lang="en-US" dirty="0" err="1"/>
              <a:t>farklı</a:t>
            </a:r>
            <a:r>
              <a:rPr lang="en-US" dirty="0"/>
              <a:t> </a:t>
            </a:r>
            <a:r>
              <a:rPr lang="en-US" dirty="0" err="1"/>
              <a:t>rollere</a:t>
            </a:r>
            <a:r>
              <a:rPr lang="en-US" dirty="0"/>
              <a:t> </a:t>
            </a:r>
            <a:r>
              <a:rPr lang="en-US" dirty="0" err="1"/>
              <a:t>sahiptir</a:t>
            </a:r>
            <a:r>
              <a:rPr lang="en-US" dirty="0"/>
              <a:t>.</a:t>
            </a:r>
          </a:p>
          <a:p>
            <a:pPr marL="0" lvl="0" indent="0">
              <a:buNone/>
            </a:pPr>
            <a:r>
              <a:rPr lang="en-US" dirty="0" err="1"/>
              <a:t>Toplumsal</a:t>
            </a:r>
            <a:r>
              <a:rPr lang="en-US" dirty="0"/>
              <a:t> </a:t>
            </a:r>
            <a:r>
              <a:rPr lang="en-US" dirty="0" err="1"/>
              <a:t>dayanışma</a:t>
            </a:r>
            <a:r>
              <a:rPr lang="en-US" dirty="0"/>
              <a:t>, </a:t>
            </a:r>
            <a:r>
              <a:rPr lang="en-US" dirty="0" err="1"/>
              <a:t>farklı</a:t>
            </a:r>
            <a:r>
              <a:rPr lang="en-US" dirty="0"/>
              <a:t> </a:t>
            </a:r>
            <a:r>
              <a:rPr lang="en-US" dirty="0" err="1"/>
              <a:t>işlevlerin</a:t>
            </a:r>
            <a:r>
              <a:rPr lang="en-US" dirty="0"/>
              <a:t> </a:t>
            </a:r>
            <a:r>
              <a:rPr lang="en-US" dirty="0" err="1"/>
              <a:t>uyumuna</a:t>
            </a:r>
            <a:r>
              <a:rPr lang="en-US" dirty="0"/>
              <a:t> </a:t>
            </a:r>
            <a:r>
              <a:rPr lang="en-US" dirty="0" err="1"/>
              <a:t>dayanır</a:t>
            </a:r>
            <a:r>
              <a:rPr lang="en-US" dirty="0"/>
              <a:t>.</a:t>
            </a:r>
          </a:p>
          <a:p>
            <a:pPr marL="0" lvl="0" indent="0">
              <a:buNone/>
            </a:pPr>
            <a:r>
              <a:rPr lang="en-US" dirty="0"/>
              <a:t>Durkheim buna “</a:t>
            </a:r>
            <a:r>
              <a:rPr lang="en-US" dirty="0" err="1"/>
              <a:t>organik</a:t>
            </a:r>
            <a:r>
              <a:rPr lang="en-US" dirty="0"/>
              <a:t> </a:t>
            </a:r>
            <a:r>
              <a:rPr lang="en-US" dirty="0" err="1"/>
              <a:t>dayanışma</a:t>
            </a:r>
            <a:r>
              <a:rPr lang="en-US" dirty="0"/>
              <a:t>” </a:t>
            </a:r>
            <a:r>
              <a:rPr lang="en-US" dirty="0" err="1"/>
              <a:t>adını</a:t>
            </a:r>
            <a:r>
              <a:rPr lang="en-US" dirty="0"/>
              <a:t> </a:t>
            </a:r>
            <a:r>
              <a:rPr lang="en-US" dirty="0" err="1"/>
              <a:t>verir</a:t>
            </a:r>
            <a:r>
              <a:rPr lang="en-US" dirty="0"/>
              <a:t>.</a:t>
            </a:r>
          </a:p>
          <a:p>
            <a:pPr marL="0" lvl="0" indent="0">
              <a:buNone/>
            </a:pPr>
            <a:r>
              <a:rPr lang="en-US" b="1" dirty="0"/>
              <a:t>Örnek: Modern </a:t>
            </a:r>
            <a:r>
              <a:rPr lang="en-US" b="1" dirty="0" err="1"/>
              <a:t>kent</a:t>
            </a:r>
            <a:r>
              <a:rPr lang="en-US" b="1" dirty="0"/>
              <a:t> </a:t>
            </a:r>
            <a:r>
              <a:rPr lang="en-US" b="1" dirty="0" err="1"/>
              <a:t>toplumları</a:t>
            </a:r>
            <a:r>
              <a:rPr lang="en-US" b="1" dirty="0"/>
              <a:t>, </a:t>
            </a:r>
            <a:r>
              <a:rPr lang="en-US" b="1" dirty="0" err="1"/>
              <a:t>üniversiteler</a:t>
            </a:r>
            <a:r>
              <a:rPr lang="en-US" b="1" dirty="0"/>
              <a:t>, </a:t>
            </a:r>
            <a:r>
              <a:rPr lang="en-US" b="1" dirty="0" err="1"/>
              <a:t>büyük</a:t>
            </a:r>
            <a:r>
              <a:rPr lang="en-US" b="1" dirty="0"/>
              <a:t> </a:t>
            </a:r>
            <a:r>
              <a:rPr lang="en-US" b="1" dirty="0" err="1"/>
              <a:t>kurumlar</a:t>
            </a:r>
            <a:r>
              <a:rPr lang="en-US" b="1" dirty="0"/>
              <a:t>.</a:t>
            </a:r>
          </a:p>
          <a:p>
            <a:pPr marL="0" indent="0">
              <a:buNone/>
            </a:pPr>
            <a:br>
              <a:rPr lang="en-US" b="1" dirty="0"/>
            </a:br>
            <a:endParaRPr lang="en-US" b="1" dirty="0"/>
          </a:p>
          <a:p>
            <a:endParaRPr lang="en-US" dirty="0"/>
          </a:p>
        </p:txBody>
      </p:sp>
      <p:sp>
        <p:nvSpPr>
          <p:cNvPr id="4" name="Slide Number Placeholder 3">
            <a:extLst>
              <a:ext uri="{FF2B5EF4-FFF2-40B4-BE49-F238E27FC236}">
                <a16:creationId xmlns:a16="http://schemas.microsoft.com/office/drawing/2014/main" id="{E8F88829-2F0A-C5A9-888F-BBBCA1A2C165}"/>
              </a:ext>
            </a:extLst>
          </p:cNvPr>
          <p:cNvSpPr>
            <a:spLocks noGrp="1"/>
          </p:cNvSpPr>
          <p:nvPr>
            <p:ph type="sldNum" sz="quarter" idx="10"/>
          </p:nvPr>
        </p:nvSpPr>
        <p:spPr/>
        <p:txBody>
          <a:bodyPr/>
          <a:lstStyle/>
          <a:p>
            <a:fld id="{48F63A3B-78C7-47BE-AE5E-E10140E04643}" type="slidenum">
              <a:rPr lang="en-US" smtClean="0"/>
              <a:pPr/>
              <a:t>25</a:t>
            </a:fld>
            <a:endParaRPr lang="en-US" dirty="0"/>
          </a:p>
        </p:txBody>
      </p:sp>
    </p:spTree>
    <p:extLst>
      <p:ext uri="{BB962C8B-B14F-4D97-AF65-F5344CB8AC3E}">
        <p14:creationId xmlns:p14="http://schemas.microsoft.com/office/powerpoint/2010/main" val="25147059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EB968D-B700-F770-E63B-6E753AAFD656}"/>
              </a:ext>
            </a:extLst>
          </p:cNvPr>
          <p:cNvSpPr>
            <a:spLocks noGrp="1"/>
          </p:cNvSpPr>
          <p:nvPr>
            <p:ph sz="quarter" idx="4"/>
          </p:nvPr>
        </p:nvSpPr>
        <p:spPr>
          <a:xfrm>
            <a:off x="914400" y="681135"/>
            <a:ext cx="10511627" cy="6344816"/>
          </a:xfrm>
        </p:spPr>
        <p:txBody>
          <a:bodyPr>
            <a:normAutofit fontScale="62500" lnSpcReduction="20000"/>
          </a:bodyPr>
          <a:lstStyle/>
          <a:p>
            <a:pPr marL="0" marR="0">
              <a:lnSpc>
                <a:spcPct val="115000"/>
              </a:lnSpc>
              <a:spcAft>
                <a:spcPts val="800"/>
              </a:spcAft>
              <a:buNone/>
            </a:pPr>
            <a:r>
              <a:rPr lang="en-US" sz="2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2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Tabakalaşma</a:t>
            </a:r>
            <a:r>
              <a:rPr lang="en-US" sz="2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Sınıf</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Toplumlar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her zaman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eşitlik</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içinde</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değildir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gelir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meslek</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cinsiyet</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gibi</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faktörler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bireylerin</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içindeki</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yerini</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belirler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farklılıklar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29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tabakalaşma</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olarak</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adlandırılır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9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2900" b="1" kern="0" dirty="0">
                <a:effectLst/>
                <a:latin typeface="Times New Roman" panose="02020603050405020304" pitchFamily="18" charset="0"/>
                <a:ea typeface="Times New Roman" panose="02020603050405020304" pitchFamily="18" charset="0"/>
                <a:cs typeface="Times New Roman" panose="02020603050405020304" pitchFamily="18" charset="0"/>
              </a:rPr>
              <a:t>Karl Marx</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temelini</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ekonomik</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ilişkilerde</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görür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Ona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göre</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iki</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ana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sınıftan</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oluşur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üretim</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araçlarını</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elinde</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bulunduranlar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burjuvazi</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emeğini</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satarak</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geçinenler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proletarya</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900" b="1" kern="0" dirty="0">
                <a:effectLst/>
                <a:latin typeface="Times New Roman" panose="02020603050405020304" pitchFamily="18" charset="0"/>
                <a:ea typeface="Times New Roman" panose="02020603050405020304" pitchFamily="18" charset="0"/>
                <a:cs typeface="Times New Roman" panose="02020603050405020304" pitchFamily="18" charset="0"/>
              </a:rPr>
              <a:t>Max Weber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ise</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tabakalaşmayı</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yalnızca</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ekonomik</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temelde</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statü</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güç</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prestij</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gibi</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unsurlarla</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da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açıklar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9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2900" b="1" kern="0" dirty="0" err="1">
                <a:effectLst/>
                <a:latin typeface="Times New Roman" panose="02020603050405020304" pitchFamily="18" charset="0"/>
                <a:ea typeface="Times New Roman" panose="02020603050405020304" pitchFamily="18" charset="0"/>
                <a:cs typeface="Times New Roman" panose="02020603050405020304" pitchFamily="18" charset="0"/>
              </a:rPr>
              <a:t>Günümüz</a:t>
            </a:r>
            <a:r>
              <a:rPr lang="en-US" sz="29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toplumlarında</a:t>
            </a:r>
            <a:r>
              <a:rPr lang="en-US" sz="29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tabakalaşma</a:t>
            </a:r>
            <a:r>
              <a:rPr lang="en-US" sz="29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b="1"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biçimleri</a:t>
            </a:r>
            <a:r>
              <a:rPr lang="en-US" sz="29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b="1" kern="0" dirty="0" err="1">
                <a:effectLst/>
                <a:latin typeface="Times New Roman" panose="02020603050405020304" pitchFamily="18" charset="0"/>
                <a:ea typeface="Times New Roman" panose="02020603050405020304" pitchFamily="18" charset="0"/>
                <a:cs typeface="Times New Roman" panose="02020603050405020304" pitchFamily="18" charset="0"/>
              </a:rPr>
              <a:t>çeşitlenmiştir</a:t>
            </a:r>
            <a:r>
              <a:rPr lang="en-US" sz="29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9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Ekonomik</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sınıflar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zengin</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orta</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sınıf</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yoksul</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9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Cinsiyet</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temelli</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eşitsizlikler</a:t>
            </a:r>
            <a:endParaRPr lang="en-US" sz="29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düzeyine</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göre</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farklar</a:t>
            </a:r>
            <a:endParaRPr lang="en-US" sz="29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Dijital</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erişim</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farkları</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örneğin</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dijital</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uçurum</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kavramı</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9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2089A4C1-6ABA-FFD0-BE2E-A5F95D09A7FF}"/>
              </a:ext>
            </a:extLst>
          </p:cNvPr>
          <p:cNvSpPr>
            <a:spLocks noGrp="1"/>
          </p:cNvSpPr>
          <p:nvPr>
            <p:ph type="sldNum" sz="quarter" idx="10"/>
          </p:nvPr>
        </p:nvSpPr>
        <p:spPr/>
        <p:txBody>
          <a:bodyPr/>
          <a:lstStyle/>
          <a:p>
            <a:fld id="{48F63A3B-78C7-47BE-AE5E-E10140E04643}" type="slidenum">
              <a:rPr lang="en-US" smtClean="0"/>
              <a:pPr/>
              <a:t>26</a:t>
            </a:fld>
            <a:endParaRPr lang="en-US" dirty="0"/>
          </a:p>
        </p:txBody>
      </p:sp>
    </p:spTree>
    <p:extLst>
      <p:ext uri="{BB962C8B-B14F-4D97-AF65-F5344CB8AC3E}">
        <p14:creationId xmlns:p14="http://schemas.microsoft.com/office/powerpoint/2010/main" val="13046056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86CDAC-95A8-2D26-CD47-149CB714631B}"/>
              </a:ext>
            </a:extLst>
          </p:cNvPr>
          <p:cNvSpPr>
            <a:spLocks noGrp="1"/>
          </p:cNvSpPr>
          <p:nvPr>
            <p:ph sz="quarter" idx="4"/>
          </p:nvPr>
        </p:nvSpPr>
        <p:spPr>
          <a:xfrm>
            <a:off x="914400" y="821095"/>
            <a:ext cx="10511627" cy="5443530"/>
          </a:xfrm>
        </p:spPr>
        <p:txBody>
          <a:bodyPr>
            <a:normAutofit/>
          </a:bodyPr>
          <a:lstStyle/>
          <a:p>
            <a:pPr marL="0" marR="0">
              <a:lnSpc>
                <a:spcPct val="115000"/>
              </a:lnSpc>
              <a:spcAft>
                <a:spcPts val="800"/>
              </a:spcAft>
              <a:buNone/>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Örnek Olay: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Kıbrıs’ta</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Yapı</a:t>
            </a:r>
            <a:endParaRPr lang="en-US" sz="20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geleneksel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yapının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izleri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hâlen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görülmektedir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Kırsal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bölgelerde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dayanışma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komşuluk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aile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bağları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güçlüdür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mekanik</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yapı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özellikleridir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Ancak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üniversitelerin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artması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göç</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turizm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dijitalleşme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gibi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süreçler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adada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organik</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yapıya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geçişi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hızlandırmıştır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Örneğin</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Lefke’de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üniversite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öğrencileri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halk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arasındaki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etkileşim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yeni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ilişkiler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doğurmuştur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Gençler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aile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rollerinden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çok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başarıyı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önemsemeye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başlamıştır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durum,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yapıdaki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dönüşümün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somut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göstergesidir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F891B0CF-0EE4-D310-195F-88A8424322E7}"/>
              </a:ext>
            </a:extLst>
          </p:cNvPr>
          <p:cNvSpPr>
            <a:spLocks noGrp="1"/>
          </p:cNvSpPr>
          <p:nvPr>
            <p:ph type="sldNum" sz="quarter" idx="10"/>
          </p:nvPr>
        </p:nvSpPr>
        <p:spPr/>
        <p:txBody>
          <a:bodyPr/>
          <a:lstStyle/>
          <a:p>
            <a:fld id="{48F63A3B-78C7-47BE-AE5E-E10140E04643}" type="slidenum">
              <a:rPr lang="en-US" smtClean="0"/>
              <a:pPr/>
              <a:t>27</a:t>
            </a:fld>
            <a:endParaRPr lang="en-US" dirty="0"/>
          </a:p>
        </p:txBody>
      </p:sp>
    </p:spTree>
    <p:extLst>
      <p:ext uri="{BB962C8B-B14F-4D97-AF65-F5344CB8AC3E}">
        <p14:creationId xmlns:p14="http://schemas.microsoft.com/office/powerpoint/2010/main" val="36005381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9325BA-8784-2A7F-7987-FEE7C51F3EE8}"/>
              </a:ext>
            </a:extLst>
          </p:cNvPr>
          <p:cNvSpPr>
            <a:spLocks noGrp="1"/>
          </p:cNvSpPr>
          <p:nvPr>
            <p:ph sz="quarter" idx="4"/>
          </p:nvPr>
        </p:nvSpPr>
        <p:spPr>
          <a:xfrm>
            <a:off x="914400" y="653143"/>
            <a:ext cx="10511627" cy="5611481"/>
          </a:xfrm>
        </p:spPr>
        <p:txBody>
          <a:bodyPr/>
          <a:lstStyle/>
          <a:p>
            <a:pPr marL="0" marR="0">
              <a:lnSpc>
                <a:spcPct val="115000"/>
              </a:lnSpc>
              <a:spcAft>
                <a:spcPts val="800"/>
              </a:spcAft>
              <a:buNone/>
            </a:pPr>
            <a:r>
              <a:rPr lang="en-US" sz="2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Güncel</a:t>
            </a: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Sosyolojik</a:t>
            </a: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Görüş</a:t>
            </a: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Dijital</a:t>
            </a: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a:t>
            </a:r>
            <a:endParaRPr lang="en-US" sz="24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Font typeface="Wingdings" panose="05000000000000000000" pitchFamily="2" charset="2"/>
              <a:buChar char="Ø"/>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Dijital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çağda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yapının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belirgin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özelliği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sanal</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ilişkiler</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artmasıdır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medya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kimlik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sunarken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aynı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zamanda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rolleri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şekillendirir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Örneğin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“influencer”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kavramı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modern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yeni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statü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türüdür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Font typeface="Wingdings" panose="05000000000000000000" pitchFamily="2" charset="2"/>
              <a:buChar char="Ø"/>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durum,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Giddens’in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yapılaşma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kuramı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açıklanabilir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eylemlerinden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doğar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içinde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hareket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eder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Dijital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platformlar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hem yeni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düzenler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yaratır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hem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davranışları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biçimlendirir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0FB6F567-0476-D86C-308B-F97AFD216574}"/>
              </a:ext>
            </a:extLst>
          </p:cNvPr>
          <p:cNvSpPr>
            <a:spLocks noGrp="1"/>
          </p:cNvSpPr>
          <p:nvPr>
            <p:ph type="sldNum" sz="quarter" idx="10"/>
          </p:nvPr>
        </p:nvSpPr>
        <p:spPr/>
        <p:txBody>
          <a:bodyPr/>
          <a:lstStyle/>
          <a:p>
            <a:fld id="{48F63A3B-78C7-47BE-AE5E-E10140E04643}" type="slidenum">
              <a:rPr lang="en-US" smtClean="0"/>
              <a:pPr/>
              <a:t>28</a:t>
            </a:fld>
            <a:endParaRPr lang="en-US" dirty="0"/>
          </a:p>
        </p:txBody>
      </p:sp>
    </p:spTree>
    <p:extLst>
      <p:ext uri="{BB962C8B-B14F-4D97-AF65-F5344CB8AC3E}">
        <p14:creationId xmlns:p14="http://schemas.microsoft.com/office/powerpoint/2010/main" val="23282675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87EE15B-EE18-4E33-A7E7-A55B3600DABA}"/>
              </a:ext>
            </a:extLst>
          </p:cNvPr>
          <p:cNvSpPr>
            <a:spLocks noGrp="1"/>
          </p:cNvSpPr>
          <p:nvPr>
            <p:ph type="sldNum" sz="quarter" idx="10"/>
          </p:nvPr>
        </p:nvSpPr>
        <p:spPr/>
        <p:txBody>
          <a:bodyPr/>
          <a:lstStyle/>
          <a:p>
            <a:fld id="{48F63A3B-78C7-47BE-AE5E-E10140E04643}" type="slidenum">
              <a:rPr lang="en-US" smtClean="0"/>
              <a:pPr/>
              <a:t>29</a:t>
            </a:fld>
            <a:endParaRPr lang="en-US" dirty="0"/>
          </a:p>
        </p:txBody>
      </p:sp>
      <p:pic>
        <p:nvPicPr>
          <p:cNvPr id="2050" name="Picture 2" descr="Hayat Boyu Sosyalleşme: Toplumsal İlişkileri Şekillendiren 7 Temel Dinamik  | Erzurumca">
            <a:extLst>
              <a:ext uri="{FF2B5EF4-FFF2-40B4-BE49-F238E27FC236}">
                <a16:creationId xmlns:a16="http://schemas.microsoft.com/office/drawing/2014/main" id="{221BD507-5164-0E0C-A329-E16190D2C639}"/>
              </a:ext>
            </a:extLst>
          </p:cNvPr>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690465" y="727788"/>
            <a:ext cx="10328988" cy="5673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95268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F85E8F-0AD4-10C8-071F-042EB1FBF1BE}"/>
              </a:ext>
            </a:extLst>
          </p:cNvPr>
          <p:cNvSpPr>
            <a:spLocks noGrp="1"/>
          </p:cNvSpPr>
          <p:nvPr>
            <p:ph sz="quarter" idx="4"/>
          </p:nvPr>
        </p:nvSpPr>
        <p:spPr>
          <a:xfrm>
            <a:off x="914400" y="928689"/>
            <a:ext cx="10511627" cy="5335936"/>
          </a:xfrm>
        </p:spPr>
        <p:txBody>
          <a:bodyPr>
            <a:normAutofit lnSpcReduction="10000"/>
          </a:bodyPr>
          <a:lstStyle/>
          <a:p>
            <a:pPr marL="0" marR="0">
              <a:lnSpc>
                <a:spcPct val="115000"/>
              </a:lnSpc>
              <a:spcAft>
                <a:spcPts val="800"/>
              </a:spcAft>
              <a:buNone/>
            </a:pPr>
            <a:r>
              <a:rPr lang="en-US" sz="2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Kuralların</a:t>
            </a: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İşlevi</a:t>
            </a:r>
            <a:endParaRPr lang="en-US" sz="24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kurallar</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olmadan</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ayakta</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kalamaz</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Kurallar</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bireylerin</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sınırlarını</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belirler</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çatışmayı</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önler</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düzeni</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sağlar</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Yasal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Kurallar</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Devlet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tarafından</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belirlenir</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yaptırım</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gücü</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vardır</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Ahlaki</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Kurallar</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vicdanına</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dayanır</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Geleneksel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Kurallar</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Uzun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süreli</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alışkanlık</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değerlerden</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kaynaklanır</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Kural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ihlalleri</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toplumda</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tepkiyle</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karşılanır</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çünkü</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yapısal</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düzeni</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bozar</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Durkheim’a</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göre</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suç</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yapının</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normlarını</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test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eden</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olgudur</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anlamda</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yenilenmeye</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zemin</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hazırlar</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E824B037-D926-F445-A274-07E5C0E7E71F}"/>
              </a:ext>
            </a:extLst>
          </p:cNvPr>
          <p:cNvSpPr>
            <a:spLocks noGrp="1"/>
          </p:cNvSpPr>
          <p:nvPr>
            <p:ph type="sldNum" sz="quarter" idx="10"/>
          </p:nvPr>
        </p:nvSpPr>
        <p:spPr/>
        <p:txBody>
          <a:bodyPr/>
          <a:lstStyle/>
          <a:p>
            <a:fld id="{48F63A3B-78C7-47BE-AE5E-E10140E04643}" type="slidenum">
              <a:rPr lang="en-US" smtClean="0"/>
              <a:pPr/>
              <a:t>30</a:t>
            </a:fld>
            <a:endParaRPr lang="en-US" dirty="0"/>
          </a:p>
        </p:txBody>
      </p:sp>
    </p:spTree>
    <p:extLst>
      <p:ext uri="{BB962C8B-B14F-4D97-AF65-F5344CB8AC3E}">
        <p14:creationId xmlns:p14="http://schemas.microsoft.com/office/powerpoint/2010/main" val="11974826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19C27BD-BB35-1282-D050-617965EE3D2B}"/>
              </a:ext>
            </a:extLst>
          </p:cNvPr>
          <p:cNvSpPr>
            <a:spLocks noGrp="1"/>
          </p:cNvSpPr>
          <p:nvPr>
            <p:ph type="sldNum" sz="quarter" idx="10"/>
          </p:nvPr>
        </p:nvSpPr>
        <p:spPr/>
        <p:txBody>
          <a:bodyPr/>
          <a:lstStyle/>
          <a:p>
            <a:fld id="{48F63A3B-78C7-47BE-AE5E-E10140E04643}" type="slidenum">
              <a:rPr lang="en-US" smtClean="0"/>
              <a:pPr/>
              <a:t>31</a:t>
            </a:fld>
            <a:endParaRPr lang="en-US" dirty="0"/>
          </a:p>
        </p:txBody>
      </p:sp>
      <p:pic>
        <p:nvPicPr>
          <p:cNvPr id="2050" name="Picture 2" descr="Sosyal Kurumlar: Giriş (Sosyoloji / Toplum ve Kültür) - YouTube">
            <a:extLst>
              <a:ext uri="{FF2B5EF4-FFF2-40B4-BE49-F238E27FC236}">
                <a16:creationId xmlns:a16="http://schemas.microsoft.com/office/drawing/2014/main" id="{ADFD9A36-13F1-2296-0445-BBEF169EBCA8}"/>
              </a:ext>
            </a:extLst>
          </p:cNvPr>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1738604" y="692943"/>
            <a:ext cx="8714792" cy="55423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73963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1B0152-CE02-897A-03E1-2C00305D9A8B}"/>
              </a:ext>
            </a:extLst>
          </p:cNvPr>
          <p:cNvSpPr>
            <a:spLocks noGrp="1"/>
          </p:cNvSpPr>
          <p:nvPr>
            <p:ph sz="quarter" idx="4"/>
          </p:nvPr>
        </p:nvSpPr>
        <p:spPr>
          <a:xfrm>
            <a:off x="914400" y="774441"/>
            <a:ext cx="10511627" cy="5490183"/>
          </a:xfrm>
        </p:spPr>
        <p:txBody>
          <a:bodyPr/>
          <a:lstStyle/>
          <a:p>
            <a:pPr marL="0" marR="0">
              <a:lnSpc>
                <a:spcPct val="115000"/>
              </a:lnSpc>
              <a:spcAft>
                <a:spcPts val="800"/>
              </a:spcAft>
              <a:buNone/>
            </a:pPr>
            <a:r>
              <a:rPr lang="en-US" sz="2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a:t>
            </a: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Yapı</a:t>
            </a: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a:t>
            </a:r>
            <a:endParaRPr lang="en-US" sz="24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durağan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Ekonomik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krizler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savaşlar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teknolojik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yenilikler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eğitimdeki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dönüşümler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yapıyı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etkiler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Örnek:</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Pandemi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döneminde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evden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çalışma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yaygınlaştı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aile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içi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roller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değişti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Kadınlar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hem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ev</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hem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rollerini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aynı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üstlenmek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zorunda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kaldı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durum,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yapının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cinsiyet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temelli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bölümünü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tanımladı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9022A43D-6FC9-5B7F-650E-FD1602B22C19}"/>
              </a:ext>
            </a:extLst>
          </p:cNvPr>
          <p:cNvSpPr>
            <a:spLocks noGrp="1"/>
          </p:cNvSpPr>
          <p:nvPr>
            <p:ph type="sldNum" sz="quarter" idx="10"/>
          </p:nvPr>
        </p:nvSpPr>
        <p:spPr/>
        <p:txBody>
          <a:bodyPr/>
          <a:lstStyle/>
          <a:p>
            <a:fld id="{48F63A3B-78C7-47BE-AE5E-E10140E04643}" type="slidenum">
              <a:rPr lang="en-US" smtClean="0"/>
              <a:pPr/>
              <a:t>32</a:t>
            </a:fld>
            <a:endParaRPr lang="en-US" dirty="0"/>
          </a:p>
        </p:txBody>
      </p:sp>
    </p:spTree>
    <p:extLst>
      <p:ext uri="{BB962C8B-B14F-4D97-AF65-F5344CB8AC3E}">
        <p14:creationId xmlns:p14="http://schemas.microsoft.com/office/powerpoint/2010/main" val="34681311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037F99-3DB2-EAAB-8907-06C0D89EAEAB}"/>
              </a:ext>
            </a:extLst>
          </p:cNvPr>
          <p:cNvSpPr>
            <a:spLocks noGrp="1"/>
          </p:cNvSpPr>
          <p:nvPr>
            <p:ph sz="quarter" idx="4"/>
          </p:nvPr>
        </p:nvSpPr>
        <p:spPr>
          <a:xfrm>
            <a:off x="914400" y="690465"/>
            <a:ext cx="10511627" cy="5574159"/>
          </a:xfrm>
        </p:spPr>
        <p:txBody>
          <a:bodyPr/>
          <a:lstStyle/>
          <a:p>
            <a:pPr marL="0" marR="0">
              <a:lnSpc>
                <a:spcPct val="115000"/>
              </a:lnSpc>
              <a:spcAft>
                <a:spcPts val="800"/>
              </a:spcAft>
              <a:buNone/>
            </a:pP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Sonuç</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işleyişini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belirleyen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temel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çerçevedir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Her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yapının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parçasıdır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davranışlarıyla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yapının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sürekliliğine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katkıda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bulunur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değiştikçe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değiştikçe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biçimlenir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nedenle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sosyolojide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kavramı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diğer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tüm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kavramların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kazandığı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merkezî</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noktadır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insan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davranışlarının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görünmeyen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mimarisidir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Yrd</a:t>
            </a: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Doç</a:t>
            </a: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 Dr. Sibel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Solyalı</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1E5121E6-8EE1-CBDA-D38E-3EA245D6E40E}"/>
              </a:ext>
            </a:extLst>
          </p:cNvPr>
          <p:cNvSpPr>
            <a:spLocks noGrp="1"/>
          </p:cNvSpPr>
          <p:nvPr>
            <p:ph type="sldNum" sz="quarter" idx="10"/>
          </p:nvPr>
        </p:nvSpPr>
        <p:spPr/>
        <p:txBody>
          <a:bodyPr/>
          <a:lstStyle/>
          <a:p>
            <a:fld id="{48F63A3B-78C7-47BE-AE5E-E10140E04643}" type="slidenum">
              <a:rPr lang="en-US" smtClean="0"/>
              <a:pPr/>
              <a:t>33</a:t>
            </a:fld>
            <a:endParaRPr lang="en-US" dirty="0"/>
          </a:p>
        </p:txBody>
      </p:sp>
    </p:spTree>
    <p:extLst>
      <p:ext uri="{BB962C8B-B14F-4D97-AF65-F5344CB8AC3E}">
        <p14:creationId xmlns:p14="http://schemas.microsoft.com/office/powerpoint/2010/main" val="18391365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02890B-B27F-0D06-FAD3-E597123B83F3}"/>
              </a:ext>
            </a:extLst>
          </p:cNvPr>
          <p:cNvSpPr>
            <a:spLocks noGrp="1"/>
          </p:cNvSpPr>
          <p:nvPr>
            <p:ph sz="quarter" idx="4"/>
          </p:nvPr>
        </p:nvSpPr>
        <p:spPr>
          <a:xfrm>
            <a:off x="765974" y="746449"/>
            <a:ext cx="10660053" cy="5518175"/>
          </a:xfrm>
        </p:spPr>
        <p:txBody>
          <a:bodyPr/>
          <a:lstStyle/>
          <a:p>
            <a:pPr marL="0" marR="0">
              <a:lnSpc>
                <a:spcPct val="115000"/>
              </a:lnSpc>
              <a:spcAft>
                <a:spcPts val="800"/>
              </a:spcAft>
              <a:buNone/>
            </a:pPr>
            <a:r>
              <a:rPr lang="en-US" sz="2400" b="1" kern="100" dirty="0">
                <a:effectLst/>
                <a:latin typeface="Calibri" panose="020F0502020204030204" pitchFamily="34" charset="0"/>
                <a:ea typeface="Calibri" panose="020F0502020204030204" pitchFamily="34" charset="0"/>
                <a:cs typeface="Times New Roman" panose="02020603050405020304" pitchFamily="18" charset="0"/>
              </a:rPr>
              <a:t>SOSYAL KURUMLAR</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Sosyal</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Kurum</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Kavramı</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Sosyal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kurumlar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toplumun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temel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ihtiyaçlarını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karşılamak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düzenini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sürdürmek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için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oluşturduğu</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kalıcı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organize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sistemlerdir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Her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toplumun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varlığını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sürdürebilmesi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için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belirli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kurumlara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ihtiyacı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vardır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aile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eğitim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ekonomi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din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siyaset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gibi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15000"/>
              </a:lnSpc>
              <a:spcAft>
                <a:spcPts val="800"/>
              </a:spcAft>
              <a:buNone/>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Durkheim</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göre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kurumlar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toplumsal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düzenin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taşıyıcılarıdır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Toplumun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moral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yapısını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koruyan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bireylere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roller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sorumluluklar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yükleyen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yapılardır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Illich (2021)</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ise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modern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kurumların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bireyi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pasifleştirdiğini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toplumsal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yaratıcılığı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sınırladığını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savunur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Özellikle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eğitim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kurumuna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getirdiği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eleştirilerle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okulsuz</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kavramını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ortaya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koymuştur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15000"/>
              </a:lnSpc>
              <a:spcAft>
                <a:spcPts val="800"/>
              </a:spcAft>
              <a:buNone/>
            </a:pP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Sosyal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kurumlar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sadece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kurallar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bütünü</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değil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aynı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zamanda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değerlerin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davranış</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kalıplarının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yaşatıldığı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sosyal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organizasyonlardır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endParaRPr lang="en-US" dirty="0"/>
          </a:p>
        </p:txBody>
      </p:sp>
      <p:sp>
        <p:nvSpPr>
          <p:cNvPr id="4" name="Slide Number Placeholder 3">
            <a:extLst>
              <a:ext uri="{FF2B5EF4-FFF2-40B4-BE49-F238E27FC236}">
                <a16:creationId xmlns:a16="http://schemas.microsoft.com/office/drawing/2014/main" id="{0E84DA05-F45D-4940-5697-3794E2B47D47}"/>
              </a:ext>
            </a:extLst>
          </p:cNvPr>
          <p:cNvSpPr>
            <a:spLocks noGrp="1"/>
          </p:cNvSpPr>
          <p:nvPr>
            <p:ph type="sldNum" sz="quarter" idx="10"/>
          </p:nvPr>
        </p:nvSpPr>
        <p:spPr/>
        <p:txBody>
          <a:bodyPr/>
          <a:lstStyle/>
          <a:p>
            <a:fld id="{48F63A3B-78C7-47BE-AE5E-E10140E04643}" type="slidenum">
              <a:rPr lang="en-US" smtClean="0"/>
              <a:pPr/>
              <a:t>34</a:t>
            </a:fld>
            <a:endParaRPr lang="en-US" dirty="0"/>
          </a:p>
        </p:txBody>
      </p:sp>
    </p:spTree>
    <p:extLst>
      <p:ext uri="{BB962C8B-B14F-4D97-AF65-F5344CB8AC3E}">
        <p14:creationId xmlns:p14="http://schemas.microsoft.com/office/powerpoint/2010/main" val="16345467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425ECE-C50F-3C1F-2AF4-7E4AD41F90D6}"/>
              </a:ext>
            </a:extLst>
          </p:cNvPr>
          <p:cNvSpPr>
            <a:spLocks noGrp="1"/>
          </p:cNvSpPr>
          <p:nvPr>
            <p:ph sz="quarter" idx="4"/>
          </p:nvPr>
        </p:nvSpPr>
        <p:spPr>
          <a:xfrm>
            <a:off x="914400" y="625151"/>
            <a:ext cx="10511627" cy="5639473"/>
          </a:xfrm>
        </p:spPr>
        <p:txBody>
          <a:bodyPr/>
          <a:lstStyle/>
          <a:p>
            <a:pPr marL="0" marR="0">
              <a:lnSpc>
                <a:spcPct val="115000"/>
              </a:lnSpc>
              <a:spcAft>
                <a:spcPts val="800"/>
              </a:spcAft>
              <a:buNone/>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Sosyal</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Kurumların</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Özellikleri</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Font typeface="+mj-lt"/>
              <a:buAutoNum type="arabicPeriod"/>
              <a:tabLst>
                <a:tab pos="457200" algn="l"/>
              </a:tabLst>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Süreklilik</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Kurumlar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uzun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yıllar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boyunca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varlığını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sürdürür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kuşaklar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boyunca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aktarılır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Örneğin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aile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kurumu</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binlerce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yıldır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toplumsal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düzenin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temelidir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Font typeface="+mj-lt"/>
              <a:buAutoNum type="arabicPeriod"/>
              <a:tabLst>
                <a:tab pos="457200" algn="l"/>
              </a:tabLst>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Toplumsal</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İhtiyaca</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Cevap</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Verme:</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Her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belirli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ihtiyacı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karşılar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Eğitim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bilgi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aktarımını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ekonomi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üretimi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din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manevi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dengeyi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sağlar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Font typeface="+mj-lt"/>
              <a:buAutoNum type="arabicPeriod"/>
              <a:tabLst>
                <a:tab pos="457200" algn="l"/>
              </a:tabLst>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Kurallar</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ve</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Normlar</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Kurumların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belirli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davranış</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kuralları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vardır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Bu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kurallar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bireylerin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rollerini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tanımlar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Font typeface="+mj-lt"/>
              <a:buAutoNum type="arabicPeriod"/>
              <a:tabLst>
                <a:tab pos="457200" algn="l"/>
              </a:tabLst>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Toplumsal</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Kontrol</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Kurumlar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bireylerin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davranışlarını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yönlendirir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sapmaları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engeller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Font typeface="+mj-lt"/>
              <a:buAutoNum type="arabicPeriod"/>
              <a:tabLst>
                <a:tab pos="457200" algn="l"/>
              </a:tabLst>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Değişebilirlik</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Kurumlar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durağan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değildir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toplumsal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değişmelere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uyum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sağlarlar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Örneğin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dijitalleşmeyle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birlikte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eğitim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kurumları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çevrim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içi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hale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gelmiştir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endParaRPr lang="en-US" dirty="0"/>
          </a:p>
        </p:txBody>
      </p:sp>
      <p:sp>
        <p:nvSpPr>
          <p:cNvPr id="4" name="Slide Number Placeholder 3">
            <a:extLst>
              <a:ext uri="{FF2B5EF4-FFF2-40B4-BE49-F238E27FC236}">
                <a16:creationId xmlns:a16="http://schemas.microsoft.com/office/drawing/2014/main" id="{E381D899-4844-5F1F-B590-FA7BF4A492ED}"/>
              </a:ext>
            </a:extLst>
          </p:cNvPr>
          <p:cNvSpPr>
            <a:spLocks noGrp="1"/>
          </p:cNvSpPr>
          <p:nvPr>
            <p:ph type="sldNum" sz="quarter" idx="10"/>
          </p:nvPr>
        </p:nvSpPr>
        <p:spPr/>
        <p:txBody>
          <a:bodyPr/>
          <a:lstStyle/>
          <a:p>
            <a:fld id="{48F63A3B-78C7-47BE-AE5E-E10140E04643}" type="slidenum">
              <a:rPr lang="en-US" smtClean="0"/>
              <a:pPr/>
              <a:t>35</a:t>
            </a:fld>
            <a:endParaRPr lang="en-US" dirty="0"/>
          </a:p>
        </p:txBody>
      </p:sp>
    </p:spTree>
    <p:extLst>
      <p:ext uri="{BB962C8B-B14F-4D97-AF65-F5344CB8AC3E}">
        <p14:creationId xmlns:p14="http://schemas.microsoft.com/office/powerpoint/2010/main" val="41597486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741C03-0E39-CD64-E1CB-D4314E8473CA}"/>
              </a:ext>
            </a:extLst>
          </p:cNvPr>
          <p:cNvSpPr>
            <a:spLocks noGrp="1"/>
          </p:cNvSpPr>
          <p:nvPr>
            <p:ph sz="quarter" idx="4"/>
          </p:nvPr>
        </p:nvSpPr>
        <p:spPr>
          <a:xfrm>
            <a:off x="914400" y="597159"/>
            <a:ext cx="10511627" cy="5667465"/>
          </a:xfrm>
        </p:spPr>
        <p:txBody>
          <a:bodyPr>
            <a:normAutofit/>
          </a:bodyPr>
          <a:lstStyle/>
          <a:p>
            <a:pPr marL="0" marR="0">
              <a:lnSpc>
                <a:spcPct val="115000"/>
              </a:lnSpc>
              <a:spcAft>
                <a:spcPts val="800"/>
              </a:spcAft>
              <a:buNone/>
            </a:pPr>
            <a:r>
              <a:rPr lang="en-US" sz="2400" b="1" kern="100" dirty="0">
                <a:effectLst/>
                <a:latin typeface="Calibri" panose="020F0502020204030204" pitchFamily="34" charset="0"/>
                <a:ea typeface="Calibri" panose="020F0502020204030204" pitchFamily="34" charset="0"/>
                <a:cs typeface="Times New Roman" panose="02020603050405020304" pitchFamily="18" charset="0"/>
              </a:rPr>
              <a:t>Temel </a:t>
            </a:r>
            <a:r>
              <a:rPr lang="en-US" sz="2400" b="1" kern="100" dirty="0" err="1">
                <a:effectLst/>
                <a:latin typeface="Calibri" panose="020F0502020204030204" pitchFamily="34" charset="0"/>
                <a:ea typeface="Calibri" panose="020F0502020204030204" pitchFamily="34" charset="0"/>
                <a:cs typeface="Times New Roman" panose="02020603050405020304" pitchFamily="18" charset="0"/>
              </a:rPr>
              <a:t>Sosyal</a:t>
            </a:r>
            <a:r>
              <a:rPr lang="en-US" sz="24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2400" b="1" kern="100" dirty="0" err="1">
                <a:effectLst/>
                <a:latin typeface="Calibri" panose="020F0502020204030204" pitchFamily="34" charset="0"/>
                <a:ea typeface="Calibri" panose="020F0502020204030204" pitchFamily="34" charset="0"/>
                <a:cs typeface="Times New Roman" panose="02020603050405020304" pitchFamily="18" charset="0"/>
              </a:rPr>
              <a:t>Kurum</a:t>
            </a:r>
            <a:r>
              <a:rPr lang="en-US" sz="24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2400" b="1" kern="100" dirty="0" err="1">
                <a:effectLst/>
                <a:latin typeface="Calibri" panose="020F0502020204030204" pitchFamily="34" charset="0"/>
                <a:ea typeface="Calibri" panose="020F0502020204030204" pitchFamily="34" charset="0"/>
                <a:cs typeface="Times New Roman" panose="02020603050405020304" pitchFamily="18" charset="0"/>
              </a:rPr>
              <a:t>Türleri</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 Aile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Kurumu</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Aile,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toplumun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temel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birimidir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İşlevleri</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Neslin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devamı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sevgi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güven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ortamı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kültürel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değerlerin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aktarımı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Sosyolojik</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rolü</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Çocuğun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ilk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sosyalleştiği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kurumdur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Kıbrıs</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örneği</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Aile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ilişkilerinde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dayanışma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bağlılık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güçlüdür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geniş</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aile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yapısı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hâlâ</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etkindir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Modernleşme</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etkisi</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Çekirdek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aile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yaygınlaşmakta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evlilik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yaşı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yükselmektedir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endParaRPr lang="en-US" dirty="0"/>
          </a:p>
        </p:txBody>
      </p:sp>
      <p:sp>
        <p:nvSpPr>
          <p:cNvPr id="4" name="Slide Number Placeholder 3">
            <a:extLst>
              <a:ext uri="{FF2B5EF4-FFF2-40B4-BE49-F238E27FC236}">
                <a16:creationId xmlns:a16="http://schemas.microsoft.com/office/drawing/2014/main" id="{0D319D0E-8C01-E10E-FB8C-8789F04EA4D7}"/>
              </a:ext>
            </a:extLst>
          </p:cNvPr>
          <p:cNvSpPr>
            <a:spLocks noGrp="1"/>
          </p:cNvSpPr>
          <p:nvPr>
            <p:ph type="sldNum" sz="quarter" idx="10"/>
          </p:nvPr>
        </p:nvSpPr>
        <p:spPr/>
        <p:txBody>
          <a:bodyPr/>
          <a:lstStyle/>
          <a:p>
            <a:fld id="{48F63A3B-78C7-47BE-AE5E-E10140E04643}" type="slidenum">
              <a:rPr lang="en-US" smtClean="0"/>
              <a:pPr/>
              <a:t>36</a:t>
            </a:fld>
            <a:endParaRPr lang="en-US" dirty="0"/>
          </a:p>
        </p:txBody>
      </p:sp>
    </p:spTree>
    <p:extLst>
      <p:ext uri="{BB962C8B-B14F-4D97-AF65-F5344CB8AC3E}">
        <p14:creationId xmlns:p14="http://schemas.microsoft.com/office/powerpoint/2010/main" val="38607521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AA0CD7-D5F5-EC00-9D5F-63AAADAD6502}"/>
              </a:ext>
            </a:extLst>
          </p:cNvPr>
          <p:cNvSpPr>
            <a:spLocks noGrp="1"/>
          </p:cNvSpPr>
          <p:nvPr>
            <p:ph sz="quarter" idx="4"/>
          </p:nvPr>
        </p:nvSpPr>
        <p:spPr>
          <a:xfrm>
            <a:off x="914400" y="625151"/>
            <a:ext cx="10511627" cy="5639473"/>
          </a:xfrm>
        </p:spPr>
        <p:txBody>
          <a:bodyPr/>
          <a:lstStyle/>
          <a:p>
            <a:pPr marL="0" marR="0">
              <a:lnSpc>
                <a:spcPct val="115000"/>
              </a:lnSpc>
              <a:spcAft>
                <a:spcPts val="800"/>
              </a:spcAft>
              <a:buNone/>
            </a:pPr>
            <a:r>
              <a:rPr lang="tr-TR" sz="2400" b="1" kern="100" dirty="0">
                <a:latin typeface="Calibri" panose="020F0502020204030204" pitchFamily="34" charset="0"/>
                <a:ea typeface="Calibri" panose="020F0502020204030204" pitchFamily="34" charset="0"/>
                <a:cs typeface="Times New Roman" panose="02020603050405020304" pitchFamily="18" charset="0"/>
              </a:rPr>
              <a:t>B.</a:t>
            </a:r>
            <a:r>
              <a:rPr lang="en-US" sz="24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2400" b="1" kern="100" dirty="0" err="1">
                <a:effectLst/>
                <a:latin typeface="Calibri" panose="020F0502020204030204" pitchFamily="34" charset="0"/>
                <a:ea typeface="Calibri" panose="020F0502020204030204" pitchFamily="34" charset="0"/>
                <a:cs typeface="Times New Roman" panose="02020603050405020304" pitchFamily="18" charset="0"/>
              </a:rPr>
              <a:t>Eğitim</a:t>
            </a:r>
            <a:r>
              <a:rPr lang="en-US" sz="24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2400" b="1" kern="100" dirty="0" err="1">
                <a:effectLst/>
                <a:latin typeface="Calibri" panose="020F0502020204030204" pitchFamily="34" charset="0"/>
                <a:ea typeface="Calibri" panose="020F0502020204030204" pitchFamily="34" charset="0"/>
                <a:cs typeface="Times New Roman" panose="02020603050405020304" pitchFamily="18" charset="0"/>
              </a:rPr>
              <a:t>Kurumu</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Eğitim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toplumun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kültürel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moral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değerlerini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yeni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kuşaklara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aktaran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kurumdur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Durkheim: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Eğitim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toplumsal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dayanışmayı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ahlaki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bütünlüğü</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sağlar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Illich:</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Eğitim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sistemi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bireyi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kalıplara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sokar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yaratıcılığı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sınırlandırır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Kıbrıs</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ve</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Türkiye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örneği</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Eğitim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toplumsal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hareketliliği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artıran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araçtır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ancak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fırsat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eşitsizlikleri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devam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etmektedir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endParaRPr lang="en-US" dirty="0"/>
          </a:p>
        </p:txBody>
      </p:sp>
      <p:sp>
        <p:nvSpPr>
          <p:cNvPr id="4" name="Slide Number Placeholder 3">
            <a:extLst>
              <a:ext uri="{FF2B5EF4-FFF2-40B4-BE49-F238E27FC236}">
                <a16:creationId xmlns:a16="http://schemas.microsoft.com/office/drawing/2014/main" id="{DB3F428F-414B-0972-DCE2-E7E02CDA16A4}"/>
              </a:ext>
            </a:extLst>
          </p:cNvPr>
          <p:cNvSpPr>
            <a:spLocks noGrp="1"/>
          </p:cNvSpPr>
          <p:nvPr>
            <p:ph type="sldNum" sz="quarter" idx="10"/>
          </p:nvPr>
        </p:nvSpPr>
        <p:spPr/>
        <p:txBody>
          <a:bodyPr/>
          <a:lstStyle/>
          <a:p>
            <a:fld id="{48F63A3B-78C7-47BE-AE5E-E10140E04643}" type="slidenum">
              <a:rPr lang="en-US" smtClean="0"/>
              <a:pPr/>
              <a:t>37</a:t>
            </a:fld>
            <a:endParaRPr lang="en-US" dirty="0"/>
          </a:p>
        </p:txBody>
      </p:sp>
    </p:spTree>
    <p:extLst>
      <p:ext uri="{BB962C8B-B14F-4D97-AF65-F5344CB8AC3E}">
        <p14:creationId xmlns:p14="http://schemas.microsoft.com/office/powerpoint/2010/main" val="42602029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09F4BD-F315-CB6A-7563-34C08D9223DA}"/>
              </a:ext>
            </a:extLst>
          </p:cNvPr>
          <p:cNvSpPr>
            <a:spLocks noGrp="1"/>
          </p:cNvSpPr>
          <p:nvPr>
            <p:ph sz="quarter" idx="4"/>
          </p:nvPr>
        </p:nvSpPr>
        <p:spPr>
          <a:xfrm>
            <a:off x="914400" y="709127"/>
            <a:ext cx="10511627" cy="5555497"/>
          </a:xfrm>
        </p:spPr>
        <p:txBody>
          <a:bodyPr/>
          <a:lstStyle/>
          <a:p>
            <a:pPr marL="0" marR="0">
              <a:lnSpc>
                <a:spcPct val="115000"/>
              </a:lnSpc>
              <a:spcAft>
                <a:spcPts val="800"/>
              </a:spcAft>
              <a:buNone/>
            </a:pPr>
            <a:r>
              <a:rPr lang="tr-TR" b="1" kern="100" dirty="0">
                <a:latin typeface="Calibri" panose="020F0502020204030204" pitchFamily="34" charset="0"/>
                <a:ea typeface="Calibri" panose="020F0502020204030204" pitchFamily="34" charset="0"/>
                <a:cs typeface="Times New Roman" panose="02020603050405020304" pitchFamily="18" charset="0"/>
              </a:rPr>
              <a:t>C.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Din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Kurumu</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Din,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toplumun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manevi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yaşamını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düzenleyen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kurumdur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İşlevleri</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Ahlaki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değerlerin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korunması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toplumsal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dayanışma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umut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anlam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sağlama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Durkheim: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Dini,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toplumsal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birliğin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simgesi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olarak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görür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Örnek: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Kıbrıs’ta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bayramlar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cenaze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törenleri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ibadetler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sosyal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bütünleşmeyi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güçlendirir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endParaRPr lang="en-US" dirty="0"/>
          </a:p>
        </p:txBody>
      </p:sp>
      <p:sp>
        <p:nvSpPr>
          <p:cNvPr id="4" name="Slide Number Placeholder 3">
            <a:extLst>
              <a:ext uri="{FF2B5EF4-FFF2-40B4-BE49-F238E27FC236}">
                <a16:creationId xmlns:a16="http://schemas.microsoft.com/office/drawing/2014/main" id="{51336295-2AAC-1196-F8C7-1DE77F14781E}"/>
              </a:ext>
            </a:extLst>
          </p:cNvPr>
          <p:cNvSpPr>
            <a:spLocks noGrp="1"/>
          </p:cNvSpPr>
          <p:nvPr>
            <p:ph type="sldNum" sz="quarter" idx="10"/>
          </p:nvPr>
        </p:nvSpPr>
        <p:spPr/>
        <p:txBody>
          <a:bodyPr/>
          <a:lstStyle/>
          <a:p>
            <a:fld id="{48F63A3B-78C7-47BE-AE5E-E10140E04643}" type="slidenum">
              <a:rPr lang="en-US" smtClean="0"/>
              <a:pPr/>
              <a:t>38</a:t>
            </a:fld>
            <a:endParaRPr lang="en-US" dirty="0"/>
          </a:p>
        </p:txBody>
      </p:sp>
    </p:spTree>
    <p:extLst>
      <p:ext uri="{BB962C8B-B14F-4D97-AF65-F5344CB8AC3E}">
        <p14:creationId xmlns:p14="http://schemas.microsoft.com/office/powerpoint/2010/main" val="6281558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328FF6-5429-8981-B0AB-2FA573ADAF8D}"/>
              </a:ext>
            </a:extLst>
          </p:cNvPr>
          <p:cNvSpPr>
            <a:spLocks noGrp="1"/>
          </p:cNvSpPr>
          <p:nvPr>
            <p:ph sz="quarter" idx="4"/>
          </p:nvPr>
        </p:nvSpPr>
        <p:spPr>
          <a:xfrm>
            <a:off x="914400" y="657225"/>
            <a:ext cx="10511627" cy="5607399"/>
          </a:xfrm>
        </p:spPr>
        <p:txBody>
          <a:bodyPr/>
          <a:lstStyle/>
          <a:p>
            <a:pPr marL="0" marR="0">
              <a:lnSpc>
                <a:spcPct val="115000"/>
              </a:lnSpc>
              <a:spcAft>
                <a:spcPts val="800"/>
              </a:spcAf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D. Ekonomi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Kurumu</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Toplumun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üretim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dağıtım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tüketim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faaliyetlerini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düzenler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İşlevi</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Maddi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ihtiyaçların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karşılanması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Sosyolojik</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bakış</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Ekonomik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sistem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toplumsal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yapıyı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belirler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(Marx).</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Güncel</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durum: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Dijital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ekonomi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serbest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çalışma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biçimleri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kadın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istihdamı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endParaRPr lang="en-US" dirty="0"/>
          </a:p>
        </p:txBody>
      </p:sp>
      <p:sp>
        <p:nvSpPr>
          <p:cNvPr id="4" name="Slide Number Placeholder 3">
            <a:extLst>
              <a:ext uri="{FF2B5EF4-FFF2-40B4-BE49-F238E27FC236}">
                <a16:creationId xmlns:a16="http://schemas.microsoft.com/office/drawing/2014/main" id="{C7F7E231-E936-D24E-49DE-5DD42C81C706}"/>
              </a:ext>
            </a:extLst>
          </p:cNvPr>
          <p:cNvSpPr>
            <a:spLocks noGrp="1"/>
          </p:cNvSpPr>
          <p:nvPr>
            <p:ph type="sldNum" sz="quarter" idx="10"/>
          </p:nvPr>
        </p:nvSpPr>
        <p:spPr/>
        <p:txBody>
          <a:bodyPr/>
          <a:lstStyle/>
          <a:p>
            <a:fld id="{48F63A3B-78C7-47BE-AE5E-E10140E04643}" type="slidenum">
              <a:rPr lang="en-US" smtClean="0"/>
              <a:pPr/>
              <a:t>39</a:t>
            </a:fld>
            <a:endParaRPr lang="en-US" dirty="0"/>
          </a:p>
        </p:txBody>
      </p:sp>
    </p:spTree>
    <p:extLst>
      <p:ext uri="{BB962C8B-B14F-4D97-AF65-F5344CB8AC3E}">
        <p14:creationId xmlns:p14="http://schemas.microsoft.com/office/powerpoint/2010/main" val="7334262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A29F90-1944-DC76-0B09-1334D5392B74}"/>
              </a:ext>
            </a:extLst>
          </p:cNvPr>
          <p:cNvSpPr>
            <a:spLocks noGrp="1"/>
          </p:cNvSpPr>
          <p:nvPr>
            <p:ph sz="quarter" idx="4"/>
          </p:nvPr>
        </p:nvSpPr>
        <p:spPr>
          <a:xfrm>
            <a:off x="914400" y="928689"/>
            <a:ext cx="10511627" cy="5335936"/>
          </a:xfrm>
        </p:spPr>
        <p:txBody>
          <a:bodyPr/>
          <a:lstStyle/>
          <a:p>
            <a:pPr marL="0" marR="0">
              <a:lnSpc>
                <a:spcPct val="115000"/>
              </a:lnSpc>
              <a:spcAft>
                <a:spcPts val="800"/>
              </a:spcAf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E.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Siyaset</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Kurumu</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Toplumun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yönetim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biçimini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belirleyen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kurumdur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İşlevi</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Gücün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dağıtımını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toplumsal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düzenin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sürdürülmesini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sağlar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Sosyolojik</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bakış</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Weber’e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göre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siyaset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meşru</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güç</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kullanımıdır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a:buNone/>
            </a:pPr>
            <a:r>
              <a:rPr lang="en-US" sz="1800" b="1" dirty="0" err="1">
                <a:effectLst/>
                <a:latin typeface="Calibri" panose="020F0502020204030204" pitchFamily="34" charset="0"/>
                <a:ea typeface="Calibri" panose="020F0502020204030204" pitchFamily="34" charset="0"/>
                <a:cs typeface="Times New Roman" panose="02020603050405020304" pitchFamily="18" charset="0"/>
              </a:rPr>
              <a:t>Kıbrıs</a:t>
            </a:r>
            <a:r>
              <a:rPr lang="en-US" sz="1800" b="1"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dirty="0" err="1">
                <a:effectLst/>
                <a:latin typeface="Calibri" panose="020F0502020204030204" pitchFamily="34" charset="0"/>
                <a:ea typeface="Calibri" panose="020F0502020204030204" pitchFamily="34" charset="0"/>
                <a:cs typeface="Times New Roman" panose="02020603050405020304" pitchFamily="18" charset="0"/>
              </a:rPr>
              <a:t>örneği</a:t>
            </a:r>
            <a:r>
              <a:rPr lang="en-US" sz="1800" b="1" dirty="0">
                <a:effectLst/>
                <a:latin typeface="Calibri" panose="020F0502020204030204" pitchFamily="34" charset="0"/>
                <a:ea typeface="Calibri" panose="020F0502020204030204" pitchFamily="34" charset="0"/>
                <a:cs typeface="Times New Roman" panose="02020603050405020304" pitchFamily="18" charset="0"/>
              </a:rPr>
              <a:t>:</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Yerel</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yönetim</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ve</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toplumsal</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katılım</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kültürü</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gelişmektedir</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en-US" dirty="0"/>
          </a:p>
        </p:txBody>
      </p:sp>
      <p:sp>
        <p:nvSpPr>
          <p:cNvPr id="4" name="Slide Number Placeholder 3">
            <a:extLst>
              <a:ext uri="{FF2B5EF4-FFF2-40B4-BE49-F238E27FC236}">
                <a16:creationId xmlns:a16="http://schemas.microsoft.com/office/drawing/2014/main" id="{2541E2BA-082A-FF52-F9DF-0DF354B24DDA}"/>
              </a:ext>
            </a:extLst>
          </p:cNvPr>
          <p:cNvSpPr>
            <a:spLocks noGrp="1"/>
          </p:cNvSpPr>
          <p:nvPr>
            <p:ph type="sldNum" sz="quarter" idx="10"/>
          </p:nvPr>
        </p:nvSpPr>
        <p:spPr/>
        <p:txBody>
          <a:bodyPr/>
          <a:lstStyle/>
          <a:p>
            <a:fld id="{48F63A3B-78C7-47BE-AE5E-E10140E04643}" type="slidenum">
              <a:rPr lang="en-US" smtClean="0"/>
              <a:pPr/>
              <a:t>40</a:t>
            </a:fld>
            <a:endParaRPr lang="en-US" dirty="0"/>
          </a:p>
        </p:txBody>
      </p:sp>
    </p:spTree>
    <p:extLst>
      <p:ext uri="{BB962C8B-B14F-4D97-AF65-F5344CB8AC3E}">
        <p14:creationId xmlns:p14="http://schemas.microsoft.com/office/powerpoint/2010/main" val="7845865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BD9A0C-2173-0D84-3A77-C15AA010BAFD}"/>
              </a:ext>
            </a:extLst>
          </p:cNvPr>
          <p:cNvSpPr>
            <a:spLocks noGrp="1"/>
          </p:cNvSpPr>
          <p:nvPr>
            <p:ph sz="quarter" idx="4"/>
          </p:nvPr>
        </p:nvSpPr>
        <p:spPr>
          <a:xfrm>
            <a:off x="914400" y="858417"/>
            <a:ext cx="10511627" cy="5406208"/>
          </a:xfrm>
        </p:spPr>
        <p:txBody>
          <a:bodyPr/>
          <a:lstStyle/>
          <a:p>
            <a:pPr marL="0" marR="0">
              <a:lnSpc>
                <a:spcPct val="115000"/>
              </a:lnSpc>
              <a:spcAft>
                <a:spcPts val="800"/>
              </a:spcAf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Sosyal</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Kurumların</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Etkileşimi</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Hiçbir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diğerinden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bağımsız</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değildir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Eğitim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sistemi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ekonomik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koşullardan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aile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yapısı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kültürel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değerlerden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etkilenir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Örneğin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Eğitimde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fırsat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eşitliği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ekonomik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kurumun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gücüyle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ilişkilidir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Ailedeki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değerler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dini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kurumun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etkisiyle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şekillenir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Siyaset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eğitim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politikalarını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belirler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15000"/>
              </a:lnSpc>
              <a:spcAft>
                <a:spcPts val="800"/>
              </a:spcAf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Durkheim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kurumların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arada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toplumun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organik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bütün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oluşturduğunu</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söyler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Bu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bütünlük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bozulduğunda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toplumsal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çatışmalar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artar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endParaRPr lang="en-US" dirty="0"/>
          </a:p>
        </p:txBody>
      </p:sp>
      <p:sp>
        <p:nvSpPr>
          <p:cNvPr id="4" name="Slide Number Placeholder 3">
            <a:extLst>
              <a:ext uri="{FF2B5EF4-FFF2-40B4-BE49-F238E27FC236}">
                <a16:creationId xmlns:a16="http://schemas.microsoft.com/office/drawing/2014/main" id="{FB08D0F8-8732-F713-1AAC-7668EFE50426}"/>
              </a:ext>
            </a:extLst>
          </p:cNvPr>
          <p:cNvSpPr>
            <a:spLocks noGrp="1"/>
          </p:cNvSpPr>
          <p:nvPr>
            <p:ph type="sldNum" sz="quarter" idx="10"/>
          </p:nvPr>
        </p:nvSpPr>
        <p:spPr/>
        <p:txBody>
          <a:bodyPr/>
          <a:lstStyle/>
          <a:p>
            <a:fld id="{48F63A3B-78C7-47BE-AE5E-E10140E04643}" type="slidenum">
              <a:rPr lang="en-US" smtClean="0"/>
              <a:pPr/>
              <a:t>41</a:t>
            </a:fld>
            <a:endParaRPr lang="en-US" dirty="0"/>
          </a:p>
        </p:txBody>
      </p:sp>
    </p:spTree>
    <p:extLst>
      <p:ext uri="{BB962C8B-B14F-4D97-AF65-F5344CB8AC3E}">
        <p14:creationId xmlns:p14="http://schemas.microsoft.com/office/powerpoint/2010/main" val="15363909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C05244-CC8F-ECD6-2BA8-C831E4392B0B}"/>
              </a:ext>
            </a:extLst>
          </p:cNvPr>
          <p:cNvSpPr>
            <a:spLocks noGrp="1"/>
          </p:cNvSpPr>
          <p:nvPr>
            <p:ph sz="quarter" idx="4"/>
          </p:nvPr>
        </p:nvSpPr>
        <p:spPr>
          <a:xfrm>
            <a:off x="914400" y="457199"/>
            <a:ext cx="10511627" cy="5807425"/>
          </a:xfrm>
        </p:spPr>
        <p:txBody>
          <a:bodyPr/>
          <a:lstStyle/>
          <a:p>
            <a:pPr marL="0" marR="0">
              <a:lnSpc>
                <a:spcPct val="115000"/>
              </a:lnSpc>
              <a:spcAft>
                <a:spcPts val="800"/>
              </a:spcAft>
              <a:buNone/>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Güncel</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Örnek: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Pandemi</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Döneminde</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Kurumların</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Dönüşümü</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2020’de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yaşanan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COVID-19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pandemisi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kurumların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işleyişini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köklü</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biçimde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değiştirdi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Eğitim</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Çevrim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içi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ortama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taşındı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dijital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eşitsizlikler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ortaya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çıktı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Aile: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Ev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içi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roller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değişti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özellikle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kadınlar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üzerinde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duygusal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fiziksel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yük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arttı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Ekonomi: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Küçük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işletmeler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zorlandı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dijital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ticaret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gelişti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Din: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ibadetler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sınırlandı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bireysel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maneviyat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ön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plana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çıktı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Siyaset</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Kriz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yönetimi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sağlık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politikaları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toplumsal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güveni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etkiledi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Bu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süreç</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kurumların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birbirine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ne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kadar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bağlı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olduğunu</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göstermiştir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endParaRPr lang="en-US" dirty="0"/>
          </a:p>
        </p:txBody>
      </p:sp>
      <p:sp>
        <p:nvSpPr>
          <p:cNvPr id="4" name="Slide Number Placeholder 3">
            <a:extLst>
              <a:ext uri="{FF2B5EF4-FFF2-40B4-BE49-F238E27FC236}">
                <a16:creationId xmlns:a16="http://schemas.microsoft.com/office/drawing/2014/main" id="{1A8F4727-7767-3683-6551-CD9FA7E6768A}"/>
              </a:ext>
            </a:extLst>
          </p:cNvPr>
          <p:cNvSpPr>
            <a:spLocks noGrp="1"/>
          </p:cNvSpPr>
          <p:nvPr>
            <p:ph type="sldNum" sz="quarter" idx="10"/>
          </p:nvPr>
        </p:nvSpPr>
        <p:spPr/>
        <p:txBody>
          <a:bodyPr/>
          <a:lstStyle/>
          <a:p>
            <a:fld id="{48F63A3B-78C7-47BE-AE5E-E10140E04643}" type="slidenum">
              <a:rPr lang="en-US" smtClean="0"/>
              <a:pPr/>
              <a:t>42</a:t>
            </a:fld>
            <a:endParaRPr lang="en-US" dirty="0"/>
          </a:p>
        </p:txBody>
      </p:sp>
    </p:spTree>
    <p:extLst>
      <p:ext uri="{BB962C8B-B14F-4D97-AF65-F5344CB8AC3E}">
        <p14:creationId xmlns:p14="http://schemas.microsoft.com/office/powerpoint/2010/main" val="6588571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8A3AC6-5D3B-D923-140B-6FD0136BE296}"/>
              </a:ext>
            </a:extLst>
          </p:cNvPr>
          <p:cNvSpPr>
            <a:spLocks noGrp="1"/>
          </p:cNvSpPr>
          <p:nvPr>
            <p:ph sz="quarter" idx="4"/>
          </p:nvPr>
        </p:nvSpPr>
        <p:spPr>
          <a:xfrm>
            <a:off x="914400" y="858417"/>
            <a:ext cx="10511627" cy="5406208"/>
          </a:xfrm>
        </p:spPr>
        <p:txBody>
          <a:bodyPr/>
          <a:lstStyle/>
          <a:p>
            <a:pPr marL="0" marR="0">
              <a:lnSpc>
                <a:spcPct val="115000"/>
              </a:lnSpc>
              <a:spcAft>
                <a:spcPts val="800"/>
              </a:spcAft>
              <a:buNone/>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Kıbrıs</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ve</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Türkiye’de</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Kurumsal</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Dönüşüm</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Kıbrıs</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Turizm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üniversiteler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göç</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olgusu</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toplumsal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yapıyı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dönüştürmektedir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Aile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kurumu</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geniş</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aileden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çekirdek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aileye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geçiştedir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Eğitim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kurumları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uluslararasılaşmıştır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15000"/>
              </a:lnSpc>
              <a:spcAft>
                <a:spcPts val="800"/>
              </a:spcAf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Türkiye:</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Son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yıllarda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dijitalleşme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ekonomi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eğitim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kurumlarını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yeniden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şekillendirmiştir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Kadınların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iş</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gücüne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katılımı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artarken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toplumsal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cinsiyet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eşitliği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hâlâ</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tartışma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konusudur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0" marR="0" algn="ctr">
              <a:lnSpc>
                <a:spcPct val="115000"/>
              </a:lnSpc>
              <a:spcAft>
                <a:spcPts val="800"/>
              </a:spcAft>
              <a:buNone/>
            </a:pP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88205711-5481-5BA1-7761-A4C904606BF4}"/>
              </a:ext>
            </a:extLst>
          </p:cNvPr>
          <p:cNvSpPr>
            <a:spLocks noGrp="1"/>
          </p:cNvSpPr>
          <p:nvPr>
            <p:ph type="sldNum" sz="quarter" idx="10"/>
          </p:nvPr>
        </p:nvSpPr>
        <p:spPr/>
        <p:txBody>
          <a:bodyPr/>
          <a:lstStyle/>
          <a:p>
            <a:fld id="{48F63A3B-78C7-47BE-AE5E-E10140E04643}" type="slidenum">
              <a:rPr lang="en-US" smtClean="0"/>
              <a:pPr/>
              <a:t>43</a:t>
            </a:fld>
            <a:endParaRPr lang="en-US" dirty="0"/>
          </a:p>
        </p:txBody>
      </p:sp>
    </p:spTree>
    <p:extLst>
      <p:ext uri="{BB962C8B-B14F-4D97-AF65-F5344CB8AC3E}">
        <p14:creationId xmlns:p14="http://schemas.microsoft.com/office/powerpoint/2010/main" val="27013837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2FE2B6-CA84-87DD-BB75-532088A3B7D1}"/>
              </a:ext>
            </a:extLst>
          </p:cNvPr>
          <p:cNvSpPr>
            <a:spLocks noGrp="1"/>
          </p:cNvSpPr>
          <p:nvPr>
            <p:ph sz="quarter" idx="4"/>
          </p:nvPr>
        </p:nvSpPr>
        <p:spPr>
          <a:xfrm>
            <a:off x="914400" y="662473"/>
            <a:ext cx="10511627" cy="5602151"/>
          </a:xfrm>
        </p:spPr>
        <p:txBody>
          <a:bodyPr/>
          <a:lstStyle/>
          <a:p>
            <a:pPr marL="0" marR="0">
              <a:lnSpc>
                <a:spcPct val="115000"/>
              </a:lnSpc>
              <a:spcAft>
                <a:spcPts val="800"/>
              </a:spcAf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Sosyal</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Kurumların</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Krizleri</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Her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zaman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zaman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işlev</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bozuklukları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yaşayabilir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Ailede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boşanma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oranlarının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artması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iletişimsizlik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Eğitimde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fırsat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eşitsizlikleri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nitelik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farklılıkları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Ekonomide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işsizlik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gelir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adaletsizliği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Dinde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biçimsel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bağlılığın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artması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manevi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derinliğin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azalması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Siyasette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güven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erozyonu</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15000"/>
              </a:lnSpc>
              <a:spcAft>
                <a:spcPts val="800"/>
              </a:spcAft>
              <a:buNone/>
            </a:pP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Sosyoloji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bu</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krizleri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anlamak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çözüm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üretmek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için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kurumların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işlevlerini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analiz</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eder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0" marR="0" algn="ctr">
              <a:lnSpc>
                <a:spcPct val="115000"/>
              </a:lnSpc>
              <a:spcAft>
                <a:spcPts val="800"/>
              </a:spcAft>
              <a:buNone/>
            </a:pP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BA600AA9-D51A-D20E-7CF1-F103FB2770DD}"/>
              </a:ext>
            </a:extLst>
          </p:cNvPr>
          <p:cNvSpPr>
            <a:spLocks noGrp="1"/>
          </p:cNvSpPr>
          <p:nvPr>
            <p:ph type="sldNum" sz="quarter" idx="10"/>
          </p:nvPr>
        </p:nvSpPr>
        <p:spPr/>
        <p:txBody>
          <a:bodyPr/>
          <a:lstStyle/>
          <a:p>
            <a:fld id="{48F63A3B-78C7-47BE-AE5E-E10140E04643}" type="slidenum">
              <a:rPr lang="en-US" smtClean="0"/>
              <a:pPr/>
              <a:t>44</a:t>
            </a:fld>
            <a:endParaRPr lang="en-US" dirty="0"/>
          </a:p>
        </p:txBody>
      </p:sp>
    </p:spTree>
    <p:extLst>
      <p:ext uri="{BB962C8B-B14F-4D97-AF65-F5344CB8AC3E}">
        <p14:creationId xmlns:p14="http://schemas.microsoft.com/office/powerpoint/2010/main" val="11864148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B9B2FE-3630-4427-F355-FE85C56A4D95}"/>
              </a:ext>
            </a:extLst>
          </p:cNvPr>
          <p:cNvSpPr>
            <a:spLocks noGrp="1"/>
          </p:cNvSpPr>
          <p:nvPr>
            <p:ph sz="quarter" idx="4"/>
          </p:nvPr>
        </p:nvSpPr>
        <p:spPr>
          <a:xfrm>
            <a:off x="914400" y="774441"/>
            <a:ext cx="10511627" cy="5490183"/>
          </a:xfrm>
        </p:spPr>
        <p:txBody>
          <a:bodyPr/>
          <a:lstStyle/>
          <a:p>
            <a:pPr marL="0" marR="0">
              <a:lnSpc>
                <a:spcPct val="115000"/>
              </a:lnSpc>
              <a:spcAft>
                <a:spcPts val="800"/>
              </a:spcAf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Sonuç</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Sosyal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kurumlar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toplumun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sürekliliğini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sağlayan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en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temel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yapılardır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Her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kurumun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kendine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özgü</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işlevi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vardır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ancak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tümü</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birlikte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toplumsal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dengenin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kurulmasına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katkıda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bulunur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Kurumlar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kültürel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değerlerin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taşıyıcısıdır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aynı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zamanda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toplumsal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değişimin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de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öncüsüdür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15000"/>
              </a:lnSpc>
              <a:spcAft>
                <a:spcPts val="800"/>
              </a:spcAft>
              <a:buNone/>
            </a:pP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Durkheim’ın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ifadesiyle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“Bir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kurumun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işlevini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anlamak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toplumun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kalbini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anlamaktır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Bu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nedenle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sosyolojik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bakış</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açısı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yalnızca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kurumların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varlığını</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değil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onların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nasıl</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işlediğini</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ve</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nasıl</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değiştiğini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de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inceler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Kurumlar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toplumu</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ayakta</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tutan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köklerdir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ama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bazen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yeni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dallar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vermek</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için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yeniden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şekillenmeleri</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gerekir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 </a:t>
            </a:r>
            <a:r>
              <a:rPr lang="en-US" sz="1800" i="1" kern="100" dirty="0" err="1">
                <a:effectLst/>
                <a:latin typeface="Calibri" panose="020F0502020204030204" pitchFamily="34" charset="0"/>
                <a:ea typeface="Calibri" panose="020F0502020204030204" pitchFamily="34" charset="0"/>
                <a:cs typeface="Times New Roman" panose="02020603050405020304" pitchFamily="18" charset="0"/>
              </a:rPr>
              <a:t>Yrd</a:t>
            </a:r>
            <a:r>
              <a:rPr lang="en-US" sz="1800" i="1"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i="1" kern="100" dirty="0" err="1">
                <a:effectLst/>
                <a:latin typeface="Calibri" panose="020F0502020204030204" pitchFamily="34" charset="0"/>
                <a:ea typeface="Calibri" panose="020F0502020204030204" pitchFamily="34" charset="0"/>
                <a:cs typeface="Times New Roman" panose="02020603050405020304" pitchFamily="18" charset="0"/>
              </a:rPr>
              <a:t>Doç</a:t>
            </a:r>
            <a:r>
              <a:rPr lang="en-US" sz="1800" i="1" kern="100" dirty="0">
                <a:effectLst/>
                <a:latin typeface="Calibri" panose="020F0502020204030204" pitchFamily="34" charset="0"/>
                <a:ea typeface="Calibri" panose="020F0502020204030204" pitchFamily="34" charset="0"/>
                <a:cs typeface="Times New Roman" panose="02020603050405020304" pitchFamily="18" charset="0"/>
              </a:rPr>
              <a:t>. Dr. Sibel </a:t>
            </a:r>
            <a:r>
              <a:rPr lang="en-US" sz="1800" i="1" kern="100" dirty="0" err="1">
                <a:effectLst/>
                <a:latin typeface="Calibri" panose="020F0502020204030204" pitchFamily="34" charset="0"/>
                <a:ea typeface="Calibri" panose="020F0502020204030204" pitchFamily="34" charset="0"/>
                <a:cs typeface="Times New Roman" panose="02020603050405020304" pitchFamily="18" charset="0"/>
              </a:rPr>
              <a:t>Solyalı</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299AA992-5C28-AEBD-354A-BEA84F7D310D}"/>
              </a:ext>
            </a:extLst>
          </p:cNvPr>
          <p:cNvSpPr>
            <a:spLocks noGrp="1"/>
          </p:cNvSpPr>
          <p:nvPr>
            <p:ph type="sldNum" sz="quarter" idx="10"/>
          </p:nvPr>
        </p:nvSpPr>
        <p:spPr/>
        <p:txBody>
          <a:bodyPr/>
          <a:lstStyle/>
          <a:p>
            <a:fld id="{48F63A3B-78C7-47BE-AE5E-E10140E04643}" type="slidenum">
              <a:rPr lang="en-US" smtClean="0"/>
              <a:pPr/>
              <a:t>45</a:t>
            </a:fld>
            <a:endParaRPr lang="en-US" dirty="0"/>
          </a:p>
        </p:txBody>
      </p:sp>
    </p:spTree>
    <p:extLst>
      <p:ext uri="{BB962C8B-B14F-4D97-AF65-F5344CB8AC3E}">
        <p14:creationId xmlns:p14="http://schemas.microsoft.com/office/powerpoint/2010/main" val="34443251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F7A0FC-1C89-D04A-20D7-22D5E10BF6F6}"/>
              </a:ext>
            </a:extLst>
          </p:cNvPr>
          <p:cNvSpPr>
            <a:spLocks noGrp="1"/>
          </p:cNvSpPr>
          <p:nvPr>
            <p:ph sz="quarter" idx="4"/>
          </p:nvPr>
        </p:nvSpPr>
        <p:spPr>
          <a:xfrm>
            <a:off x="914400" y="718457"/>
            <a:ext cx="10511627" cy="5546167"/>
          </a:xfrm>
        </p:spPr>
        <p:txBody>
          <a:bodyPr/>
          <a:lstStyle/>
          <a:p>
            <a:pPr marL="0" marR="0">
              <a:lnSpc>
                <a:spcPct val="115000"/>
              </a:lnSpc>
              <a:spcAft>
                <a:spcPts val="800"/>
              </a:spcAft>
              <a:buNone/>
            </a:pPr>
            <a:r>
              <a:rPr lang="en-US" sz="2800" b="1" kern="0" dirty="0">
                <a:effectLst/>
                <a:latin typeface="Times New Roman" panose="02020603050405020304" pitchFamily="18" charset="0"/>
                <a:ea typeface="Times New Roman" panose="02020603050405020304" pitchFamily="18" charset="0"/>
                <a:cs typeface="Times New Roman" panose="02020603050405020304" pitchFamily="18" charset="0"/>
              </a:rPr>
              <a:t>EĞİTİM KURUMU VE SOSYAL DEĞİŞİM</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Eğitimin</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Sosyolojik</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Önemi</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bilgilerini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becerilerini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kültürünü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yeni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kuşaklara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aktaran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kurumdur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Sosyoloji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açısından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yalnızca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bilgi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edinme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süreci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bütünleşmenin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aktarımının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kimlik</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inşasının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güçlü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aracıdır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Durkheim (1956)</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sistemini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moral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düzenini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koruyan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olarak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tanımlar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Ona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uyumlu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hale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getirir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kolektif</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bilincin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sürmesini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sağlar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Illich (2021)</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ise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görüşe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eleştirel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yaklaşır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okulun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özgürleştirmek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yerine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sistemin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parçası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haline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getirdiğini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savunur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hem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devamlılık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hem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açısından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merkezi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rol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oynar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1D40995E-A449-4213-E177-852FF6C2CE15}"/>
              </a:ext>
            </a:extLst>
          </p:cNvPr>
          <p:cNvSpPr>
            <a:spLocks noGrp="1"/>
          </p:cNvSpPr>
          <p:nvPr>
            <p:ph type="sldNum" sz="quarter" idx="10"/>
          </p:nvPr>
        </p:nvSpPr>
        <p:spPr/>
        <p:txBody>
          <a:bodyPr/>
          <a:lstStyle/>
          <a:p>
            <a:fld id="{48F63A3B-78C7-47BE-AE5E-E10140E04643}" type="slidenum">
              <a:rPr lang="en-US" smtClean="0"/>
              <a:pPr/>
              <a:t>46</a:t>
            </a:fld>
            <a:endParaRPr lang="en-US" dirty="0"/>
          </a:p>
        </p:txBody>
      </p:sp>
    </p:spTree>
    <p:extLst>
      <p:ext uri="{BB962C8B-B14F-4D97-AF65-F5344CB8AC3E}">
        <p14:creationId xmlns:p14="http://schemas.microsoft.com/office/powerpoint/2010/main" val="7359788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5571C1D-98EE-9057-FDD0-1C5049E0123C}"/>
              </a:ext>
            </a:extLst>
          </p:cNvPr>
          <p:cNvSpPr>
            <a:spLocks noGrp="1"/>
          </p:cNvSpPr>
          <p:nvPr>
            <p:ph type="sldNum" sz="quarter" idx="10"/>
          </p:nvPr>
        </p:nvSpPr>
        <p:spPr/>
        <p:txBody>
          <a:bodyPr/>
          <a:lstStyle/>
          <a:p>
            <a:fld id="{48F63A3B-78C7-47BE-AE5E-E10140E04643}" type="slidenum">
              <a:rPr lang="en-US" smtClean="0"/>
              <a:pPr/>
              <a:t>47</a:t>
            </a:fld>
            <a:endParaRPr lang="en-US" dirty="0"/>
          </a:p>
        </p:txBody>
      </p:sp>
      <p:pic>
        <p:nvPicPr>
          <p:cNvPr id="3074" name="Picture 2" descr="Toplumsal Kurumlar: Eğitim Kurumu | Felsefe hakkında her şey...">
            <a:extLst>
              <a:ext uri="{FF2B5EF4-FFF2-40B4-BE49-F238E27FC236}">
                <a16:creationId xmlns:a16="http://schemas.microsoft.com/office/drawing/2014/main" id="{21E5A443-EB8B-B551-74BE-D59E3EDF9A5D}"/>
              </a:ext>
            </a:extLst>
          </p:cNvPr>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1007706" y="1063689"/>
            <a:ext cx="9797143" cy="5113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72185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331833-4A33-7468-B3CF-80A68EE39490}"/>
              </a:ext>
            </a:extLst>
          </p:cNvPr>
          <p:cNvSpPr>
            <a:spLocks noGrp="1"/>
          </p:cNvSpPr>
          <p:nvPr>
            <p:ph sz="quarter" idx="4"/>
          </p:nvPr>
        </p:nvSpPr>
        <p:spPr>
          <a:xfrm>
            <a:off x="914400" y="457199"/>
            <a:ext cx="10511627" cy="6316825"/>
          </a:xfrm>
        </p:spPr>
        <p:txBody>
          <a:bodyPr>
            <a:normAutofit fontScale="47500" lnSpcReduction="20000"/>
          </a:bodyPr>
          <a:lstStyle/>
          <a:p>
            <a:pPr marL="0" marR="0">
              <a:lnSpc>
                <a:spcPct val="115000"/>
              </a:lnSpc>
              <a:spcAft>
                <a:spcPts val="800"/>
              </a:spcAft>
              <a:buNone/>
            </a:pPr>
            <a:r>
              <a:rPr lang="tr-TR" sz="51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51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Eğitimin</a:t>
            </a:r>
            <a:r>
              <a:rPr lang="en-US" sz="5100" b="1" kern="0" dirty="0">
                <a:effectLst/>
                <a:latin typeface="Times New Roman" panose="02020603050405020304" pitchFamily="18" charset="0"/>
                <a:ea typeface="Times New Roman" panose="02020603050405020304" pitchFamily="18" charset="0"/>
                <a:cs typeface="Times New Roman" panose="02020603050405020304" pitchFamily="18" charset="0"/>
              </a:rPr>
              <a:t> Temel </a:t>
            </a:r>
            <a:r>
              <a:rPr lang="en-US" sz="5100" b="1" kern="0" dirty="0" err="1">
                <a:effectLst/>
                <a:latin typeface="Times New Roman" panose="02020603050405020304" pitchFamily="18" charset="0"/>
                <a:ea typeface="Times New Roman" panose="02020603050405020304" pitchFamily="18" charset="0"/>
                <a:cs typeface="Times New Roman" panose="02020603050405020304" pitchFamily="18" charset="0"/>
              </a:rPr>
              <a:t>İşlevleri</a:t>
            </a:r>
            <a:endParaRPr lang="en-US" sz="51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Font typeface="+mj-lt"/>
              <a:buAutoNum type="arabicPeriod"/>
              <a:tabLst>
                <a:tab pos="457200" algn="l"/>
              </a:tabLst>
            </a:pPr>
            <a:r>
              <a:rPr lang="en-US" sz="29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Toplumsallaştırma</a:t>
            </a:r>
            <a:r>
              <a:rPr lang="en-US" sz="29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bireylere</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değerlerini</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öğretir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davranışlarını</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şekillendirir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Örneğin</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okullarda</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bayrak</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törenleri</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milli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marşlar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ortak</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etkinlikler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aidiyeti</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pekiştirir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9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Font typeface="+mj-lt"/>
              <a:buAutoNum type="arabicPeriod"/>
              <a:tabLst>
                <a:tab pos="457200" algn="l"/>
              </a:tabLst>
            </a:pPr>
            <a:r>
              <a:rPr lang="en-US" sz="29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29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Aktarım</a:t>
            </a:r>
            <a:r>
              <a:rPr lang="en-US" sz="29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aracılığıyla</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kuşaktan</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kuşağa</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aktarılır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Tarih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dersleri</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edebiyat</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metinleri</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yerel</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gelenekler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aktarımın</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parçasıdır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9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Font typeface="+mj-lt"/>
              <a:buAutoNum type="arabicPeriod"/>
              <a:tabLst>
                <a:tab pos="457200" algn="l"/>
              </a:tabLst>
            </a:pPr>
            <a:r>
              <a:rPr lang="en-US" sz="29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29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Kontrol</a:t>
            </a:r>
            <a:r>
              <a:rPr lang="en-US" sz="29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bireyleri</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kurallarına</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uymaya</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yönlendirir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Disiplin</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otoriteye</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saygı</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iş</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birliği</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gibi</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davranışlar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okulda</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öğrenilir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9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Font typeface="+mj-lt"/>
              <a:buAutoNum type="arabicPeriod"/>
              <a:tabLst>
                <a:tab pos="457200" algn="l"/>
              </a:tabLst>
            </a:pPr>
            <a:r>
              <a:rPr lang="en-US" sz="29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Ekonomik</a:t>
            </a:r>
            <a:r>
              <a:rPr lang="en-US" sz="29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b="1" kern="0" dirty="0" err="1">
                <a:effectLst/>
                <a:latin typeface="Times New Roman" panose="02020603050405020304" pitchFamily="18" charset="0"/>
                <a:ea typeface="Times New Roman" panose="02020603050405020304" pitchFamily="18" charset="0"/>
                <a:cs typeface="Times New Roman" panose="02020603050405020304" pitchFamily="18" charset="0"/>
              </a:rPr>
              <a:t>İşlev</a:t>
            </a:r>
            <a:r>
              <a:rPr lang="en-US" sz="29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bireyleri</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meslek</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sahibi</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yapar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üretime</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katkı</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sağlar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yönüyle</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ekonomi</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ile</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doğrudan</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bağlantılıdır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9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Font typeface="+mj-lt"/>
              <a:buAutoNum type="arabicPeriod"/>
              <a:tabLst>
                <a:tab pos="457200" algn="l"/>
              </a:tabLst>
            </a:pPr>
            <a:r>
              <a:rPr lang="en-US" sz="29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29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b="1" kern="0" dirty="0" err="1">
                <a:effectLst/>
                <a:latin typeface="Times New Roman" panose="02020603050405020304" pitchFamily="18" charset="0"/>
                <a:ea typeface="Times New Roman" panose="02020603050405020304" pitchFamily="18" charset="0"/>
                <a:cs typeface="Times New Roman" panose="02020603050405020304" pitchFamily="18" charset="0"/>
              </a:rPr>
              <a:t>Hareketlilik</a:t>
            </a:r>
            <a:r>
              <a:rPr lang="en-US" sz="29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bireylere</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statü</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kazandırır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Alt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sosyo-ekonomik</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sınıflardan</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gelen</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yoluyla</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daha</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yüksek</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statülere</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ulaşabilir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9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Font typeface="+mj-lt"/>
              <a:buAutoNum type="arabicPeriod"/>
              <a:tabLst>
                <a:tab pos="457200" algn="l"/>
              </a:tabLst>
            </a:pPr>
            <a:r>
              <a:rPr lang="en-US" sz="29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29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a:t>
            </a:r>
            <a:r>
              <a:rPr lang="en-US" sz="29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yeniliklerin</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yayılmasını</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sağlar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Bilimsel</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düşünme</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biçimi</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9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dönüştürür</a:t>
            </a:r>
            <a: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9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29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29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415879DC-D140-E244-2F37-800D1F8D08D1}"/>
              </a:ext>
            </a:extLst>
          </p:cNvPr>
          <p:cNvSpPr>
            <a:spLocks noGrp="1"/>
          </p:cNvSpPr>
          <p:nvPr>
            <p:ph type="sldNum" sz="quarter" idx="10"/>
          </p:nvPr>
        </p:nvSpPr>
        <p:spPr/>
        <p:txBody>
          <a:bodyPr/>
          <a:lstStyle/>
          <a:p>
            <a:fld id="{48F63A3B-78C7-47BE-AE5E-E10140E04643}" type="slidenum">
              <a:rPr lang="en-US" smtClean="0"/>
              <a:pPr/>
              <a:t>48</a:t>
            </a:fld>
            <a:endParaRPr lang="en-US" dirty="0"/>
          </a:p>
        </p:txBody>
      </p:sp>
    </p:spTree>
    <p:extLst>
      <p:ext uri="{BB962C8B-B14F-4D97-AF65-F5344CB8AC3E}">
        <p14:creationId xmlns:p14="http://schemas.microsoft.com/office/powerpoint/2010/main" val="25369782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2FC0C8-BD4B-4DDF-B875-4661A157C914}"/>
              </a:ext>
            </a:extLst>
          </p:cNvPr>
          <p:cNvSpPr>
            <a:spLocks noGrp="1"/>
          </p:cNvSpPr>
          <p:nvPr>
            <p:ph sz="quarter" idx="4"/>
          </p:nvPr>
        </p:nvSpPr>
        <p:spPr>
          <a:xfrm>
            <a:off x="914400" y="746449"/>
            <a:ext cx="10511627" cy="5518175"/>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Durkheim’ın</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Anlayışı</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Durkheim,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zorunluluk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olarak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Ona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kendi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moral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yeni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kuşaklara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aktararak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varlığını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sürdürür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ortak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ideallerine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uygun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şekilde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biçimlendirir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süreçte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öğretmen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yalnızca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bilgi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aktarıcısı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aynı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zamanda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ahlak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eğiticisi”dir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Durkheim’a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inşa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süreçtir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düzenin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gerekliliklerine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biçimlendirir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bakış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açısı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kurumunun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koruma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yönünü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vurgular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70D34161-416B-B686-0A10-DA1F4A3A79AC}"/>
              </a:ext>
            </a:extLst>
          </p:cNvPr>
          <p:cNvSpPr>
            <a:spLocks noGrp="1"/>
          </p:cNvSpPr>
          <p:nvPr>
            <p:ph type="sldNum" sz="quarter" idx="10"/>
          </p:nvPr>
        </p:nvSpPr>
        <p:spPr/>
        <p:txBody>
          <a:bodyPr/>
          <a:lstStyle/>
          <a:p>
            <a:fld id="{48F63A3B-78C7-47BE-AE5E-E10140E04643}" type="slidenum">
              <a:rPr lang="en-US" smtClean="0"/>
              <a:pPr/>
              <a:t>49</a:t>
            </a:fld>
            <a:endParaRPr lang="en-US" dirty="0"/>
          </a:p>
        </p:txBody>
      </p:sp>
    </p:spTree>
    <p:extLst>
      <p:ext uri="{BB962C8B-B14F-4D97-AF65-F5344CB8AC3E}">
        <p14:creationId xmlns:p14="http://schemas.microsoft.com/office/powerpoint/2010/main" val="33527218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8C7BC8-E43B-FEC2-7CD6-A978603AACC5}"/>
              </a:ext>
            </a:extLst>
          </p:cNvPr>
          <p:cNvSpPr>
            <a:spLocks noGrp="1"/>
          </p:cNvSpPr>
          <p:nvPr>
            <p:ph sz="quarter" idx="4"/>
          </p:nvPr>
        </p:nvSpPr>
        <p:spPr>
          <a:xfrm>
            <a:off x="914400" y="457199"/>
            <a:ext cx="10511627" cy="5807425"/>
          </a:xfrm>
        </p:spPr>
        <p:txBody>
          <a:bodyPr>
            <a:normAutofit lnSpcReduction="10000"/>
          </a:bodyPr>
          <a:lstStyle/>
          <a:p>
            <a:pPr marL="0" marR="0">
              <a:lnSpc>
                <a:spcPct val="115000"/>
              </a:lnSpc>
              <a:spcAft>
                <a:spcPts val="800"/>
              </a:spcAft>
              <a:buNone/>
            </a:pPr>
            <a:r>
              <a:rPr lang="tr-TR" sz="20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Illich’in</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Okul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Eleştirisi</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Ivan Illich (2021)</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modern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toplumlarda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okulun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pasifleştirdiğini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savunur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Ona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okul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düşünmeyi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itaat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etmeyi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Okulsuz</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adlı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eserinde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yalnızca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içinde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yaşamın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alanında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gerçekleşmesi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gerektiğini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belirtir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Illich’in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eleştirisine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sınıflara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ayırır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Gerçek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öğrenme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merak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özgürlük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ortamında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mümkündür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Okullar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ekonomik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sistemin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üretimini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sağlar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yaklaşım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kurumunun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eleştirel</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analizini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sunar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öğrencileri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sistemin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parçası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olmaktan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çok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aktif</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olmaya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çağırır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CDB459CD-ACC6-D8C9-1742-14CA0CF2D9DB}"/>
              </a:ext>
            </a:extLst>
          </p:cNvPr>
          <p:cNvSpPr>
            <a:spLocks noGrp="1"/>
          </p:cNvSpPr>
          <p:nvPr>
            <p:ph type="sldNum" sz="quarter" idx="10"/>
          </p:nvPr>
        </p:nvSpPr>
        <p:spPr/>
        <p:txBody>
          <a:bodyPr/>
          <a:lstStyle/>
          <a:p>
            <a:fld id="{48F63A3B-78C7-47BE-AE5E-E10140E04643}" type="slidenum">
              <a:rPr lang="en-US" smtClean="0"/>
              <a:pPr/>
              <a:t>50</a:t>
            </a:fld>
            <a:endParaRPr lang="en-US" dirty="0"/>
          </a:p>
        </p:txBody>
      </p:sp>
    </p:spTree>
    <p:extLst>
      <p:ext uri="{BB962C8B-B14F-4D97-AF65-F5344CB8AC3E}">
        <p14:creationId xmlns:p14="http://schemas.microsoft.com/office/powerpoint/2010/main" val="15790832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AC0675-92D5-2863-1148-71E6F1FE167A}"/>
              </a:ext>
            </a:extLst>
          </p:cNvPr>
          <p:cNvSpPr>
            <a:spLocks noGrp="1"/>
          </p:cNvSpPr>
          <p:nvPr>
            <p:ph sz="quarter" idx="4"/>
          </p:nvPr>
        </p:nvSpPr>
        <p:spPr>
          <a:xfrm>
            <a:off x="914400" y="793103"/>
            <a:ext cx="10511627" cy="5471522"/>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Eğitimin</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Üzerindeki</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Rolü</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hem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nedeni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hem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sonucudur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Yeni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fikirlerin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yayılmasında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reformların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gerçekleşmesinde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belirleyici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araçtır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Örnekler</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Kadınların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düzeyinin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artması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cinsiyet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rollerini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dönüştürmüştür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Teknoloji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okuryazarlığı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dijital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oluşmasına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katkı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sağlamıştır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Çevre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bilinci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okullarda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verilen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eğitimlerle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yaygınlaşmıştır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değiştirerek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üzerinde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kalıcı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etkiler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bırakır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358615B0-47D4-C74D-ED42-4A5D40BB722A}"/>
              </a:ext>
            </a:extLst>
          </p:cNvPr>
          <p:cNvSpPr>
            <a:spLocks noGrp="1"/>
          </p:cNvSpPr>
          <p:nvPr>
            <p:ph type="sldNum" sz="quarter" idx="10"/>
          </p:nvPr>
        </p:nvSpPr>
        <p:spPr/>
        <p:txBody>
          <a:bodyPr/>
          <a:lstStyle/>
          <a:p>
            <a:fld id="{48F63A3B-78C7-47BE-AE5E-E10140E04643}" type="slidenum">
              <a:rPr lang="en-US" smtClean="0"/>
              <a:pPr/>
              <a:t>51</a:t>
            </a:fld>
            <a:endParaRPr lang="en-US" dirty="0"/>
          </a:p>
        </p:txBody>
      </p:sp>
    </p:spTree>
    <p:extLst>
      <p:ext uri="{BB962C8B-B14F-4D97-AF65-F5344CB8AC3E}">
        <p14:creationId xmlns:p14="http://schemas.microsoft.com/office/powerpoint/2010/main" val="19034556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DEC097-FE06-0005-3374-50F8F66E510E}"/>
              </a:ext>
            </a:extLst>
          </p:cNvPr>
          <p:cNvSpPr>
            <a:spLocks noGrp="1"/>
          </p:cNvSpPr>
          <p:nvPr>
            <p:ph sz="quarter" idx="4"/>
          </p:nvPr>
        </p:nvSpPr>
        <p:spPr>
          <a:xfrm>
            <a:off x="914400" y="634483"/>
            <a:ext cx="10511627" cy="5630142"/>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Türkiye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Bağlamında</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Kıbrıs’ta</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Adada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kimliğini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koruyan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kurumdur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Kıbrıs’taki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üniversiteler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yalnızca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bilgi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üretimi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çok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kültürlü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etkileşim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alanları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olarak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işlev</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Öğrenciler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farklı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ülkelerden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geldikleri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için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küresel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vatandaşlık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anlayışı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gelişir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Türkiye’de</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Cumhuriyet’ten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günümüze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kadar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modernleşmenin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önemli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aracı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olmuştur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Karma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laiklik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fırsat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eşitliği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ilkeleri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dönüşümün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temelini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oluşturmuştur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Ancak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kırsal-kentsel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farklar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hâlâ</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devam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etmektedir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3B55199E-96B4-8DD9-371D-CE956EAE6C94}"/>
              </a:ext>
            </a:extLst>
          </p:cNvPr>
          <p:cNvSpPr>
            <a:spLocks noGrp="1"/>
          </p:cNvSpPr>
          <p:nvPr>
            <p:ph type="sldNum" sz="quarter" idx="10"/>
          </p:nvPr>
        </p:nvSpPr>
        <p:spPr/>
        <p:txBody>
          <a:bodyPr/>
          <a:lstStyle/>
          <a:p>
            <a:fld id="{48F63A3B-78C7-47BE-AE5E-E10140E04643}" type="slidenum">
              <a:rPr lang="en-US" smtClean="0"/>
              <a:pPr/>
              <a:t>52</a:t>
            </a:fld>
            <a:endParaRPr lang="en-US" dirty="0"/>
          </a:p>
        </p:txBody>
      </p:sp>
    </p:spTree>
    <p:extLst>
      <p:ext uri="{BB962C8B-B14F-4D97-AF65-F5344CB8AC3E}">
        <p14:creationId xmlns:p14="http://schemas.microsoft.com/office/powerpoint/2010/main" val="38437312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1B740E-B96F-B8F2-99BC-2A1E829DCF80}"/>
              </a:ext>
            </a:extLst>
          </p:cNvPr>
          <p:cNvSpPr>
            <a:spLocks noGrp="1"/>
          </p:cNvSpPr>
          <p:nvPr>
            <p:ph sz="quarter" idx="4"/>
          </p:nvPr>
        </p:nvSpPr>
        <p:spPr>
          <a:xfrm>
            <a:off x="914400" y="928689"/>
            <a:ext cx="10511627" cy="5335936"/>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Pandemi</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Sonrası</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Dijitalleşme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2020’de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başlayan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pandemi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radikal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dönüştürmüştür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Uzaktan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yaygınlaşmış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öğretmen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öğrenci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rolleri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tanımlanmıştır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Dijital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eşitsizlikler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sosyo-ekonomik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farkların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üzerindeki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etkisini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artırmıştır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Ev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ortamı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yeni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öğrenme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mekânı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haline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gelmiştir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süreç</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Illich’in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okulsuz</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öğrenme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kavramına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yakın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deneyim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yaratmıştır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Öğrenciler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sorumluluk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kazanmış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ancak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sosyalleşme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eksikliği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yaşamıştır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tr-TR" sz="1800" kern="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nSpc>
                <a:spcPct val="115000"/>
              </a:lnSpc>
              <a:spcAft>
                <a:spcPts val="800"/>
              </a:spcAft>
              <a:buNone/>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7A0649AF-B80F-AEBE-91E9-48E8C7AD38AE}"/>
              </a:ext>
            </a:extLst>
          </p:cNvPr>
          <p:cNvSpPr>
            <a:spLocks noGrp="1"/>
          </p:cNvSpPr>
          <p:nvPr>
            <p:ph type="sldNum" sz="quarter" idx="10"/>
          </p:nvPr>
        </p:nvSpPr>
        <p:spPr/>
        <p:txBody>
          <a:bodyPr/>
          <a:lstStyle/>
          <a:p>
            <a:fld id="{48F63A3B-78C7-47BE-AE5E-E10140E04643}" type="slidenum">
              <a:rPr lang="en-US" smtClean="0"/>
              <a:pPr/>
              <a:t>53</a:t>
            </a:fld>
            <a:endParaRPr lang="en-US" dirty="0"/>
          </a:p>
        </p:txBody>
      </p:sp>
      <p:pic>
        <p:nvPicPr>
          <p:cNvPr id="2" name="Picture 1">
            <a:extLst>
              <a:ext uri="{FF2B5EF4-FFF2-40B4-BE49-F238E27FC236}">
                <a16:creationId xmlns:a16="http://schemas.microsoft.com/office/drawing/2014/main" id="{71817663-5B7E-4200-C205-CF0A77F04309}"/>
              </a:ext>
            </a:extLst>
          </p:cNvPr>
          <p:cNvPicPr>
            <a:picLocks noChangeAspect="1"/>
          </p:cNvPicPr>
          <p:nvPr/>
        </p:nvPicPr>
        <p:blipFill>
          <a:blip r:embed="rId2"/>
          <a:stretch>
            <a:fillRect/>
          </a:stretch>
        </p:blipFill>
        <p:spPr>
          <a:xfrm>
            <a:off x="2845835" y="4400252"/>
            <a:ext cx="5066523" cy="2047201"/>
          </a:xfrm>
          <a:prstGeom prst="rect">
            <a:avLst/>
          </a:prstGeom>
        </p:spPr>
      </p:pic>
    </p:spTree>
    <p:extLst>
      <p:ext uri="{BB962C8B-B14F-4D97-AF65-F5344CB8AC3E}">
        <p14:creationId xmlns:p14="http://schemas.microsoft.com/office/powerpoint/2010/main" val="31358570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98304AC-0D7F-87DA-A147-D0A6D65E29EB}"/>
              </a:ext>
            </a:extLst>
          </p:cNvPr>
          <p:cNvSpPr>
            <a:spLocks noGrp="1"/>
          </p:cNvSpPr>
          <p:nvPr>
            <p:ph type="sldNum" sz="quarter" idx="10"/>
          </p:nvPr>
        </p:nvSpPr>
        <p:spPr/>
        <p:txBody>
          <a:bodyPr/>
          <a:lstStyle/>
          <a:p>
            <a:fld id="{48F63A3B-78C7-47BE-AE5E-E10140E04643}" type="slidenum">
              <a:rPr lang="en-US" smtClean="0"/>
              <a:pPr/>
              <a:t>54</a:t>
            </a:fld>
            <a:endParaRPr lang="en-US" dirty="0"/>
          </a:p>
        </p:txBody>
      </p:sp>
      <p:pic>
        <p:nvPicPr>
          <p:cNvPr id="4098" name="Picture 2" descr="DİJİTALLEŞME EĞİLİMLERİ - COVID-19 Pandemisi Sonrası Dijitalleşme  Eğilimlerinin Sosyal ve Beşeri Bilimlere Yansımaları Kitabını indirimli  fiyata Satın Al - Nobel Akademik Yayıncılık">
            <a:extLst>
              <a:ext uri="{FF2B5EF4-FFF2-40B4-BE49-F238E27FC236}">
                <a16:creationId xmlns:a16="http://schemas.microsoft.com/office/drawing/2014/main" id="{91897ABE-DDB9-F933-8BBC-CCF91F281C2D}"/>
              </a:ext>
            </a:extLst>
          </p:cNvPr>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2237792" y="1349560"/>
            <a:ext cx="7716416" cy="4370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94985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0559A0-13E6-B852-3A3C-0BD7F2DFB412}"/>
              </a:ext>
            </a:extLst>
          </p:cNvPr>
          <p:cNvSpPr>
            <a:spLocks noGrp="1"/>
          </p:cNvSpPr>
          <p:nvPr>
            <p:ph sz="quarter" idx="4"/>
          </p:nvPr>
        </p:nvSpPr>
        <p:spPr>
          <a:xfrm>
            <a:off x="914400" y="839755"/>
            <a:ext cx="10511627" cy="5424869"/>
          </a:xfrm>
        </p:spPr>
        <p:txBody>
          <a:bodyPr/>
          <a:lstStyle/>
          <a:p>
            <a:pPr marL="0" marR="0">
              <a:lnSpc>
                <a:spcPct val="115000"/>
              </a:lnSpc>
              <a:spcAft>
                <a:spcPts val="800"/>
              </a:spcAft>
              <a:buNone/>
            </a:pPr>
            <a:r>
              <a:rPr lang="tr-TR" sz="2000" b="1"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Eşitsizlik</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çoğu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zaman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eşitlik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sağlamayı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hedeflese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pratikte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bazı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eşitsizlikleri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üretir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farkları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kaynaklarına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erişimi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etkiler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Kırsal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bölgelerde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okul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olanakları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sınırlıdır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Cinsiyet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farkı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hâlâ</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bazı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bölgelerde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katılımı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etkiler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Bourdieu’nün</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sermaye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kavramına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ailelerin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düzeyi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çocukların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başarısını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doğrudan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etkiler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nedenle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sosyologlar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politikalarının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eşitlikçi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düzenlenmesi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gerektiğini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savunur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E5C33290-D860-E999-7226-91AEF472C05A}"/>
              </a:ext>
            </a:extLst>
          </p:cNvPr>
          <p:cNvSpPr>
            <a:spLocks noGrp="1"/>
          </p:cNvSpPr>
          <p:nvPr>
            <p:ph type="sldNum" sz="quarter" idx="10"/>
          </p:nvPr>
        </p:nvSpPr>
        <p:spPr/>
        <p:txBody>
          <a:bodyPr/>
          <a:lstStyle/>
          <a:p>
            <a:fld id="{48F63A3B-78C7-47BE-AE5E-E10140E04643}" type="slidenum">
              <a:rPr lang="en-US" smtClean="0"/>
              <a:pPr/>
              <a:t>55</a:t>
            </a:fld>
            <a:endParaRPr lang="en-US" dirty="0"/>
          </a:p>
        </p:txBody>
      </p:sp>
    </p:spTree>
    <p:extLst>
      <p:ext uri="{BB962C8B-B14F-4D97-AF65-F5344CB8AC3E}">
        <p14:creationId xmlns:p14="http://schemas.microsoft.com/office/powerpoint/2010/main" val="31196606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0F5A1A-A17A-A0B4-6BE7-818E65D81585}"/>
              </a:ext>
            </a:extLst>
          </p:cNvPr>
          <p:cNvSpPr>
            <a:spLocks noGrp="1"/>
          </p:cNvSpPr>
          <p:nvPr>
            <p:ph sz="quarter" idx="4"/>
          </p:nvPr>
        </p:nvSpPr>
        <p:spPr>
          <a:xfrm>
            <a:off x="914400" y="928689"/>
            <a:ext cx="10511627" cy="5335936"/>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Ahlak</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yalnızca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akademik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bilgi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kazandırmaz</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ahlaki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aktarımında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büyük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rol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oynar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Örneğin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dürüstlük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saygı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sorumluluk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gibi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okul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ortamında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öğrenilir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nedenle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öğretmenler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yalnızca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bilgi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karakter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verirler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Durkheim’a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okullar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aracılığıyla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kendi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ruhunu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üretir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B25B1E32-D5B8-A1B9-6123-A52A75B2CC52}"/>
              </a:ext>
            </a:extLst>
          </p:cNvPr>
          <p:cNvSpPr>
            <a:spLocks noGrp="1"/>
          </p:cNvSpPr>
          <p:nvPr>
            <p:ph type="sldNum" sz="quarter" idx="10"/>
          </p:nvPr>
        </p:nvSpPr>
        <p:spPr/>
        <p:txBody>
          <a:bodyPr/>
          <a:lstStyle/>
          <a:p>
            <a:fld id="{48F63A3B-78C7-47BE-AE5E-E10140E04643}" type="slidenum">
              <a:rPr lang="en-US" smtClean="0"/>
              <a:pPr/>
              <a:t>56</a:t>
            </a:fld>
            <a:endParaRPr lang="en-US" dirty="0"/>
          </a:p>
        </p:txBody>
      </p:sp>
    </p:spTree>
    <p:extLst>
      <p:ext uri="{BB962C8B-B14F-4D97-AF65-F5344CB8AC3E}">
        <p14:creationId xmlns:p14="http://schemas.microsoft.com/office/powerpoint/2010/main" val="37471049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F8B59C-0961-441A-2346-B61383B1FA7F}"/>
              </a:ext>
            </a:extLst>
          </p:cNvPr>
          <p:cNvSpPr>
            <a:spLocks noGrp="1"/>
          </p:cNvSpPr>
          <p:nvPr>
            <p:ph sz="quarter" idx="4"/>
          </p:nvPr>
        </p:nvSpPr>
        <p:spPr>
          <a:xfrm>
            <a:off x="914400" y="737119"/>
            <a:ext cx="10511627" cy="5527506"/>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Sonuç</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şekillendiren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güçlü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kurumdur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Hem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düzenin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korunmasında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hem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gerçekleşmesinde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merkezi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role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sahiptir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Durkheim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bütünleşmeyi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vurgularken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Illich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eleştirel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gözle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özgürlüğünü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savunur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bakış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açısı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birlikte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değerlendirildiğinde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kurumunun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hem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sosyalleştirici</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hem de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dönüştürücü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yönü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anlaşılır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ulusun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geleceğini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insanlığın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vicdanını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inşa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ed</a:t>
            </a:r>
            <a:r>
              <a:rPr lang="tr-TR" kern="0" dirty="0">
                <a:latin typeface="Times New Roman" panose="02020603050405020304" pitchFamily="18" charset="0"/>
                <a:ea typeface="Times New Roman" panose="02020603050405020304" pitchFamily="18" charset="0"/>
                <a:cs typeface="Times New Roman" panose="02020603050405020304" pitchFamily="18" charset="0"/>
              </a:rPr>
              <a:t>meli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Yrd</a:t>
            </a: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Doç</a:t>
            </a: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 Dr. Sibel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Solyalı</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80D86C87-A395-A4EF-5316-D0D4BFC8B3E6}"/>
              </a:ext>
            </a:extLst>
          </p:cNvPr>
          <p:cNvSpPr>
            <a:spLocks noGrp="1"/>
          </p:cNvSpPr>
          <p:nvPr>
            <p:ph type="sldNum" sz="quarter" idx="10"/>
          </p:nvPr>
        </p:nvSpPr>
        <p:spPr/>
        <p:txBody>
          <a:bodyPr/>
          <a:lstStyle/>
          <a:p>
            <a:fld id="{48F63A3B-78C7-47BE-AE5E-E10140E04643}" type="slidenum">
              <a:rPr lang="en-US" smtClean="0"/>
              <a:pPr/>
              <a:t>57</a:t>
            </a:fld>
            <a:endParaRPr lang="en-US" dirty="0"/>
          </a:p>
        </p:txBody>
      </p:sp>
    </p:spTree>
    <p:extLst>
      <p:ext uri="{BB962C8B-B14F-4D97-AF65-F5344CB8AC3E}">
        <p14:creationId xmlns:p14="http://schemas.microsoft.com/office/powerpoint/2010/main" val="32678934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0119F9-9A7A-BD82-F85F-4EA7438ACB5B}"/>
              </a:ext>
            </a:extLst>
          </p:cNvPr>
          <p:cNvSpPr>
            <a:spLocks noGrp="1"/>
          </p:cNvSpPr>
          <p:nvPr>
            <p:ph sz="quarter" idx="4"/>
          </p:nvPr>
        </p:nvSpPr>
        <p:spPr>
          <a:xfrm>
            <a:off x="914400" y="1063691"/>
            <a:ext cx="10511627" cy="5200934"/>
          </a:xfrm>
        </p:spPr>
        <p:txBody>
          <a:bodyPr>
            <a:normAutofit lnSpcReduction="10000"/>
          </a:bodyPr>
          <a:lstStyle/>
          <a:p>
            <a:pPr marL="0" marR="0">
              <a:lnSpc>
                <a:spcPct val="115000"/>
              </a:lnSpc>
              <a:spcAft>
                <a:spcPts val="800"/>
              </a:spcAft>
              <a:buNone/>
            </a:pPr>
            <a:r>
              <a:rPr lang="en-US" sz="2800" b="1" kern="0" dirty="0">
                <a:effectLst/>
                <a:latin typeface="Times New Roman" panose="02020603050405020304" pitchFamily="18" charset="0"/>
                <a:ea typeface="Times New Roman" panose="02020603050405020304" pitchFamily="18" charset="0"/>
                <a:cs typeface="Times New Roman" panose="02020603050405020304" pitchFamily="18" charset="0"/>
              </a:rPr>
              <a:t>KÜLTÜR VE TOPLUM</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Kavramının</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Tanımı</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inançlarını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sembollerini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davranış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kalıplarını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bilgi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birikimini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kapsayan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bütündür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Sosyoloji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açısından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maddi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araçlar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giysiler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teknoloji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manevi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inançlar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unsurlarını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içerir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Tezcan (1993)</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öğrenilmiş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davranışlarının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bütünü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olarak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tanımlar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Giddens (2008)</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ise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tutan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paylaşılan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sistemi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olarak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açıklar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Durkheim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açısından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birleştiren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kolektif</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bilinç”tir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ruhudur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diğerinden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ayıran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temel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özelliktir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37AEC8C8-5FD2-327B-3D8F-0D4B433CB499}"/>
              </a:ext>
            </a:extLst>
          </p:cNvPr>
          <p:cNvSpPr>
            <a:spLocks noGrp="1"/>
          </p:cNvSpPr>
          <p:nvPr>
            <p:ph type="sldNum" sz="quarter" idx="10"/>
          </p:nvPr>
        </p:nvSpPr>
        <p:spPr/>
        <p:txBody>
          <a:bodyPr/>
          <a:lstStyle/>
          <a:p>
            <a:fld id="{48F63A3B-78C7-47BE-AE5E-E10140E04643}" type="slidenum">
              <a:rPr lang="en-US" smtClean="0"/>
              <a:pPr/>
              <a:t>58</a:t>
            </a:fld>
            <a:endParaRPr lang="en-US" dirty="0"/>
          </a:p>
        </p:txBody>
      </p:sp>
    </p:spTree>
    <p:extLst>
      <p:ext uri="{BB962C8B-B14F-4D97-AF65-F5344CB8AC3E}">
        <p14:creationId xmlns:p14="http://schemas.microsoft.com/office/powerpoint/2010/main" val="5207383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EFBEC3F-3379-FF3C-B13D-03D601C4464A}"/>
              </a:ext>
            </a:extLst>
          </p:cNvPr>
          <p:cNvSpPr>
            <a:spLocks noGrp="1"/>
          </p:cNvSpPr>
          <p:nvPr>
            <p:ph type="sldNum" sz="quarter" idx="10"/>
          </p:nvPr>
        </p:nvSpPr>
        <p:spPr/>
        <p:txBody>
          <a:bodyPr/>
          <a:lstStyle/>
          <a:p>
            <a:fld id="{48F63A3B-78C7-47BE-AE5E-E10140E04643}" type="slidenum">
              <a:rPr lang="en-US" smtClean="0"/>
              <a:pPr/>
              <a:t>59</a:t>
            </a:fld>
            <a:endParaRPr lang="en-US" dirty="0"/>
          </a:p>
        </p:txBody>
      </p:sp>
      <p:pic>
        <p:nvPicPr>
          <p:cNvPr id="5122" name="Picture 2" descr="Kültürün toplum üzerindeki etkisi | Mirat Haber">
            <a:extLst>
              <a:ext uri="{FF2B5EF4-FFF2-40B4-BE49-F238E27FC236}">
                <a16:creationId xmlns:a16="http://schemas.microsoft.com/office/drawing/2014/main" id="{1230978A-8953-343E-2BDA-7D23C9088C03}"/>
              </a:ext>
            </a:extLst>
          </p:cNvPr>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1436914" y="938019"/>
            <a:ext cx="8593494" cy="4665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85671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9BD83B-3913-F06E-1468-51BBE72E2914}"/>
              </a:ext>
            </a:extLst>
          </p:cNvPr>
          <p:cNvSpPr>
            <a:spLocks noGrp="1"/>
          </p:cNvSpPr>
          <p:nvPr>
            <p:ph sz="quarter" idx="4"/>
          </p:nvPr>
        </p:nvSpPr>
        <p:spPr>
          <a:xfrm>
            <a:off x="914400" y="858417"/>
            <a:ext cx="10511627" cy="5868954"/>
          </a:xfrm>
        </p:spPr>
        <p:txBody>
          <a:bodyPr>
            <a:normAutofit/>
          </a:bodyPr>
          <a:lstStyle/>
          <a:p>
            <a:pPr marL="0" marR="0">
              <a:lnSpc>
                <a:spcPct val="115000"/>
              </a:lnSpc>
              <a:spcAft>
                <a:spcPts val="800"/>
              </a:spcAft>
              <a:buNone/>
            </a:pPr>
            <a:r>
              <a:rPr lang="en-US" sz="33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Kültürün</a:t>
            </a:r>
            <a:r>
              <a:rPr lang="en-US" sz="33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300" b="1" kern="0" dirty="0" err="1">
                <a:effectLst/>
                <a:latin typeface="Times New Roman" panose="02020603050405020304" pitchFamily="18" charset="0"/>
                <a:ea typeface="Times New Roman" panose="02020603050405020304" pitchFamily="18" charset="0"/>
                <a:cs typeface="Times New Roman" panose="02020603050405020304" pitchFamily="18" charset="0"/>
              </a:rPr>
              <a:t>Unsurları</a:t>
            </a:r>
            <a:endParaRPr lang="en-US" sz="33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Font typeface="+mj-lt"/>
              <a:buAutoNum type="arabicPeriod"/>
              <a:tabLst>
                <a:tab pos="457200" algn="l"/>
              </a:tabLs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Dil:</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aktarım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aracıdır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Dil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olmadan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miras</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kuşaktan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kuşağa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geçemez</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Örneğin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Türkçesi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Türkiye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Türkçesinden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farklı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sözcüklerle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kimlik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yaratır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Font typeface="+mj-lt"/>
              <a:buAutoNum type="arabicPeriod"/>
              <a:tabLst>
                <a:tab pos="457200" algn="l"/>
              </a:tabLst>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doğru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yanlış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hakkındaki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ortak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yargılarıdır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Örnek: Adalet,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misafirperverlik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dayanışma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Font typeface="+mj-lt"/>
              <a:buAutoNum type="arabicPeriod"/>
              <a:tabLst>
                <a:tab pos="457200" algn="l"/>
              </a:tabLst>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Normlar</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günlük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yaşamdaki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davranış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biçimlerine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dönüşmüş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hâlidir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Örneğin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selamlaşma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giyim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kuralları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15000"/>
              </a:lnSpc>
              <a:spcAft>
                <a:spcPts val="800"/>
              </a:spcAft>
              <a:buNone/>
              <a:tabLst>
                <a:tab pos="457200" algn="l"/>
              </a:tabLs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69B421C9-6A60-DB73-F91C-4FBC523C9883}"/>
              </a:ext>
            </a:extLst>
          </p:cNvPr>
          <p:cNvSpPr>
            <a:spLocks noGrp="1"/>
          </p:cNvSpPr>
          <p:nvPr>
            <p:ph type="sldNum" sz="quarter" idx="10"/>
          </p:nvPr>
        </p:nvSpPr>
        <p:spPr/>
        <p:txBody>
          <a:bodyPr/>
          <a:lstStyle/>
          <a:p>
            <a:fld id="{48F63A3B-78C7-47BE-AE5E-E10140E04643}" type="slidenum">
              <a:rPr lang="en-US" smtClean="0"/>
              <a:pPr/>
              <a:t>60</a:t>
            </a:fld>
            <a:endParaRPr lang="en-US" dirty="0"/>
          </a:p>
        </p:txBody>
      </p:sp>
    </p:spTree>
    <p:extLst>
      <p:ext uri="{BB962C8B-B14F-4D97-AF65-F5344CB8AC3E}">
        <p14:creationId xmlns:p14="http://schemas.microsoft.com/office/powerpoint/2010/main" val="13614697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190CBE-2107-9C5B-D9DC-58F951623B6D}"/>
              </a:ext>
            </a:extLst>
          </p:cNvPr>
          <p:cNvSpPr>
            <a:spLocks noGrp="1"/>
          </p:cNvSpPr>
          <p:nvPr>
            <p:ph sz="quarter" idx="4"/>
          </p:nvPr>
        </p:nvSpPr>
        <p:spPr>
          <a:xfrm>
            <a:off x="914400" y="928689"/>
            <a:ext cx="10511627" cy="5335936"/>
          </a:xfrm>
        </p:spPr>
        <p:txBody>
          <a:bodyPr>
            <a:normAutofit/>
          </a:bodyPr>
          <a:lstStyle/>
          <a:p>
            <a:pPr marL="0" marR="0" lvl="0" indent="0">
              <a:lnSpc>
                <a:spcPct val="115000"/>
              </a:lnSpc>
              <a:spcAft>
                <a:spcPts val="800"/>
              </a:spcAft>
              <a:buNone/>
              <a:tabLst>
                <a:tab pos="457200" algn="l"/>
              </a:tabLst>
            </a:pPr>
            <a:r>
              <a:rPr lang="tr-T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4.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Semboller</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görünür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dilidir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Bayrak, milli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marş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işaretler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sembollerdir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15000"/>
              </a:lnSpc>
              <a:spcAft>
                <a:spcPts val="800"/>
              </a:spcAft>
              <a:buNone/>
              <a:tabLst>
                <a:tab pos="457200" algn="l"/>
              </a:tabLst>
            </a:pPr>
            <a:r>
              <a:rPr lang="tr-T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5.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İnançlar</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İnsanların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varoluşu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anlamlandırma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biçimleridir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Dini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inançlar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kadar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modern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kapsama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girer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15000"/>
              </a:lnSpc>
              <a:spcAft>
                <a:spcPts val="800"/>
              </a:spcAft>
              <a:buNone/>
              <a:tabLst>
                <a:tab pos="457200" algn="l"/>
              </a:tabLst>
            </a:pPr>
            <a:r>
              <a:rPr lang="tr-TR" sz="1800" b="1" kern="0" dirty="0">
                <a:effectLst/>
                <a:latin typeface="Times New Roman" panose="02020603050405020304" pitchFamily="18" charset="0"/>
                <a:ea typeface="Times New Roman" panose="02020603050405020304" pitchFamily="18" charset="0"/>
                <a:cs typeface="Times New Roman" panose="02020603050405020304" pitchFamily="18" charset="0"/>
              </a:rPr>
              <a:t>6.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Teknoloji</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Maddi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Araçlar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ulaşım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sistemleri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maddi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unsurlarıdır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Örneğin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akıllı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telefon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sadece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araç</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yeni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6D622EC7-0F6F-8E3A-1F6E-C8CA4DFA85AB}"/>
              </a:ext>
            </a:extLst>
          </p:cNvPr>
          <p:cNvSpPr>
            <a:spLocks noGrp="1"/>
          </p:cNvSpPr>
          <p:nvPr>
            <p:ph type="sldNum" sz="quarter" idx="10"/>
          </p:nvPr>
        </p:nvSpPr>
        <p:spPr/>
        <p:txBody>
          <a:bodyPr/>
          <a:lstStyle/>
          <a:p>
            <a:fld id="{48F63A3B-78C7-47BE-AE5E-E10140E04643}" type="slidenum">
              <a:rPr lang="en-US" smtClean="0"/>
              <a:pPr/>
              <a:t>61</a:t>
            </a:fld>
            <a:endParaRPr lang="en-US" dirty="0"/>
          </a:p>
        </p:txBody>
      </p:sp>
    </p:spTree>
    <p:extLst>
      <p:ext uri="{BB962C8B-B14F-4D97-AF65-F5344CB8AC3E}">
        <p14:creationId xmlns:p14="http://schemas.microsoft.com/office/powerpoint/2010/main" val="31396519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8AB79A-CA34-638E-F151-AB7DE5BC045E}"/>
              </a:ext>
            </a:extLst>
          </p:cNvPr>
          <p:cNvSpPr>
            <a:spLocks noGrp="1"/>
          </p:cNvSpPr>
          <p:nvPr>
            <p:ph sz="quarter" idx="4"/>
          </p:nvPr>
        </p:nvSpPr>
        <p:spPr>
          <a:xfrm>
            <a:off x="914400" y="625151"/>
            <a:ext cx="10511627" cy="5639473"/>
          </a:xfrm>
        </p:spPr>
        <p:txBody>
          <a:bodyPr>
            <a:normAutofit fontScale="92500"/>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Kültürün</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İşlevleri</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Font typeface="+mj-lt"/>
              <a:buAutoNum type="arabicPeriod"/>
              <a:tabLst>
                <a:tab pos="457200" algn="l"/>
              </a:tabLst>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Bütünleşme</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Ortak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tutar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Ulusal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bayramlar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ortak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gelenekler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dayanışma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duygusunu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güçlendirir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Font typeface="+mj-lt"/>
              <a:buAutoNum type="arabicPeriod"/>
              <a:tabLst>
                <a:tab pos="457200" algn="l"/>
              </a:tabLst>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Kimlik</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Kazandırma</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“biz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kimiz</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sorusunun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cevabını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geleneksel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müzik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yemekler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etkinlikler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kimliği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destekler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Font typeface="+mj-lt"/>
              <a:buAutoNum type="arabicPeriod"/>
              <a:tabLst>
                <a:tab pos="457200" algn="l"/>
              </a:tabLst>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Davranış</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Rehberi</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Olma:</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nasıl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davranmaları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gerektiğini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belirler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Örneğin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saygı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göstermek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selamlaşmak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normlara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dayanır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Font typeface="+mj-lt"/>
              <a:buAutoNum type="arabicPeriod"/>
              <a:tabLst>
                <a:tab pos="457200" algn="l"/>
              </a:tabLst>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Devamlılık</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aile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medya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aracılığıyla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gelecek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kuşaklara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aktarılır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Font typeface="+mj-lt"/>
              <a:buAutoNum type="arabicPeriod"/>
              <a:tabLst>
                <a:tab pos="457200" algn="l"/>
              </a:tabLst>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Kontrol</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normlara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uymayan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davranışlar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tarafından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onaylanmaz</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davranışların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düzenlenmesini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sağlar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DC1F9AF6-9466-4522-AED6-C20D4DDE2E1B}"/>
              </a:ext>
            </a:extLst>
          </p:cNvPr>
          <p:cNvSpPr>
            <a:spLocks noGrp="1"/>
          </p:cNvSpPr>
          <p:nvPr>
            <p:ph type="sldNum" sz="quarter" idx="10"/>
          </p:nvPr>
        </p:nvSpPr>
        <p:spPr/>
        <p:txBody>
          <a:bodyPr/>
          <a:lstStyle/>
          <a:p>
            <a:fld id="{48F63A3B-78C7-47BE-AE5E-E10140E04643}" type="slidenum">
              <a:rPr lang="en-US" smtClean="0"/>
              <a:pPr/>
              <a:t>62</a:t>
            </a:fld>
            <a:endParaRPr lang="en-US" dirty="0"/>
          </a:p>
        </p:txBody>
      </p:sp>
    </p:spTree>
    <p:extLst>
      <p:ext uri="{BB962C8B-B14F-4D97-AF65-F5344CB8AC3E}">
        <p14:creationId xmlns:p14="http://schemas.microsoft.com/office/powerpoint/2010/main" val="21481340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BF2EBF-F81C-C2DC-B93B-9A2AF4747D8C}"/>
              </a:ext>
            </a:extLst>
          </p:cNvPr>
          <p:cNvSpPr>
            <a:spLocks noGrp="1"/>
          </p:cNvSpPr>
          <p:nvPr>
            <p:ph sz="quarter" idx="4"/>
          </p:nvPr>
        </p:nvSpPr>
        <p:spPr>
          <a:xfrm>
            <a:off x="914400" y="1007707"/>
            <a:ext cx="10511627" cy="5256918"/>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Sosyalleşme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Sosyalleşme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öğrenme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sürecidir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Çocuk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aile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içinde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dilini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ahlak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kurallarını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öğrenir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Okul,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medya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arkadaş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çevresi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gibi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pekiştirir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Örneğin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öğrenci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okulda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sadece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bilgi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birliği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saygı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sorumluluk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gibi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öğrenir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süreçte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üyesi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haline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00ECE2E0-08A6-B01E-0CA9-B24AF10D9F95}"/>
              </a:ext>
            </a:extLst>
          </p:cNvPr>
          <p:cNvSpPr>
            <a:spLocks noGrp="1"/>
          </p:cNvSpPr>
          <p:nvPr>
            <p:ph type="sldNum" sz="quarter" idx="10"/>
          </p:nvPr>
        </p:nvSpPr>
        <p:spPr/>
        <p:txBody>
          <a:bodyPr/>
          <a:lstStyle/>
          <a:p>
            <a:fld id="{48F63A3B-78C7-47BE-AE5E-E10140E04643}" type="slidenum">
              <a:rPr lang="en-US" smtClean="0"/>
              <a:pPr/>
              <a:t>63</a:t>
            </a:fld>
            <a:endParaRPr lang="en-US" dirty="0"/>
          </a:p>
        </p:txBody>
      </p:sp>
    </p:spTree>
    <p:extLst>
      <p:ext uri="{BB962C8B-B14F-4D97-AF65-F5344CB8AC3E}">
        <p14:creationId xmlns:p14="http://schemas.microsoft.com/office/powerpoint/2010/main" val="6519912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71E65F-9C6A-D2DB-524A-1C0D5EAB7C13}"/>
              </a:ext>
            </a:extLst>
          </p:cNvPr>
          <p:cNvSpPr>
            <a:spLocks noGrp="1"/>
          </p:cNvSpPr>
          <p:nvPr>
            <p:ph sz="quarter" idx="4"/>
          </p:nvPr>
        </p:nvSpPr>
        <p:spPr>
          <a:xfrm>
            <a:off x="914400" y="718457"/>
            <a:ext cx="10511627" cy="5546167"/>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Aktarım</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durağan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kaçınılmazdır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Teknoloji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iletişim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araçları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göç</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gibi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etkenler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dönüşümü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hızlandırır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Örnek:</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Kıbrıs’ta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genç</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kuşakların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geleneksel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müzik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halk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oyunlarından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uzaklaşarak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popüler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yönelmesi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göstergesidir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Ancak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durum,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zenginliğin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kaybı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anlamına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gelmez</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eski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yeninin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sentezidir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Tanpınar</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(2021)</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Saatleri</a:t>
            </a: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Ayarlama</a:t>
            </a: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Enstitüsü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romanında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ikiliği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“Doğu–</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Batı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çatışması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üzerinden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Eski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alışkanlıklarla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modern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yaşamın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uyumsuzluğunu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kimlik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bunalımı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olarak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işler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2D606378-D879-B931-1840-48B7D41789FE}"/>
              </a:ext>
            </a:extLst>
          </p:cNvPr>
          <p:cNvSpPr>
            <a:spLocks noGrp="1"/>
          </p:cNvSpPr>
          <p:nvPr>
            <p:ph type="sldNum" sz="quarter" idx="10"/>
          </p:nvPr>
        </p:nvSpPr>
        <p:spPr/>
        <p:txBody>
          <a:bodyPr/>
          <a:lstStyle/>
          <a:p>
            <a:fld id="{48F63A3B-78C7-47BE-AE5E-E10140E04643}" type="slidenum">
              <a:rPr lang="en-US" smtClean="0"/>
              <a:pPr/>
              <a:t>64</a:t>
            </a:fld>
            <a:endParaRPr lang="en-US" dirty="0"/>
          </a:p>
        </p:txBody>
      </p:sp>
    </p:spTree>
    <p:extLst>
      <p:ext uri="{BB962C8B-B14F-4D97-AF65-F5344CB8AC3E}">
        <p14:creationId xmlns:p14="http://schemas.microsoft.com/office/powerpoint/2010/main" val="4337872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2E827D-C060-C1E1-6799-06117966EBA2}"/>
              </a:ext>
            </a:extLst>
          </p:cNvPr>
          <p:cNvSpPr>
            <a:spLocks noGrp="1"/>
          </p:cNvSpPr>
          <p:nvPr>
            <p:ph sz="quarter" idx="4"/>
          </p:nvPr>
        </p:nvSpPr>
        <p:spPr>
          <a:xfrm>
            <a:off x="914400" y="928689"/>
            <a:ext cx="10511627" cy="5335936"/>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Çeşitlilik</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Çok</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Kültürlülük</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Modern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toplumlarda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farklı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yaşaması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olağan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durumdur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anlamda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çok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kültürlü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örnektir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Türk, Rum,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İngiliz</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uluslararası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öğrenci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toplulukları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birlikte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yaşamaktadır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Çok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kültürlülük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çatışma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kadar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zenginliği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beraberinde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getirir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Önemli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çoğulculuğun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karşılıklı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saygı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temelinde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yaşatılmasıdır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Örnek:</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Üniversitelerde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yapılan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uluslararası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festivalleri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farklı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kimliklerin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var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olabileceğini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gösterir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5D4FCAEB-0946-19F3-CF77-DA05BF61D317}"/>
              </a:ext>
            </a:extLst>
          </p:cNvPr>
          <p:cNvSpPr>
            <a:spLocks noGrp="1"/>
          </p:cNvSpPr>
          <p:nvPr>
            <p:ph type="sldNum" sz="quarter" idx="10"/>
          </p:nvPr>
        </p:nvSpPr>
        <p:spPr/>
        <p:txBody>
          <a:bodyPr/>
          <a:lstStyle/>
          <a:p>
            <a:fld id="{48F63A3B-78C7-47BE-AE5E-E10140E04643}" type="slidenum">
              <a:rPr lang="en-US" smtClean="0"/>
              <a:pPr/>
              <a:t>65</a:t>
            </a:fld>
            <a:endParaRPr lang="en-US" dirty="0"/>
          </a:p>
        </p:txBody>
      </p:sp>
    </p:spTree>
    <p:extLst>
      <p:ext uri="{BB962C8B-B14F-4D97-AF65-F5344CB8AC3E}">
        <p14:creationId xmlns:p14="http://schemas.microsoft.com/office/powerpoint/2010/main" val="346368027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A34E46-1E77-1DC4-8770-6562D9757B01}"/>
              </a:ext>
            </a:extLst>
          </p:cNvPr>
          <p:cNvSpPr>
            <a:spLocks noGrp="1"/>
          </p:cNvSpPr>
          <p:nvPr>
            <p:ph sz="quarter" idx="4"/>
          </p:nvPr>
        </p:nvSpPr>
        <p:spPr>
          <a:xfrm>
            <a:off x="653143" y="457200"/>
            <a:ext cx="10511627" cy="5766318"/>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Kültürleşme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Süreci</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Kültürleşme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farklı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etkileşim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sürecidir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süreçte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bazı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unsurlar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korunurken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bazıları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veya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kaybolur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Göç</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turizm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medya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süreci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hızlandırır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Örnek:</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mutfağı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Türk, Rum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Orta Doğu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etkilerini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taşıyan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sentezdir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kültürleşmenin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doğal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sonucudur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5D78BB3D-FB80-8186-CB29-4EDBE54545B0}"/>
              </a:ext>
            </a:extLst>
          </p:cNvPr>
          <p:cNvSpPr>
            <a:spLocks noGrp="1"/>
          </p:cNvSpPr>
          <p:nvPr>
            <p:ph type="sldNum" sz="quarter" idx="10"/>
          </p:nvPr>
        </p:nvSpPr>
        <p:spPr/>
        <p:txBody>
          <a:bodyPr/>
          <a:lstStyle/>
          <a:p>
            <a:fld id="{48F63A3B-78C7-47BE-AE5E-E10140E04643}" type="slidenum">
              <a:rPr lang="en-US" smtClean="0"/>
              <a:pPr/>
              <a:t>66</a:t>
            </a:fld>
            <a:endParaRPr lang="en-US" dirty="0"/>
          </a:p>
        </p:txBody>
      </p:sp>
    </p:spTree>
    <p:extLst>
      <p:ext uri="{BB962C8B-B14F-4D97-AF65-F5344CB8AC3E}">
        <p14:creationId xmlns:p14="http://schemas.microsoft.com/office/powerpoint/2010/main" val="41889469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DD3FA62-1D8A-042B-DE41-46AF799541D1}"/>
              </a:ext>
            </a:extLst>
          </p:cNvPr>
          <p:cNvSpPr>
            <a:spLocks noGrp="1"/>
          </p:cNvSpPr>
          <p:nvPr>
            <p:ph type="sldNum" sz="quarter" idx="10"/>
          </p:nvPr>
        </p:nvSpPr>
        <p:spPr/>
        <p:txBody>
          <a:bodyPr/>
          <a:lstStyle/>
          <a:p>
            <a:fld id="{48F63A3B-78C7-47BE-AE5E-E10140E04643}" type="slidenum">
              <a:rPr lang="en-US" smtClean="0"/>
              <a:pPr/>
              <a:t>67</a:t>
            </a:fld>
            <a:endParaRPr lang="en-US" dirty="0"/>
          </a:p>
        </p:txBody>
      </p:sp>
      <p:pic>
        <p:nvPicPr>
          <p:cNvPr id="6146" name="Picture 2" descr="KÜLTÜREL GÖRELİLİK TOPLUMSAL UYUM VE ÇATIŞMA - uztarih.com">
            <a:extLst>
              <a:ext uri="{FF2B5EF4-FFF2-40B4-BE49-F238E27FC236}">
                <a16:creationId xmlns:a16="http://schemas.microsoft.com/office/drawing/2014/main" id="{8FD7DCD5-8945-39A5-135F-D6C7725D036B}"/>
              </a:ext>
            </a:extLst>
          </p:cNvPr>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1688841" y="1007707"/>
            <a:ext cx="8472196" cy="5178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576934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201649-7A27-DB22-43E7-5CBD03185C36}"/>
              </a:ext>
            </a:extLst>
          </p:cNvPr>
          <p:cNvSpPr>
            <a:spLocks noGrp="1"/>
          </p:cNvSpPr>
          <p:nvPr>
            <p:ph sz="quarter" idx="4"/>
          </p:nvPr>
        </p:nvSpPr>
        <p:spPr>
          <a:xfrm>
            <a:off x="914400" y="839755"/>
            <a:ext cx="10511627" cy="5424869"/>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Kitle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Kültürü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Popüler</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Sanayi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devriminden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iletişim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teknolojilerinden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sonra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kitle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ortaya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çıkmıştır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Medya,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reklam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televizyon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ağlar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aracılığıyla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içerikler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geniş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kitlelere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ulaşır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Popüler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insanların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zevklerini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moda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anlayışını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gündelik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yaşamını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biçimlendirir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Ancak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Adorno</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Horkheimer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gibi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eleştirel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kuramcılar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kitle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kültürünün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pasif</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hale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getirdiğini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savunur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Örnek:</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medyada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“trend”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davranış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tercihlerini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yönlendirir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E12CB27A-32A8-CFCF-56C7-17BF878A7254}"/>
              </a:ext>
            </a:extLst>
          </p:cNvPr>
          <p:cNvSpPr>
            <a:spLocks noGrp="1"/>
          </p:cNvSpPr>
          <p:nvPr>
            <p:ph type="sldNum" sz="quarter" idx="10"/>
          </p:nvPr>
        </p:nvSpPr>
        <p:spPr/>
        <p:txBody>
          <a:bodyPr/>
          <a:lstStyle/>
          <a:p>
            <a:fld id="{48F63A3B-78C7-47BE-AE5E-E10140E04643}" type="slidenum">
              <a:rPr lang="en-US" smtClean="0"/>
              <a:pPr/>
              <a:t>68</a:t>
            </a:fld>
            <a:endParaRPr lang="en-US" dirty="0"/>
          </a:p>
        </p:txBody>
      </p:sp>
    </p:spTree>
    <p:extLst>
      <p:ext uri="{BB962C8B-B14F-4D97-AF65-F5344CB8AC3E}">
        <p14:creationId xmlns:p14="http://schemas.microsoft.com/office/powerpoint/2010/main" val="370841259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8785D2-4B3A-8A05-495A-7296E01C2680}"/>
              </a:ext>
            </a:extLst>
          </p:cNvPr>
          <p:cNvSpPr>
            <a:spLocks noGrp="1"/>
          </p:cNvSpPr>
          <p:nvPr>
            <p:ph sz="quarter" idx="4"/>
          </p:nvPr>
        </p:nvSpPr>
        <p:spPr>
          <a:xfrm>
            <a:off x="914400" y="1203649"/>
            <a:ext cx="10511627" cy="5060975"/>
          </a:xfrm>
        </p:spPr>
        <p:txBody>
          <a:bodyPr/>
          <a:lstStyle/>
          <a:p>
            <a:pPr marL="0" marR="0">
              <a:lnSpc>
                <a:spcPct val="115000"/>
              </a:lnSpc>
              <a:spcAft>
                <a:spcPts val="800"/>
              </a:spcAft>
              <a:buNone/>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Arasındaki</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İlişki</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birbirinden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ayrılamaz</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değiştikçe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Örneğin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geçmişte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aile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birincil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değerken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günümüzde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özgürlük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daha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fazla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plana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çıkmıştır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dönüşüm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normları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etkiler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Sosyoloji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anlamaya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çalışır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çünkü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değerlerdeki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kayma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yapıyı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biçimlendirir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818EB24D-EB2F-9C32-F07B-4F654A63BA57}"/>
              </a:ext>
            </a:extLst>
          </p:cNvPr>
          <p:cNvSpPr>
            <a:spLocks noGrp="1"/>
          </p:cNvSpPr>
          <p:nvPr>
            <p:ph type="sldNum" sz="quarter" idx="10"/>
          </p:nvPr>
        </p:nvSpPr>
        <p:spPr/>
        <p:txBody>
          <a:bodyPr/>
          <a:lstStyle/>
          <a:p>
            <a:fld id="{48F63A3B-78C7-47BE-AE5E-E10140E04643}" type="slidenum">
              <a:rPr lang="en-US" smtClean="0"/>
              <a:pPr/>
              <a:t>69</a:t>
            </a:fld>
            <a:endParaRPr lang="en-US" dirty="0"/>
          </a:p>
        </p:txBody>
      </p:sp>
    </p:spTree>
    <p:extLst>
      <p:ext uri="{BB962C8B-B14F-4D97-AF65-F5344CB8AC3E}">
        <p14:creationId xmlns:p14="http://schemas.microsoft.com/office/powerpoint/2010/main" val="41806091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9F4C2C-3917-F266-A9CD-EC486F6EEB37}"/>
              </a:ext>
            </a:extLst>
          </p:cNvPr>
          <p:cNvSpPr>
            <a:spLocks noGrp="1"/>
          </p:cNvSpPr>
          <p:nvPr>
            <p:ph sz="quarter" idx="4"/>
          </p:nvPr>
        </p:nvSpPr>
        <p:spPr>
          <a:xfrm>
            <a:off x="914400" y="858417"/>
            <a:ext cx="10511627" cy="5406208"/>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Türkiye’den</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Örnekler</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Lefke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Güzelyurt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bölgelerinde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hâlâ</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köy</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düğünleri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halk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müziği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misafirlik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sürmektedir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Türkiye: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Geleneksel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sanatlar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(ebru,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minyatür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halıcılık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modern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tasarımlarla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üretilmektedir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Ortak</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Nokta</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genç</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kuşaklar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mirası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koruma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bilincini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kazanmaya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başlamıştır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2649D498-08BA-3CA3-4FB1-C752B5A63727}"/>
              </a:ext>
            </a:extLst>
          </p:cNvPr>
          <p:cNvSpPr>
            <a:spLocks noGrp="1"/>
          </p:cNvSpPr>
          <p:nvPr>
            <p:ph type="sldNum" sz="quarter" idx="10"/>
          </p:nvPr>
        </p:nvSpPr>
        <p:spPr/>
        <p:txBody>
          <a:bodyPr/>
          <a:lstStyle/>
          <a:p>
            <a:fld id="{48F63A3B-78C7-47BE-AE5E-E10140E04643}" type="slidenum">
              <a:rPr lang="en-US" smtClean="0"/>
              <a:pPr/>
              <a:t>70</a:t>
            </a:fld>
            <a:endParaRPr lang="en-US" dirty="0"/>
          </a:p>
        </p:txBody>
      </p:sp>
    </p:spTree>
    <p:extLst>
      <p:ext uri="{BB962C8B-B14F-4D97-AF65-F5344CB8AC3E}">
        <p14:creationId xmlns:p14="http://schemas.microsoft.com/office/powerpoint/2010/main" val="335706389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F0C666-E9F8-9EF8-FF22-A39F40A71BEA}"/>
              </a:ext>
            </a:extLst>
          </p:cNvPr>
          <p:cNvSpPr>
            <a:spLocks noGrp="1"/>
          </p:cNvSpPr>
          <p:nvPr>
            <p:ph sz="quarter" idx="4"/>
          </p:nvPr>
        </p:nvSpPr>
        <p:spPr>
          <a:xfrm>
            <a:off x="914400" y="1007707"/>
            <a:ext cx="10511627" cy="5256918"/>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Sonuç</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temel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taşıdır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olmadan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var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olamaz</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içinde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kazanır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kaçınılmazdır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ancak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yönü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bilinçle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belirlenmelidir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“Bir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geleceği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kültürünü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nasıl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koruduğunda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onu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nasıl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yenilediğinde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gizlidir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Yrd</a:t>
            </a: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Doç</a:t>
            </a: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 Dr. Sibel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Solyalı</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A58A48DD-1CDD-F916-D6F8-7CFA16851DC3}"/>
              </a:ext>
            </a:extLst>
          </p:cNvPr>
          <p:cNvSpPr>
            <a:spLocks noGrp="1"/>
          </p:cNvSpPr>
          <p:nvPr>
            <p:ph type="sldNum" sz="quarter" idx="10"/>
          </p:nvPr>
        </p:nvSpPr>
        <p:spPr/>
        <p:txBody>
          <a:bodyPr/>
          <a:lstStyle/>
          <a:p>
            <a:fld id="{48F63A3B-78C7-47BE-AE5E-E10140E04643}" type="slidenum">
              <a:rPr lang="en-US" smtClean="0"/>
              <a:pPr/>
              <a:t>71</a:t>
            </a:fld>
            <a:endParaRPr lang="en-US" dirty="0"/>
          </a:p>
        </p:txBody>
      </p:sp>
    </p:spTree>
    <p:extLst>
      <p:ext uri="{BB962C8B-B14F-4D97-AF65-F5344CB8AC3E}">
        <p14:creationId xmlns:p14="http://schemas.microsoft.com/office/powerpoint/2010/main" val="260572832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B4F91D-9082-4918-CCDC-E49719EB9C8B}"/>
              </a:ext>
            </a:extLst>
          </p:cNvPr>
          <p:cNvSpPr>
            <a:spLocks noGrp="1"/>
          </p:cNvSpPr>
          <p:nvPr>
            <p:ph sz="quarter" idx="4"/>
          </p:nvPr>
        </p:nvSpPr>
        <p:spPr>
          <a:xfrm>
            <a:off x="914400" y="811763"/>
            <a:ext cx="10511627" cy="5452861"/>
          </a:xfrm>
        </p:spPr>
        <p:txBody>
          <a:bodyPr/>
          <a:lstStyle/>
          <a:p>
            <a:pPr marL="0" marR="0">
              <a:lnSpc>
                <a:spcPct val="115000"/>
              </a:lnSpc>
              <a:spcAft>
                <a:spcPts val="800"/>
              </a:spcAft>
              <a:buNone/>
            </a:pPr>
            <a:r>
              <a:rPr lang="en-US" sz="2800" b="1" kern="0" dirty="0">
                <a:effectLst/>
                <a:latin typeface="Times New Roman" panose="02020603050405020304" pitchFamily="18" charset="0"/>
                <a:ea typeface="Times New Roman" panose="02020603050405020304" pitchFamily="18" charset="0"/>
                <a:cs typeface="Times New Roman" panose="02020603050405020304" pitchFamily="18" charset="0"/>
              </a:rPr>
              <a:t>KÜLTÜREL DEĞER VE DEĞİŞİM</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tr-TR" sz="2000" b="1" kern="0">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Değer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Kavramı</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iyi–</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kötü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doğru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yanlış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güzel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çirkin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gibi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temel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ölçütlerini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belirleyen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ortak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inançlardır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kimliğin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dayanışmanın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merkezinde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alır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Tezcan (1993)</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kalıcı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yönlendirici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unsurları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olarak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tanımlar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yalnızca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tercihleri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işleyişini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biçimlendirir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Örneğin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dürüstlük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adalet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misafirperverlik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saygı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gibi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yalnızca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ahlaki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normlar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uyumun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temelidir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9F207AB9-51E0-1951-8254-E11F0E6B6FFC}"/>
              </a:ext>
            </a:extLst>
          </p:cNvPr>
          <p:cNvSpPr>
            <a:spLocks noGrp="1"/>
          </p:cNvSpPr>
          <p:nvPr>
            <p:ph type="sldNum" sz="quarter" idx="10"/>
          </p:nvPr>
        </p:nvSpPr>
        <p:spPr/>
        <p:txBody>
          <a:bodyPr/>
          <a:lstStyle/>
          <a:p>
            <a:fld id="{48F63A3B-78C7-47BE-AE5E-E10140E04643}" type="slidenum">
              <a:rPr lang="en-US" smtClean="0"/>
              <a:pPr/>
              <a:t>72</a:t>
            </a:fld>
            <a:endParaRPr lang="en-US" dirty="0"/>
          </a:p>
        </p:txBody>
      </p:sp>
    </p:spTree>
    <p:extLst>
      <p:ext uri="{BB962C8B-B14F-4D97-AF65-F5344CB8AC3E}">
        <p14:creationId xmlns:p14="http://schemas.microsoft.com/office/powerpoint/2010/main" val="41205821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D48C97-0F38-2EEF-23B5-7DC29B1D274A}"/>
              </a:ext>
            </a:extLst>
          </p:cNvPr>
          <p:cNvSpPr>
            <a:spLocks noGrp="1"/>
          </p:cNvSpPr>
          <p:nvPr>
            <p:ph sz="quarter" idx="4"/>
          </p:nvPr>
        </p:nvSpPr>
        <p:spPr>
          <a:xfrm>
            <a:off x="914400" y="1007707"/>
            <a:ext cx="10511627" cy="5256918"/>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Nedir?</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zaman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içinde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inançlarında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geleneklerinde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biçimlerinde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meydana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dönüşümdür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Hiçbir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durağan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tarihsel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süreç</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içinde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sürekli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olarak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evrilir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Giddens (1998)</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sistemin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çevresel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içsel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etkenlere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verdiği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yanıt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olarak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açıklar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teknoloji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iletişim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göç</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savaş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küreselleşme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medya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gibi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birçok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etkenin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etkisiyle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gerçekleşir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0748194E-F975-A80A-1EDC-61F34BE35D3E}"/>
              </a:ext>
            </a:extLst>
          </p:cNvPr>
          <p:cNvSpPr>
            <a:spLocks noGrp="1"/>
          </p:cNvSpPr>
          <p:nvPr>
            <p:ph type="sldNum" sz="quarter" idx="10"/>
          </p:nvPr>
        </p:nvSpPr>
        <p:spPr/>
        <p:txBody>
          <a:bodyPr/>
          <a:lstStyle/>
          <a:p>
            <a:fld id="{48F63A3B-78C7-47BE-AE5E-E10140E04643}" type="slidenum">
              <a:rPr lang="en-US" smtClean="0"/>
              <a:pPr/>
              <a:t>73</a:t>
            </a:fld>
            <a:endParaRPr lang="en-US" dirty="0"/>
          </a:p>
        </p:txBody>
      </p:sp>
    </p:spTree>
    <p:extLst>
      <p:ext uri="{BB962C8B-B14F-4D97-AF65-F5344CB8AC3E}">
        <p14:creationId xmlns:p14="http://schemas.microsoft.com/office/powerpoint/2010/main" val="24004525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4B97DB-778F-92FB-1FB4-B080BFE943E3}"/>
              </a:ext>
            </a:extLst>
          </p:cNvPr>
          <p:cNvSpPr>
            <a:spLocks noGrp="1"/>
          </p:cNvSpPr>
          <p:nvPr>
            <p:ph sz="quarter" idx="4"/>
          </p:nvPr>
        </p:nvSpPr>
        <p:spPr>
          <a:xfrm>
            <a:off x="914400" y="746449"/>
            <a:ext cx="10511627" cy="5518175"/>
          </a:xfrm>
        </p:spPr>
        <p:txBody>
          <a:bodyPr>
            <a:normAutofit fontScale="92500" lnSpcReduction="20000"/>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Değişimin</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Nedenleri</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Font typeface="+mj-lt"/>
              <a:buAutoNum type="arabicPeriod"/>
              <a:tabLst>
                <a:tab pos="457200" algn="l"/>
              </a:tabLst>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Teknolojik</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Gelişmeler</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Yeni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teknolojiler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insanların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iletişim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tüketim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alışkanlıklarını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değiştirir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Örneğin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dijitalleşme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mahremiyet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anlayışını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dönüştürmüştür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Font typeface="+mj-lt"/>
              <a:buAutoNum type="arabicPeriod"/>
              <a:tabLst>
                <a:tab pos="457200" algn="l"/>
              </a:tabLst>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yeni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düşünce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biçimlerini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geleneksel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sorgulanmasına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yol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açar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Font typeface="+mj-lt"/>
              <a:buAutoNum type="arabicPeriod"/>
              <a:tabLst>
                <a:tab pos="457200" algn="l"/>
              </a:tabLst>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Göç</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Kültürleşme</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Farklı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araya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gelmesi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yeni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normların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doğmasına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neden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Kıbrıs’ta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uluslararası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öğrencilerin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artışı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etkileşimi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güçlendirmiştir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Font typeface="+mj-lt"/>
              <a:buAutoNum type="arabicPeriod"/>
              <a:tabLst>
                <a:tab pos="457200" algn="l"/>
              </a:tabLs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Medya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Popüler</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medya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moda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televizyon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dizileri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gibi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araçlar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yeni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biçimlerini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yaygınlaştırır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Font typeface="+mj-lt"/>
              <a:buAutoNum type="arabicPeriod"/>
              <a:tabLst>
                <a:tab pos="457200" algn="l"/>
              </a:tabLst>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Küreselleşme</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Ürünlerin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fikirlerin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tarzlarının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hızla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yayılması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benzeşmeye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yol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açar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1078CFEB-9517-64A6-ED95-4B62829D3A1D}"/>
              </a:ext>
            </a:extLst>
          </p:cNvPr>
          <p:cNvSpPr>
            <a:spLocks noGrp="1"/>
          </p:cNvSpPr>
          <p:nvPr>
            <p:ph type="sldNum" sz="quarter" idx="10"/>
          </p:nvPr>
        </p:nvSpPr>
        <p:spPr/>
        <p:txBody>
          <a:bodyPr/>
          <a:lstStyle/>
          <a:p>
            <a:fld id="{48F63A3B-78C7-47BE-AE5E-E10140E04643}" type="slidenum">
              <a:rPr lang="en-US" smtClean="0"/>
              <a:pPr/>
              <a:t>74</a:t>
            </a:fld>
            <a:endParaRPr lang="en-US" dirty="0"/>
          </a:p>
        </p:txBody>
      </p:sp>
    </p:spTree>
    <p:extLst>
      <p:ext uri="{BB962C8B-B14F-4D97-AF65-F5344CB8AC3E}">
        <p14:creationId xmlns:p14="http://schemas.microsoft.com/office/powerpoint/2010/main" val="52934473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E01B6B-2D80-F6C8-4D73-F953577EDAFA}"/>
              </a:ext>
            </a:extLst>
          </p:cNvPr>
          <p:cNvSpPr>
            <a:spLocks noGrp="1"/>
          </p:cNvSpPr>
          <p:nvPr>
            <p:ph sz="quarter" idx="4"/>
          </p:nvPr>
        </p:nvSpPr>
        <p:spPr>
          <a:xfrm>
            <a:off x="914400" y="1007707"/>
            <a:ext cx="10511627" cy="5256918"/>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Dönüşümü</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modernleştikçe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Geleneksel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toplumlarda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aile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din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topluluk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plandayken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modern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toplumlarda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bireysellik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özgürlük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başarı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öne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çıkar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Örnek:</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Kıbrıs’ta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geçmişte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gençlerin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meslek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seçiminde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aile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etkisi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baskınken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günümüzde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tercih</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plandadır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sistemindeki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dönüşümün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göstergesidir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21E6E260-EBC1-6655-E7E4-D68767B4EF5B}"/>
              </a:ext>
            </a:extLst>
          </p:cNvPr>
          <p:cNvSpPr>
            <a:spLocks noGrp="1"/>
          </p:cNvSpPr>
          <p:nvPr>
            <p:ph type="sldNum" sz="quarter" idx="10"/>
          </p:nvPr>
        </p:nvSpPr>
        <p:spPr/>
        <p:txBody>
          <a:bodyPr/>
          <a:lstStyle/>
          <a:p>
            <a:fld id="{48F63A3B-78C7-47BE-AE5E-E10140E04643}" type="slidenum">
              <a:rPr lang="en-US" smtClean="0"/>
              <a:pPr/>
              <a:t>75</a:t>
            </a:fld>
            <a:endParaRPr lang="en-US" dirty="0"/>
          </a:p>
        </p:txBody>
      </p:sp>
    </p:spTree>
    <p:extLst>
      <p:ext uri="{BB962C8B-B14F-4D97-AF65-F5344CB8AC3E}">
        <p14:creationId xmlns:p14="http://schemas.microsoft.com/office/powerpoint/2010/main" val="42880742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608159-5300-FAE4-BBE8-6094095D819E}"/>
              </a:ext>
            </a:extLst>
          </p:cNvPr>
          <p:cNvSpPr>
            <a:spLocks noGrp="1"/>
          </p:cNvSpPr>
          <p:nvPr>
            <p:ph sz="quarter" idx="4"/>
          </p:nvPr>
        </p:nvSpPr>
        <p:spPr>
          <a:xfrm>
            <a:off x="914400" y="858417"/>
            <a:ext cx="10511627" cy="5406208"/>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Tanpınar’da</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Ahmet Hamdi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Tanpınar</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(2021)</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Saatleri</a:t>
            </a: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Ayarlama</a:t>
            </a: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Enstitüsü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adlı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eserinde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Türk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modernleşme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sürecindeki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ikilemini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Doğu’nun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geleneksel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Batı’nın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rasyonel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arasındaki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çatışma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kimlik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bunalımı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yaratır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Romanın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başkahramanı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Hayri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İrdal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eski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dünyanın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alışkanlıklarıyla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modern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kuralları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arasında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sıkışmıştır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durum,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yalnızca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dışsal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düzeyde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psikolojik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etkiler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yarattığını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gösterir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Tanpınar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reddetmez</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fakat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hafızayı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kaybetmeden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yenilenmenin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önemini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vurgular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“Biz ne tam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Batılıyız</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ne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tamamen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Doğuluyuz</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biz,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ikisini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taşımak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zorunda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milletiz</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FA7B85E3-EFED-CA5A-1652-C32C555243BA}"/>
              </a:ext>
            </a:extLst>
          </p:cNvPr>
          <p:cNvSpPr>
            <a:spLocks noGrp="1"/>
          </p:cNvSpPr>
          <p:nvPr>
            <p:ph type="sldNum" sz="quarter" idx="10"/>
          </p:nvPr>
        </p:nvSpPr>
        <p:spPr/>
        <p:txBody>
          <a:bodyPr/>
          <a:lstStyle/>
          <a:p>
            <a:fld id="{48F63A3B-78C7-47BE-AE5E-E10140E04643}" type="slidenum">
              <a:rPr lang="en-US" smtClean="0"/>
              <a:pPr/>
              <a:t>76</a:t>
            </a:fld>
            <a:endParaRPr lang="en-US" dirty="0"/>
          </a:p>
        </p:txBody>
      </p:sp>
    </p:spTree>
    <p:extLst>
      <p:ext uri="{BB962C8B-B14F-4D97-AF65-F5344CB8AC3E}">
        <p14:creationId xmlns:p14="http://schemas.microsoft.com/office/powerpoint/2010/main" val="275892416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4296C3-11A0-80FD-3AD5-57E6DC518E45}"/>
              </a:ext>
            </a:extLst>
          </p:cNvPr>
          <p:cNvSpPr>
            <a:spLocks noGrp="1"/>
          </p:cNvSpPr>
          <p:nvPr>
            <p:ph sz="quarter" idx="4"/>
          </p:nvPr>
        </p:nvSpPr>
        <p:spPr>
          <a:xfrm>
            <a:off x="914400" y="928689"/>
            <a:ext cx="10511627" cy="5335936"/>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Orwell’de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Dönüşümün</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Eleştirisi</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George Orwell (2019)</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Hayvan</a:t>
            </a: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Çiftliği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adlı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eserinde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siyasal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otoriter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sisteme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dönüşmesini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eleştirir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Eserdeki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hayvanlar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özgürlük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için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başlasa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sonunda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yeni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diktatörlük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kurarlar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Orwell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yolla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nasıl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yozlaşabileceğini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gösterir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Başlangıçta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eşitlik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dayanışma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güç</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arzusuyla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değiştirir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daima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ilerleme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anlamına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gelmediğini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vurgular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946A14E2-72EF-4B81-4779-8C470DE86885}"/>
              </a:ext>
            </a:extLst>
          </p:cNvPr>
          <p:cNvSpPr>
            <a:spLocks noGrp="1"/>
          </p:cNvSpPr>
          <p:nvPr>
            <p:ph type="sldNum" sz="quarter" idx="10"/>
          </p:nvPr>
        </p:nvSpPr>
        <p:spPr/>
        <p:txBody>
          <a:bodyPr/>
          <a:lstStyle/>
          <a:p>
            <a:fld id="{48F63A3B-78C7-47BE-AE5E-E10140E04643}" type="slidenum">
              <a:rPr lang="en-US" smtClean="0"/>
              <a:pPr/>
              <a:t>77</a:t>
            </a:fld>
            <a:endParaRPr lang="en-US" dirty="0"/>
          </a:p>
        </p:txBody>
      </p:sp>
    </p:spTree>
    <p:extLst>
      <p:ext uri="{BB962C8B-B14F-4D97-AF65-F5344CB8AC3E}">
        <p14:creationId xmlns:p14="http://schemas.microsoft.com/office/powerpoint/2010/main" val="109908346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277DFC-E768-94DA-9C8F-340676015B08}"/>
              </a:ext>
            </a:extLst>
          </p:cNvPr>
          <p:cNvSpPr>
            <a:spLocks noGrp="1"/>
          </p:cNvSpPr>
          <p:nvPr>
            <p:ph sz="quarter" idx="4"/>
          </p:nvPr>
        </p:nvSpPr>
        <p:spPr>
          <a:xfrm>
            <a:off x="914400" y="1110343"/>
            <a:ext cx="10511627" cy="5154281"/>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Türkiye’de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Turizm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uluslararası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medya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hızlandırmıştır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Gençler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Batı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tarzı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giyim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müzik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biçimlerini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benimserken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aile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büyükleri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geleneksel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koruma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eğilimindedir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durum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kuşaklar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çatışma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yaratmaktadır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Türkiye:</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Sanayileşme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göç</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şehirleşme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medya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dönüşümü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derinleştirmiştir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Özellikle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kadınların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kamusal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alanda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daha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görünür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hale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gelmesi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önemli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yaratmıştır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Bununla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birlikte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geleneksel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tamamen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kaybolmadığı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aksine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modern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biçimlerle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iç</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içe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geçtiği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görülmektedir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6969C08E-0271-0DFC-747A-2659907C4F7F}"/>
              </a:ext>
            </a:extLst>
          </p:cNvPr>
          <p:cNvSpPr>
            <a:spLocks noGrp="1"/>
          </p:cNvSpPr>
          <p:nvPr>
            <p:ph type="sldNum" sz="quarter" idx="10"/>
          </p:nvPr>
        </p:nvSpPr>
        <p:spPr/>
        <p:txBody>
          <a:bodyPr/>
          <a:lstStyle/>
          <a:p>
            <a:fld id="{48F63A3B-78C7-47BE-AE5E-E10140E04643}" type="slidenum">
              <a:rPr lang="en-US" smtClean="0"/>
              <a:pPr/>
              <a:t>78</a:t>
            </a:fld>
            <a:endParaRPr lang="en-US" dirty="0"/>
          </a:p>
        </p:txBody>
      </p:sp>
    </p:spTree>
    <p:extLst>
      <p:ext uri="{BB962C8B-B14F-4D97-AF65-F5344CB8AC3E}">
        <p14:creationId xmlns:p14="http://schemas.microsoft.com/office/powerpoint/2010/main" val="309350211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010B4C-1109-6495-4974-035898D759F6}"/>
              </a:ext>
            </a:extLst>
          </p:cNvPr>
          <p:cNvSpPr>
            <a:spLocks noGrp="1"/>
          </p:cNvSpPr>
          <p:nvPr>
            <p:ph sz="quarter" idx="4"/>
          </p:nvPr>
        </p:nvSpPr>
        <p:spPr>
          <a:xfrm>
            <a:off x="914400" y="928689"/>
            <a:ext cx="10511627" cy="5335936"/>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Kimlik</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kimlik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algısını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dönüştürür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Modern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toplumlarda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insanlar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artık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yalnızca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ulusal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kimlikle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çoklu</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kimliklerle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örneğin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kadın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öğrenci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çevreci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dijital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yurttaş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kendilerini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tanımlarlar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durum,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özgürlük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sunsa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aidiyet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duygusunu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zayıflatabilir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Küresel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kimlik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arasındaki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dengeyi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sağlamak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çağdaş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büyük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sorunudur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AD65A3F8-C652-971C-C51E-D0D771D29F4B}"/>
              </a:ext>
            </a:extLst>
          </p:cNvPr>
          <p:cNvSpPr>
            <a:spLocks noGrp="1"/>
          </p:cNvSpPr>
          <p:nvPr>
            <p:ph type="sldNum" sz="quarter" idx="10"/>
          </p:nvPr>
        </p:nvSpPr>
        <p:spPr/>
        <p:txBody>
          <a:bodyPr/>
          <a:lstStyle/>
          <a:p>
            <a:fld id="{48F63A3B-78C7-47BE-AE5E-E10140E04643}" type="slidenum">
              <a:rPr lang="en-US" smtClean="0"/>
              <a:pPr/>
              <a:t>79</a:t>
            </a:fld>
            <a:endParaRPr lang="en-US" dirty="0"/>
          </a:p>
        </p:txBody>
      </p:sp>
    </p:spTree>
    <p:extLst>
      <p:ext uri="{BB962C8B-B14F-4D97-AF65-F5344CB8AC3E}">
        <p14:creationId xmlns:p14="http://schemas.microsoft.com/office/powerpoint/2010/main" val="384733358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441B43-82BE-3451-8071-AF63B02689FE}"/>
              </a:ext>
            </a:extLst>
          </p:cNvPr>
          <p:cNvSpPr>
            <a:spLocks noGrp="1"/>
          </p:cNvSpPr>
          <p:nvPr>
            <p:ph sz="quarter" idx="4"/>
          </p:nvPr>
        </p:nvSpPr>
        <p:spPr>
          <a:xfrm>
            <a:off x="914400" y="998377"/>
            <a:ext cx="10511627" cy="5266248"/>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Sorunlar</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hızlı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bazen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boşluklara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yol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açabilir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yeni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biçimleriyle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eski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normlar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arasında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bocalayabilir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Örneğin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medya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kullanımında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mahremiyet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saygı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sınırlarının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bulanıklaşması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durumun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örneğidir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noktada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Singer (1975/2009)</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gibi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filozoflar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düşünülmesi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gerektiğini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savunur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bilincin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inşasını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zorunlu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kılar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4466C1C1-E17C-374B-244E-E6924867AD61}"/>
              </a:ext>
            </a:extLst>
          </p:cNvPr>
          <p:cNvSpPr>
            <a:spLocks noGrp="1"/>
          </p:cNvSpPr>
          <p:nvPr>
            <p:ph type="sldNum" sz="quarter" idx="10"/>
          </p:nvPr>
        </p:nvSpPr>
        <p:spPr/>
        <p:txBody>
          <a:bodyPr/>
          <a:lstStyle/>
          <a:p>
            <a:fld id="{48F63A3B-78C7-47BE-AE5E-E10140E04643}" type="slidenum">
              <a:rPr lang="en-US" smtClean="0"/>
              <a:pPr/>
              <a:t>80</a:t>
            </a:fld>
            <a:endParaRPr lang="en-US" dirty="0"/>
          </a:p>
        </p:txBody>
      </p:sp>
    </p:spTree>
    <p:extLst>
      <p:ext uri="{BB962C8B-B14F-4D97-AF65-F5344CB8AC3E}">
        <p14:creationId xmlns:p14="http://schemas.microsoft.com/office/powerpoint/2010/main" val="232042870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4C0346-5262-A3F5-36F0-FE7D4D4F75F8}"/>
              </a:ext>
            </a:extLst>
          </p:cNvPr>
          <p:cNvSpPr>
            <a:spLocks noGrp="1"/>
          </p:cNvSpPr>
          <p:nvPr>
            <p:ph sz="quarter" idx="4"/>
          </p:nvPr>
        </p:nvSpPr>
        <p:spPr>
          <a:xfrm>
            <a:off x="914400" y="1184989"/>
            <a:ext cx="10511627" cy="5079636"/>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Sonuç</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dinamizmini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belirleyen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önemli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süreçtir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Bir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gelişimi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nasıl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yenilediğiyle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ilgilidir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geçmişin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mirasını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koruyarak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geleceğe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yön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kaybetmeden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değişebilmek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gerçek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ilerlemenin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işaretidir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Yrd</a:t>
            </a: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Doç</a:t>
            </a: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 Dr. Sibel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Solyalı</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CE176750-08B7-746B-7F52-B8145F7E473B}"/>
              </a:ext>
            </a:extLst>
          </p:cNvPr>
          <p:cNvSpPr>
            <a:spLocks noGrp="1"/>
          </p:cNvSpPr>
          <p:nvPr>
            <p:ph type="sldNum" sz="quarter" idx="10"/>
          </p:nvPr>
        </p:nvSpPr>
        <p:spPr/>
        <p:txBody>
          <a:bodyPr/>
          <a:lstStyle/>
          <a:p>
            <a:fld id="{48F63A3B-78C7-47BE-AE5E-E10140E04643}" type="slidenum">
              <a:rPr lang="en-US" smtClean="0"/>
              <a:pPr/>
              <a:t>81</a:t>
            </a:fld>
            <a:endParaRPr lang="en-US" dirty="0"/>
          </a:p>
        </p:txBody>
      </p:sp>
    </p:spTree>
    <p:extLst>
      <p:ext uri="{BB962C8B-B14F-4D97-AF65-F5344CB8AC3E}">
        <p14:creationId xmlns:p14="http://schemas.microsoft.com/office/powerpoint/2010/main" val="119970103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745BCA-D52C-4B24-18BD-89BD688B2E50}"/>
              </a:ext>
            </a:extLst>
          </p:cNvPr>
          <p:cNvSpPr>
            <a:spLocks noGrp="1"/>
          </p:cNvSpPr>
          <p:nvPr>
            <p:ph sz="quarter" idx="4"/>
          </p:nvPr>
        </p:nvSpPr>
        <p:spPr>
          <a:xfrm>
            <a:off x="914400" y="1101013"/>
            <a:ext cx="10511627" cy="5163612"/>
          </a:xfrm>
        </p:spPr>
        <p:txBody>
          <a:bodyPr/>
          <a:lstStyle/>
          <a:p>
            <a:pPr marL="0" marR="0">
              <a:lnSpc>
                <a:spcPct val="115000"/>
              </a:lnSpc>
              <a:spcAft>
                <a:spcPts val="800"/>
              </a:spcAft>
              <a:buNone/>
            </a:pPr>
            <a:r>
              <a:rPr lang="en-US" sz="2800" b="1" kern="0" dirty="0">
                <a:effectLst/>
                <a:latin typeface="Times New Roman" panose="02020603050405020304" pitchFamily="18" charset="0"/>
                <a:ea typeface="Times New Roman" panose="02020603050405020304" pitchFamily="18" charset="0"/>
                <a:cs typeface="Times New Roman" panose="02020603050405020304" pitchFamily="18" charset="0"/>
              </a:rPr>
              <a:t>KÜLTÜR VE ETİK</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İlişkisine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Giriş</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insan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davranışlarını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doğru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yanlış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kavramları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üzerinden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değerlendiren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düşünce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alanıdır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ise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kavramların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hangi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davranışlara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uygulanacağını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belirleyen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çerçeveyi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oluşturur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Dolayısıyla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birbirinden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bağımsız</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Bir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anlayışı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onun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doğar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Bir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doğru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kabul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edilen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davranış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başka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yanlış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olarak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değerlendirilebilir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n-US" sz="1800" b="1" kern="0" dirty="0">
                <a:effectLst/>
                <a:latin typeface="Times New Roman" panose="02020603050405020304" pitchFamily="18" charset="0"/>
                <a:ea typeface="Times New Roman" panose="02020603050405020304" pitchFamily="18" charset="0"/>
              </a:rPr>
              <a:t>Örnek:</a:t>
            </a:r>
            <a:br>
              <a:rPr lang="en-US" sz="1800" kern="0" dirty="0">
                <a:effectLst/>
                <a:latin typeface="Times New Roman" panose="02020603050405020304" pitchFamily="18" charset="0"/>
                <a:ea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rPr>
              <a:t>Kıbrıs’ta</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yaşlılara</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saygı</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göstermek</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normu</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olduğu</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kadar</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davranıştır</a:t>
            </a:r>
            <a:r>
              <a:rPr lang="en-US" sz="1800" kern="0" dirty="0">
                <a:effectLst/>
                <a:latin typeface="Times New Roman" panose="02020603050405020304" pitchFamily="18" charset="0"/>
                <a:ea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rPr>
              <a:t>Batı</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toplumlarında</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bireysel</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özgürlük</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ilke</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olarak</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vurgulanırken</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doğu</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toplumlarında</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sorumluluk</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daha</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ön</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plandadır</a:t>
            </a:r>
            <a:r>
              <a:rPr lang="tr-TR" sz="1800" kern="0" dirty="0">
                <a:effectLst/>
                <a:latin typeface="Times New Roman" panose="02020603050405020304" pitchFamily="18" charset="0"/>
                <a:ea typeface="Times New Roman" panose="02020603050405020304" pitchFamily="18" charset="0"/>
              </a:rPr>
              <a:t>.</a:t>
            </a:r>
            <a:endParaRPr lang="en-US" dirty="0"/>
          </a:p>
        </p:txBody>
      </p:sp>
      <p:sp>
        <p:nvSpPr>
          <p:cNvPr id="4" name="Slide Number Placeholder 3">
            <a:extLst>
              <a:ext uri="{FF2B5EF4-FFF2-40B4-BE49-F238E27FC236}">
                <a16:creationId xmlns:a16="http://schemas.microsoft.com/office/drawing/2014/main" id="{377272DC-97DA-4A94-EFD4-DD8BA8D4AAD4}"/>
              </a:ext>
            </a:extLst>
          </p:cNvPr>
          <p:cNvSpPr>
            <a:spLocks noGrp="1"/>
          </p:cNvSpPr>
          <p:nvPr>
            <p:ph type="sldNum" sz="quarter" idx="10"/>
          </p:nvPr>
        </p:nvSpPr>
        <p:spPr/>
        <p:txBody>
          <a:bodyPr/>
          <a:lstStyle/>
          <a:p>
            <a:fld id="{48F63A3B-78C7-47BE-AE5E-E10140E04643}" type="slidenum">
              <a:rPr lang="en-US" smtClean="0"/>
              <a:pPr/>
              <a:t>82</a:t>
            </a:fld>
            <a:endParaRPr lang="en-US" dirty="0"/>
          </a:p>
        </p:txBody>
      </p:sp>
    </p:spTree>
    <p:extLst>
      <p:ext uri="{BB962C8B-B14F-4D97-AF65-F5344CB8AC3E}">
        <p14:creationId xmlns:p14="http://schemas.microsoft.com/office/powerpoint/2010/main" val="1068521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DF84BA6-EFAF-E2DA-0379-864A8157B0A8}"/>
              </a:ext>
            </a:extLst>
          </p:cNvPr>
          <p:cNvSpPr>
            <a:spLocks noGrp="1"/>
          </p:cNvSpPr>
          <p:nvPr>
            <p:ph type="sldNum" sz="quarter" idx="10"/>
          </p:nvPr>
        </p:nvSpPr>
        <p:spPr/>
        <p:txBody>
          <a:bodyPr/>
          <a:lstStyle/>
          <a:p>
            <a:fld id="{48F63A3B-78C7-47BE-AE5E-E10140E04643}" type="slidenum">
              <a:rPr lang="en-US" smtClean="0"/>
              <a:pPr/>
              <a:t>83</a:t>
            </a:fld>
            <a:endParaRPr lang="en-US" dirty="0"/>
          </a:p>
        </p:txBody>
      </p:sp>
      <p:pic>
        <p:nvPicPr>
          <p:cNvPr id="7170" name="Picture 2" descr="Etik Kültür Nedir ve Önemi Nedir? - Probuddy Etik Hat &amp; Profesyonel Şikayet  Yönetim Hizmetleri">
            <a:extLst>
              <a:ext uri="{FF2B5EF4-FFF2-40B4-BE49-F238E27FC236}">
                <a16:creationId xmlns:a16="http://schemas.microsoft.com/office/drawing/2014/main" id="{CD6D597A-EE80-9DF4-F431-851BFB0B51CC}"/>
              </a:ext>
            </a:extLst>
          </p:cNvPr>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1643647" y="1101012"/>
            <a:ext cx="8714790" cy="4655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523489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53BAB9-D5D2-5ED8-3440-DB2D27051838}"/>
              </a:ext>
            </a:extLst>
          </p:cNvPr>
          <p:cNvSpPr>
            <a:spLocks noGrp="1"/>
          </p:cNvSpPr>
          <p:nvPr>
            <p:ph sz="quarter" idx="4"/>
          </p:nvPr>
        </p:nvSpPr>
        <p:spPr>
          <a:xfrm>
            <a:off x="914400" y="928689"/>
            <a:ext cx="10511627" cy="5335936"/>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Kavramının</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Sosyolojik</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Boyutu</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Sosyolojik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açıdan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yalnızca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vicdanla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düzenle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ilgilidir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kurallarla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davranışlarını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yönlendirir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Durkheim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ahlakın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toplumdan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doğduğunu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vicdanının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ürün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olduğunu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söyler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bakış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açısına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kurallar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ortak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yaşamını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düzenleyen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kolektif</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bilinç”tir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Örnek:</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Kıbrıs’ta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yardımlaşma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iyilikten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öte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ahlak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Komşuya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yardım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etmek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yalnızca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kişisel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tercih</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zorunluluktur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E9B12E34-2561-7879-99CA-43CE8FCD49A0}"/>
              </a:ext>
            </a:extLst>
          </p:cNvPr>
          <p:cNvSpPr>
            <a:spLocks noGrp="1"/>
          </p:cNvSpPr>
          <p:nvPr>
            <p:ph type="sldNum" sz="quarter" idx="10"/>
          </p:nvPr>
        </p:nvSpPr>
        <p:spPr/>
        <p:txBody>
          <a:bodyPr/>
          <a:lstStyle/>
          <a:p>
            <a:fld id="{48F63A3B-78C7-47BE-AE5E-E10140E04643}" type="slidenum">
              <a:rPr lang="en-US" smtClean="0"/>
              <a:pPr/>
              <a:t>84</a:t>
            </a:fld>
            <a:endParaRPr lang="en-US" dirty="0"/>
          </a:p>
        </p:txBody>
      </p:sp>
    </p:spTree>
    <p:extLst>
      <p:ext uri="{BB962C8B-B14F-4D97-AF65-F5344CB8AC3E}">
        <p14:creationId xmlns:p14="http://schemas.microsoft.com/office/powerpoint/2010/main" val="24462301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431DD0-4488-251D-3186-9F7869EC497D}"/>
              </a:ext>
            </a:extLst>
          </p:cNvPr>
          <p:cNvSpPr>
            <a:spLocks noGrp="1"/>
          </p:cNvSpPr>
          <p:nvPr>
            <p:ph sz="quarter" idx="4"/>
          </p:nvPr>
        </p:nvSpPr>
        <p:spPr>
          <a:xfrm>
            <a:off x="914400" y="737119"/>
            <a:ext cx="10511627" cy="5527506"/>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Evrensel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Görecelik</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kurallar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farklılık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gösterebilir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Bu,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görecelik</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(cultural relativism)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kavramıyla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açıklanır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Ancak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bazı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ilkeler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evrensel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olarak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kabul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edilir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adalet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dürüstlük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hakkı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özgürlük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gibi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Sosyoloji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yaklaşım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arasında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denge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kurmaya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çalışır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Bir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yandan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farklılıklara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saygı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duyar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diğer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yandan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insan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hakları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gibi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evrensel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korunması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gerektiğini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vurgular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ED970015-6017-F62E-950C-A494D5AAB320}"/>
              </a:ext>
            </a:extLst>
          </p:cNvPr>
          <p:cNvSpPr>
            <a:spLocks noGrp="1"/>
          </p:cNvSpPr>
          <p:nvPr>
            <p:ph type="sldNum" sz="quarter" idx="10"/>
          </p:nvPr>
        </p:nvSpPr>
        <p:spPr/>
        <p:txBody>
          <a:bodyPr/>
          <a:lstStyle/>
          <a:p>
            <a:fld id="{48F63A3B-78C7-47BE-AE5E-E10140E04643}" type="slidenum">
              <a:rPr lang="en-US" smtClean="0"/>
              <a:pPr/>
              <a:t>85</a:t>
            </a:fld>
            <a:endParaRPr lang="en-US" dirty="0"/>
          </a:p>
        </p:txBody>
      </p:sp>
    </p:spTree>
    <p:extLst>
      <p:ext uri="{BB962C8B-B14F-4D97-AF65-F5344CB8AC3E}">
        <p14:creationId xmlns:p14="http://schemas.microsoft.com/office/powerpoint/2010/main" val="16437498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8C025E-0791-5582-DF1B-352FC6F632F7}"/>
              </a:ext>
            </a:extLst>
          </p:cNvPr>
          <p:cNvSpPr>
            <a:spLocks noGrp="1"/>
          </p:cNvSpPr>
          <p:nvPr>
            <p:ph sz="quarter" idx="4"/>
          </p:nvPr>
        </p:nvSpPr>
        <p:spPr>
          <a:xfrm>
            <a:off x="914400" y="830424"/>
            <a:ext cx="10511627" cy="5434200"/>
          </a:xfrm>
        </p:spPr>
        <p:txBody>
          <a:bodyPr/>
          <a:lstStyle/>
          <a:p>
            <a:pPr marL="0" marR="0">
              <a:lnSpc>
                <a:spcPct val="115000"/>
              </a:lnSpc>
              <a:spcAft>
                <a:spcPts val="800"/>
              </a:spcAft>
              <a:buNone/>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Peter Singer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Peter Singer (1975/2009)</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Animal Liberation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adlı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eserinde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insan-merkezli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antroposantrik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anlayışını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eleştirir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Ona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yalnızca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insanlar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arasında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tüm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canlılar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arasında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geçerli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olmalıdır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Singer’ın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yaklaşımı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sınırları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aşan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evrensel</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çağrısıdır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hayvanlara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çevreye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diğer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canlılara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karşı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tutumları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gelişmişliğin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göstergesidir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Örnek:</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Kıbrıs’ta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sokak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hayvanlarına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yönelik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farkındalık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kampanyaları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bilincin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yansımasıdır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5F8B6F97-40D5-AE50-3521-F5F7A73B6B08}"/>
              </a:ext>
            </a:extLst>
          </p:cNvPr>
          <p:cNvSpPr>
            <a:spLocks noGrp="1"/>
          </p:cNvSpPr>
          <p:nvPr>
            <p:ph type="sldNum" sz="quarter" idx="10"/>
          </p:nvPr>
        </p:nvSpPr>
        <p:spPr/>
        <p:txBody>
          <a:bodyPr/>
          <a:lstStyle/>
          <a:p>
            <a:fld id="{48F63A3B-78C7-47BE-AE5E-E10140E04643}" type="slidenum">
              <a:rPr lang="en-US" smtClean="0"/>
              <a:pPr/>
              <a:t>86</a:t>
            </a:fld>
            <a:endParaRPr lang="en-US" dirty="0"/>
          </a:p>
        </p:txBody>
      </p:sp>
    </p:spTree>
    <p:extLst>
      <p:ext uri="{BB962C8B-B14F-4D97-AF65-F5344CB8AC3E}">
        <p14:creationId xmlns:p14="http://schemas.microsoft.com/office/powerpoint/2010/main" val="266661891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81F455-A907-FBDD-2FBB-9EFEB5C2B6F7}"/>
              </a:ext>
            </a:extLst>
          </p:cNvPr>
          <p:cNvSpPr>
            <a:spLocks noGrp="1"/>
          </p:cNvSpPr>
          <p:nvPr>
            <p:ph sz="quarter" idx="4"/>
          </p:nvPr>
        </p:nvSpPr>
        <p:spPr>
          <a:xfrm>
            <a:off x="914400" y="1007707"/>
            <a:ext cx="10511627" cy="5256918"/>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Bekiroğlu’nun</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Türkiye’de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Hayvan</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Hakları</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Çalışması</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Bekiroğlu</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(2022)</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Türkiye’de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hayvan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hakları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hareketinin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hem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hem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hukuki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boyutlarını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inceler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Ona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hareket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yalnızca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hayvan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refahı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vicdanının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göstergesidir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n-US" sz="1800" kern="0" dirty="0">
                <a:effectLst/>
                <a:latin typeface="Times New Roman" panose="02020603050405020304" pitchFamily="18" charset="0"/>
                <a:ea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rPr>
              <a:t>analiz</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kültürün</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değerlerle</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nasıl</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iç</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içe</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geçtiğini</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gösterir</a:t>
            </a:r>
            <a:r>
              <a:rPr lang="en-US" sz="1800" kern="0" dirty="0">
                <a:effectLst/>
                <a:latin typeface="Times New Roman" panose="02020603050405020304" pitchFamily="18" charset="0"/>
                <a:ea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rPr>
              <a:t>Toplum</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canlılara</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karşı</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sorumluluk</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bilinci</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geliştirdikçe</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olgunluk</a:t>
            </a:r>
            <a:r>
              <a:rPr lang="en-US" sz="1800" kern="0" dirty="0">
                <a:effectLst/>
                <a:latin typeface="Times New Roman" panose="02020603050405020304" pitchFamily="18" charset="0"/>
                <a:ea typeface="Times New Roman" panose="02020603050405020304" pitchFamily="18" charset="0"/>
              </a:rPr>
              <a:t> da </a:t>
            </a:r>
            <a:r>
              <a:rPr lang="en-US" sz="1800" kern="0" dirty="0" err="1">
                <a:effectLst/>
                <a:latin typeface="Times New Roman" panose="02020603050405020304" pitchFamily="18" charset="0"/>
                <a:ea typeface="Times New Roman" panose="02020603050405020304" pitchFamily="18" charset="0"/>
              </a:rPr>
              <a:t>artar</a:t>
            </a:r>
            <a:r>
              <a:rPr lang="tr-TR" sz="1800" kern="0" dirty="0">
                <a:effectLst/>
                <a:latin typeface="Times New Roman" panose="02020603050405020304" pitchFamily="18" charset="0"/>
                <a:ea typeface="Times New Roman" panose="02020603050405020304" pitchFamily="18" charset="0"/>
              </a:rPr>
              <a:t>.</a:t>
            </a:r>
            <a:endParaRPr lang="en-US" dirty="0"/>
          </a:p>
        </p:txBody>
      </p:sp>
      <p:sp>
        <p:nvSpPr>
          <p:cNvPr id="4" name="Slide Number Placeholder 3">
            <a:extLst>
              <a:ext uri="{FF2B5EF4-FFF2-40B4-BE49-F238E27FC236}">
                <a16:creationId xmlns:a16="http://schemas.microsoft.com/office/drawing/2014/main" id="{259DDBAC-C0F8-8924-0D78-DA453525CE1D}"/>
              </a:ext>
            </a:extLst>
          </p:cNvPr>
          <p:cNvSpPr>
            <a:spLocks noGrp="1"/>
          </p:cNvSpPr>
          <p:nvPr>
            <p:ph type="sldNum" sz="quarter" idx="10"/>
          </p:nvPr>
        </p:nvSpPr>
        <p:spPr/>
        <p:txBody>
          <a:bodyPr/>
          <a:lstStyle/>
          <a:p>
            <a:fld id="{48F63A3B-78C7-47BE-AE5E-E10140E04643}" type="slidenum">
              <a:rPr lang="en-US" smtClean="0"/>
              <a:pPr/>
              <a:t>87</a:t>
            </a:fld>
            <a:endParaRPr lang="en-US" dirty="0"/>
          </a:p>
        </p:txBody>
      </p:sp>
    </p:spTree>
    <p:extLst>
      <p:ext uri="{BB962C8B-B14F-4D97-AF65-F5344CB8AC3E}">
        <p14:creationId xmlns:p14="http://schemas.microsoft.com/office/powerpoint/2010/main" val="194803099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4278E1-0DAE-3142-5AF4-8DD3E031977B}"/>
              </a:ext>
            </a:extLst>
          </p:cNvPr>
          <p:cNvSpPr>
            <a:spLocks noGrp="1"/>
          </p:cNvSpPr>
          <p:nvPr>
            <p:ph sz="quarter" idx="4"/>
          </p:nvPr>
        </p:nvSpPr>
        <p:spPr>
          <a:xfrm>
            <a:off x="914400" y="1082351"/>
            <a:ext cx="10511627" cy="5182273"/>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Din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İlişkisi</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Din,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oluşumunda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tarihsel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olarak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önemli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kaynaktır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Dini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inançlar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doğru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yanlış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anlayışını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şekillendirmiştir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Ancak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modern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toplumlarda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sadece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temellere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insan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hakları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çevre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bilinci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adalet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gibi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seküler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dayanır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Örnek:</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Kıbrıs’ta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farklı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topluluklar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arasında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karşılıklı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hoşgörü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çeşitliliğin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zenginliğe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dönüşebileceğini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gösterir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5992AC52-63B4-A737-C2D3-3A43B9725D58}"/>
              </a:ext>
            </a:extLst>
          </p:cNvPr>
          <p:cNvSpPr>
            <a:spLocks noGrp="1"/>
          </p:cNvSpPr>
          <p:nvPr>
            <p:ph type="sldNum" sz="quarter" idx="10"/>
          </p:nvPr>
        </p:nvSpPr>
        <p:spPr/>
        <p:txBody>
          <a:bodyPr/>
          <a:lstStyle/>
          <a:p>
            <a:fld id="{48F63A3B-78C7-47BE-AE5E-E10140E04643}" type="slidenum">
              <a:rPr lang="en-US" smtClean="0"/>
              <a:pPr/>
              <a:t>88</a:t>
            </a:fld>
            <a:endParaRPr lang="en-US" dirty="0"/>
          </a:p>
        </p:txBody>
      </p:sp>
    </p:spTree>
    <p:extLst>
      <p:ext uri="{BB962C8B-B14F-4D97-AF65-F5344CB8AC3E}">
        <p14:creationId xmlns:p14="http://schemas.microsoft.com/office/powerpoint/2010/main" val="387758173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408302-BB6E-1A92-C8A0-1382624EEE16}"/>
              </a:ext>
            </a:extLst>
          </p:cNvPr>
          <p:cNvSpPr>
            <a:spLocks noGrp="1"/>
          </p:cNvSpPr>
          <p:nvPr>
            <p:ph sz="quarter" idx="4"/>
          </p:nvPr>
        </p:nvSpPr>
        <p:spPr>
          <a:xfrm>
            <a:off x="914400" y="793103"/>
            <a:ext cx="10511627" cy="5471522"/>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Güncel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Sosyolojik</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Örnek: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Dijital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Dijitalleşme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tartışmalara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yeni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boyut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kazandırmıştır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medyada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mahremiyetin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ihlali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bilgi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manipülasyonu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siber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zorbalık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gibi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konular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dijital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kavramını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gündeme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getirmiştir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durum,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teknolojik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ortama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nasıl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taşındığı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sorusunu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doğurur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İnternette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saygı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var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Dijital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özgürlük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sorumluluk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nasıl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dengelenir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Cevap</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bilincin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yalnızca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fiziksel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sanal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dünyada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yaşatılması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gerekir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9B22E3A0-8C37-746C-5400-ED2C8D651028}"/>
              </a:ext>
            </a:extLst>
          </p:cNvPr>
          <p:cNvSpPr>
            <a:spLocks noGrp="1"/>
          </p:cNvSpPr>
          <p:nvPr>
            <p:ph type="sldNum" sz="quarter" idx="10"/>
          </p:nvPr>
        </p:nvSpPr>
        <p:spPr/>
        <p:txBody>
          <a:bodyPr/>
          <a:lstStyle/>
          <a:p>
            <a:fld id="{48F63A3B-78C7-47BE-AE5E-E10140E04643}" type="slidenum">
              <a:rPr lang="en-US" smtClean="0"/>
              <a:pPr/>
              <a:t>89</a:t>
            </a:fld>
            <a:endParaRPr lang="en-US" dirty="0"/>
          </a:p>
        </p:txBody>
      </p:sp>
    </p:spTree>
    <p:extLst>
      <p:ext uri="{BB962C8B-B14F-4D97-AF65-F5344CB8AC3E}">
        <p14:creationId xmlns:p14="http://schemas.microsoft.com/office/powerpoint/2010/main" val="224974086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D83B86-1D24-EB00-FC79-14C79353314E}"/>
              </a:ext>
            </a:extLst>
          </p:cNvPr>
          <p:cNvSpPr>
            <a:spLocks noGrp="1"/>
          </p:cNvSpPr>
          <p:nvPr>
            <p:ph sz="quarter" idx="4"/>
          </p:nvPr>
        </p:nvSpPr>
        <p:spPr>
          <a:xfrm>
            <a:off x="914400" y="928689"/>
            <a:ext cx="10511627" cy="5335936"/>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Adalet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adaletin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sağlanmasında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belirleyici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rol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oynar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Bir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adalet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anlayışı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değerleriyle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doğrudan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ilişkilidir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Örnek:</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Türkiye’de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Kıbrıs’ta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kadın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hakları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eşitlik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çevre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koruma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alanlarında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duyarlılıklar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giderek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artmaktadır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gelişme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dönüşümüne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katkı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sağlar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424875F6-2136-1300-D5E0-7440062D67C5}"/>
              </a:ext>
            </a:extLst>
          </p:cNvPr>
          <p:cNvSpPr>
            <a:spLocks noGrp="1"/>
          </p:cNvSpPr>
          <p:nvPr>
            <p:ph type="sldNum" sz="quarter" idx="10"/>
          </p:nvPr>
        </p:nvSpPr>
        <p:spPr/>
        <p:txBody>
          <a:bodyPr/>
          <a:lstStyle/>
          <a:p>
            <a:fld id="{48F63A3B-78C7-47BE-AE5E-E10140E04643}" type="slidenum">
              <a:rPr lang="en-US" smtClean="0"/>
              <a:pPr/>
              <a:t>90</a:t>
            </a:fld>
            <a:endParaRPr lang="en-US" dirty="0"/>
          </a:p>
        </p:txBody>
      </p:sp>
    </p:spTree>
    <p:extLst>
      <p:ext uri="{BB962C8B-B14F-4D97-AF65-F5344CB8AC3E}">
        <p14:creationId xmlns:p14="http://schemas.microsoft.com/office/powerpoint/2010/main" val="124721992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9F3950-8A87-41B9-6D29-C650F5A58D43}"/>
              </a:ext>
            </a:extLst>
          </p:cNvPr>
          <p:cNvSpPr>
            <a:spLocks noGrp="1"/>
          </p:cNvSpPr>
          <p:nvPr>
            <p:ph sz="quarter" idx="4"/>
          </p:nvPr>
        </p:nvSpPr>
        <p:spPr>
          <a:xfrm>
            <a:off x="914400" y="1156997"/>
            <a:ext cx="10511627" cy="5107628"/>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Sonuç</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birbirini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tamamlayan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kavramdır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yön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etiğe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kazandırır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ahlaki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seviyesi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onun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gelişmişliğinin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göstergesidir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Singer’ın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hayvan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özgürlüğü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Bekiroğlu’nun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vicdan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analizi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modern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dönüşümünün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sembolleridir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Gerçek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başkasına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zarar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vermemeyi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öğrenmekle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başlar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Yrd</a:t>
            </a: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Doç</a:t>
            </a: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 Dr. Sibel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Solyalı</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457247B3-7811-F9EA-5504-E5E432E59587}"/>
              </a:ext>
            </a:extLst>
          </p:cNvPr>
          <p:cNvSpPr>
            <a:spLocks noGrp="1"/>
          </p:cNvSpPr>
          <p:nvPr>
            <p:ph type="sldNum" sz="quarter" idx="10"/>
          </p:nvPr>
        </p:nvSpPr>
        <p:spPr/>
        <p:txBody>
          <a:bodyPr/>
          <a:lstStyle/>
          <a:p>
            <a:fld id="{48F63A3B-78C7-47BE-AE5E-E10140E04643}" type="slidenum">
              <a:rPr lang="en-US" smtClean="0"/>
              <a:pPr/>
              <a:t>91</a:t>
            </a:fld>
            <a:endParaRPr lang="en-US" dirty="0"/>
          </a:p>
        </p:txBody>
      </p:sp>
    </p:spTree>
    <p:extLst>
      <p:ext uri="{BB962C8B-B14F-4D97-AF65-F5344CB8AC3E}">
        <p14:creationId xmlns:p14="http://schemas.microsoft.com/office/powerpoint/2010/main" val="74951615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28F07F-186E-DBCC-ABF9-E85CE5888DC8}"/>
              </a:ext>
            </a:extLst>
          </p:cNvPr>
          <p:cNvSpPr>
            <a:spLocks noGrp="1"/>
          </p:cNvSpPr>
          <p:nvPr>
            <p:ph sz="quarter" idx="4"/>
          </p:nvPr>
        </p:nvSpPr>
        <p:spPr>
          <a:xfrm>
            <a:off x="914400" y="928689"/>
            <a:ext cx="10511627" cy="5335936"/>
          </a:xfrm>
        </p:spPr>
        <p:txBody>
          <a:bodyPr/>
          <a:lstStyle/>
          <a:p>
            <a:pPr marL="0" marR="0">
              <a:lnSpc>
                <a:spcPct val="115000"/>
              </a:lnSpc>
              <a:spcAft>
                <a:spcPts val="800"/>
              </a:spcAft>
              <a:buNone/>
            </a:pPr>
            <a:r>
              <a:rPr lang="en-US" sz="2800" b="1" kern="0" dirty="0">
                <a:effectLst/>
                <a:latin typeface="Times New Roman" panose="02020603050405020304" pitchFamily="18" charset="0"/>
                <a:ea typeface="Times New Roman" panose="02020603050405020304" pitchFamily="18" charset="0"/>
                <a:cs typeface="Times New Roman" panose="02020603050405020304" pitchFamily="18" charset="0"/>
              </a:rPr>
              <a:t>TOPLUM, KÜLTÜR VE KURUM İLİŞKİSİ</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9.1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Giriş</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Bütünün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Üç</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Ayağı</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sosyolojik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yapının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üç</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temel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ayağını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oluşturur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unsurlar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birbirinden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bağımsız</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aksine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sürekli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karşılıklı</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etkileşim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içindedir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taşıyıcısıdır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aracılığıyla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yaşatılır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düzenin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somutlaşmış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hâlidir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Durkheim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ilişkiyi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bütünlük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kavramıyla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açıklar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Bir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aile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din,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ekonomi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siyaset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uyumlu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işlediğinde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sağlanır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Ancak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işleyişi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arasında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kopukluk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olursa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çözülme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başlar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20769A27-03B7-F1B8-E246-D43455495C30}"/>
              </a:ext>
            </a:extLst>
          </p:cNvPr>
          <p:cNvSpPr>
            <a:spLocks noGrp="1"/>
          </p:cNvSpPr>
          <p:nvPr>
            <p:ph type="sldNum" sz="quarter" idx="10"/>
          </p:nvPr>
        </p:nvSpPr>
        <p:spPr/>
        <p:txBody>
          <a:bodyPr/>
          <a:lstStyle/>
          <a:p>
            <a:fld id="{48F63A3B-78C7-47BE-AE5E-E10140E04643}" type="slidenum">
              <a:rPr lang="en-US" smtClean="0"/>
              <a:pPr/>
              <a:t>92</a:t>
            </a:fld>
            <a:endParaRPr lang="en-US" dirty="0"/>
          </a:p>
        </p:txBody>
      </p:sp>
    </p:spTree>
    <p:extLst>
      <p:ext uri="{BB962C8B-B14F-4D97-AF65-F5344CB8AC3E}">
        <p14:creationId xmlns:p14="http://schemas.microsoft.com/office/powerpoint/2010/main" val="333987854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3D27220A-EC3F-FE88-C1A7-79C0745F9852}"/>
              </a:ext>
            </a:extLst>
          </p:cNvPr>
          <p:cNvPicPr>
            <a:picLocks noGrp="1" noChangeAspect="1"/>
          </p:cNvPicPr>
          <p:nvPr>
            <p:ph sz="quarter" idx="4"/>
          </p:nvPr>
        </p:nvPicPr>
        <p:blipFill>
          <a:blip r:embed="rId2"/>
          <a:stretch>
            <a:fillRect/>
          </a:stretch>
        </p:blipFill>
        <p:spPr>
          <a:xfrm>
            <a:off x="590844" y="597160"/>
            <a:ext cx="10624551" cy="5458408"/>
          </a:xfrm>
          <a:prstGeom prst="rect">
            <a:avLst/>
          </a:prstGeom>
        </p:spPr>
      </p:pic>
      <p:sp>
        <p:nvSpPr>
          <p:cNvPr id="4" name="Slide Number Placeholder 3">
            <a:extLst>
              <a:ext uri="{FF2B5EF4-FFF2-40B4-BE49-F238E27FC236}">
                <a16:creationId xmlns:a16="http://schemas.microsoft.com/office/drawing/2014/main" id="{B9D29DB8-CEA5-A8B2-24D9-99D6C2863E9E}"/>
              </a:ext>
            </a:extLst>
          </p:cNvPr>
          <p:cNvSpPr>
            <a:spLocks noGrp="1"/>
          </p:cNvSpPr>
          <p:nvPr>
            <p:ph type="sldNum" sz="quarter" idx="10"/>
          </p:nvPr>
        </p:nvSpPr>
        <p:spPr/>
        <p:txBody>
          <a:bodyPr/>
          <a:lstStyle/>
          <a:p>
            <a:fld id="{48F63A3B-78C7-47BE-AE5E-E10140E04643}" type="slidenum">
              <a:rPr lang="en-US" smtClean="0"/>
              <a:pPr/>
              <a:t>93</a:t>
            </a:fld>
            <a:endParaRPr lang="en-US" dirty="0"/>
          </a:p>
        </p:txBody>
      </p:sp>
    </p:spTree>
    <p:extLst>
      <p:ext uri="{BB962C8B-B14F-4D97-AF65-F5344CB8AC3E}">
        <p14:creationId xmlns:p14="http://schemas.microsoft.com/office/powerpoint/2010/main" val="297234871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E3704E-502A-C4A2-A4A3-DCDCB69A0A86}"/>
              </a:ext>
            </a:extLst>
          </p:cNvPr>
          <p:cNvSpPr>
            <a:spLocks noGrp="1"/>
          </p:cNvSpPr>
          <p:nvPr>
            <p:ph sz="quarter" idx="4"/>
          </p:nvPr>
        </p:nvSpPr>
        <p:spPr>
          <a:xfrm>
            <a:off x="914400" y="802433"/>
            <a:ext cx="10511627" cy="5859624"/>
          </a:xfrm>
        </p:spPr>
        <p:txBody>
          <a:bodyPr>
            <a:normAutofit fontScale="92500" lnSpcReduction="20000"/>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İşlevselci</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Yaklaşım</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Emile Durkheim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Talcott Parsons</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gibi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işlevselci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düşünürlere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organizma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gibidir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organizmanın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organlarıdır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belirli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işlev</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sistemin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devamını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sağlar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Örneğin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Aile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sevgi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sosyalleşmeyi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sağlar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bilgi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aktarımını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yürütür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Din moral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korur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Ekonomi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üretimi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gerçekleştirir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Siyaset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otoriteyi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düzenler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desteklenir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herhangi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işlevini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yitirse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anomi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normsuzluk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ortaya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çıkar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Örnek: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Pandemi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döneminde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kurumunun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çevrim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içi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ortama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geçmesi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dengenin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kurulmasını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zorunlu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kılmıştır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A37356F9-16F0-5854-4CED-223907C03957}"/>
              </a:ext>
            </a:extLst>
          </p:cNvPr>
          <p:cNvSpPr>
            <a:spLocks noGrp="1"/>
          </p:cNvSpPr>
          <p:nvPr>
            <p:ph type="sldNum" sz="quarter" idx="10"/>
          </p:nvPr>
        </p:nvSpPr>
        <p:spPr/>
        <p:txBody>
          <a:bodyPr/>
          <a:lstStyle/>
          <a:p>
            <a:fld id="{48F63A3B-78C7-47BE-AE5E-E10140E04643}" type="slidenum">
              <a:rPr lang="en-US" smtClean="0"/>
              <a:pPr/>
              <a:t>94</a:t>
            </a:fld>
            <a:endParaRPr lang="en-US" dirty="0"/>
          </a:p>
        </p:txBody>
      </p:sp>
    </p:spTree>
    <p:extLst>
      <p:ext uri="{BB962C8B-B14F-4D97-AF65-F5344CB8AC3E}">
        <p14:creationId xmlns:p14="http://schemas.microsoft.com/office/powerpoint/2010/main" val="349696720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DA59436-0194-D6E0-840E-38BD29149B72}"/>
              </a:ext>
            </a:extLst>
          </p:cNvPr>
          <p:cNvPicPr>
            <a:picLocks noGrp="1" noChangeAspect="1"/>
          </p:cNvPicPr>
          <p:nvPr>
            <p:ph sz="quarter" idx="4"/>
          </p:nvPr>
        </p:nvPicPr>
        <p:blipFill>
          <a:blip r:embed="rId2"/>
          <a:stretch>
            <a:fillRect/>
          </a:stretch>
        </p:blipFill>
        <p:spPr>
          <a:xfrm>
            <a:off x="1520890" y="1129004"/>
            <a:ext cx="9144000" cy="5271797"/>
          </a:xfrm>
          <a:prstGeom prst="rect">
            <a:avLst/>
          </a:prstGeom>
        </p:spPr>
      </p:pic>
      <p:sp>
        <p:nvSpPr>
          <p:cNvPr id="4" name="Slide Number Placeholder 3">
            <a:extLst>
              <a:ext uri="{FF2B5EF4-FFF2-40B4-BE49-F238E27FC236}">
                <a16:creationId xmlns:a16="http://schemas.microsoft.com/office/drawing/2014/main" id="{A1997ABF-162E-B065-C475-C912062B6B26}"/>
              </a:ext>
            </a:extLst>
          </p:cNvPr>
          <p:cNvSpPr>
            <a:spLocks noGrp="1"/>
          </p:cNvSpPr>
          <p:nvPr>
            <p:ph type="sldNum" sz="quarter" idx="10"/>
          </p:nvPr>
        </p:nvSpPr>
        <p:spPr/>
        <p:txBody>
          <a:bodyPr/>
          <a:lstStyle/>
          <a:p>
            <a:fld id="{48F63A3B-78C7-47BE-AE5E-E10140E04643}" type="slidenum">
              <a:rPr lang="en-US" smtClean="0"/>
              <a:pPr/>
              <a:t>95</a:t>
            </a:fld>
            <a:endParaRPr lang="en-US" dirty="0"/>
          </a:p>
        </p:txBody>
      </p:sp>
    </p:spTree>
    <p:extLst>
      <p:ext uri="{BB962C8B-B14F-4D97-AF65-F5344CB8AC3E}">
        <p14:creationId xmlns:p14="http://schemas.microsoft.com/office/powerpoint/2010/main" val="340495676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E772D5-0B1A-1551-05FC-89F638127F3C}"/>
              </a:ext>
            </a:extLst>
          </p:cNvPr>
          <p:cNvSpPr>
            <a:spLocks noGrp="1"/>
          </p:cNvSpPr>
          <p:nvPr>
            <p:ph sz="quarter" idx="4"/>
          </p:nvPr>
        </p:nvSpPr>
        <p:spPr>
          <a:xfrm>
            <a:off x="914400" y="928689"/>
            <a:ext cx="10511627" cy="5335936"/>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Çatışmacı</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Yaklaşım</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Karl Marx</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izleyicilerine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toplumdaki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her zaman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eşitlikçi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egemen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sınıfın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korumak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için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işlev</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anlamda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ideolojik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aygıt”tır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Örnek:</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sistemi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mevcut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ekonomik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üretir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Medya,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egemen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normalleştirir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Siyaset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güçlü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sınıfların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çıkarlarını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korur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Marx’a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değişmesi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için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sınıf</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bilincinin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farkındalığın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artması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gerekir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nedenle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hem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baskı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hem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direniş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aracıdır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4DE21B60-A7D9-C195-B054-0B7186255BA2}"/>
              </a:ext>
            </a:extLst>
          </p:cNvPr>
          <p:cNvSpPr>
            <a:spLocks noGrp="1"/>
          </p:cNvSpPr>
          <p:nvPr>
            <p:ph type="sldNum" sz="quarter" idx="10"/>
          </p:nvPr>
        </p:nvSpPr>
        <p:spPr/>
        <p:txBody>
          <a:bodyPr/>
          <a:lstStyle/>
          <a:p>
            <a:fld id="{48F63A3B-78C7-47BE-AE5E-E10140E04643}" type="slidenum">
              <a:rPr lang="en-US" smtClean="0"/>
              <a:pPr/>
              <a:t>96</a:t>
            </a:fld>
            <a:endParaRPr lang="en-US" dirty="0"/>
          </a:p>
        </p:txBody>
      </p:sp>
    </p:spTree>
    <p:extLst>
      <p:ext uri="{BB962C8B-B14F-4D97-AF65-F5344CB8AC3E}">
        <p14:creationId xmlns:p14="http://schemas.microsoft.com/office/powerpoint/2010/main" val="49432583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D1D271-37D6-B615-6E8B-B3D92F2D84F9}"/>
              </a:ext>
            </a:extLst>
          </p:cNvPr>
          <p:cNvSpPr>
            <a:spLocks noGrp="1"/>
          </p:cNvSpPr>
          <p:nvPr>
            <p:ph sz="quarter" idx="4"/>
          </p:nvPr>
        </p:nvSpPr>
        <p:spPr>
          <a:xfrm>
            <a:off x="914400" y="1101013"/>
            <a:ext cx="10511627" cy="5163612"/>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Sembolik</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Etkileşimci</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Yaklaşım</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George Herbert Mead</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Erving Goffman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gibi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düşünürler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etkileşimlerle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kurulduğunu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savunur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günlük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ilişkilerinde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kazanır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ise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anlamların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paylaşıldığı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sembolik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sistemdir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Örnek:</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Okulda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öğretmen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öğrenci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rolleri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sembolik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etkileşimle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oluşur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Ailede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anne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“baba”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rolleri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sembollerle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pekişir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yaklaşım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ilişkisinin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mikro</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düzeyde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nasıl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yaşandığını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anlamamıza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yardımcı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CD8A7C15-D4CE-61E6-4DD0-1CD07F9C4047}"/>
              </a:ext>
            </a:extLst>
          </p:cNvPr>
          <p:cNvSpPr>
            <a:spLocks noGrp="1"/>
          </p:cNvSpPr>
          <p:nvPr>
            <p:ph type="sldNum" sz="quarter" idx="10"/>
          </p:nvPr>
        </p:nvSpPr>
        <p:spPr/>
        <p:txBody>
          <a:bodyPr/>
          <a:lstStyle/>
          <a:p>
            <a:fld id="{48F63A3B-78C7-47BE-AE5E-E10140E04643}" type="slidenum">
              <a:rPr lang="en-US" smtClean="0"/>
              <a:pPr/>
              <a:t>97</a:t>
            </a:fld>
            <a:endParaRPr lang="en-US" dirty="0"/>
          </a:p>
        </p:txBody>
      </p:sp>
    </p:spTree>
    <p:extLst>
      <p:ext uri="{BB962C8B-B14F-4D97-AF65-F5344CB8AC3E}">
        <p14:creationId xmlns:p14="http://schemas.microsoft.com/office/powerpoint/2010/main" val="335772564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11FD48-C36B-CA23-963B-482E75F2464D}"/>
              </a:ext>
            </a:extLst>
          </p:cNvPr>
          <p:cNvSpPr>
            <a:spLocks noGrp="1"/>
          </p:cNvSpPr>
          <p:nvPr>
            <p:ph sz="quarter" idx="4"/>
          </p:nvPr>
        </p:nvSpPr>
        <p:spPr>
          <a:xfrm>
            <a:off x="914400" y="928689"/>
            <a:ext cx="10511627" cy="5335936"/>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Türkiye’den</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Örnekler</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Aile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hâlen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temel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taşıyıcısıdır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Ancak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kurumunun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uluslararasılaşması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yeni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girmesine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yol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açmıştır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süreçte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geleneksel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dayanışma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özgürlük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arasında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denge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arayışı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sürmektedir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Türkiye:</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ekonomi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din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arasındaki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ilişki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doğrudan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etkiler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Cumhuriyet’in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kuruluşuyla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birlikte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laiklik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ulusçuluk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çağdaşlık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reformlarla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desteklenmiştir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Bugün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ise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küreselleşme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yeni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etkileşimini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zorunlu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kılmıştır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A5092D19-407A-E8EA-8244-D0C1D92B0CA8}"/>
              </a:ext>
            </a:extLst>
          </p:cNvPr>
          <p:cNvSpPr>
            <a:spLocks noGrp="1"/>
          </p:cNvSpPr>
          <p:nvPr>
            <p:ph type="sldNum" sz="quarter" idx="10"/>
          </p:nvPr>
        </p:nvSpPr>
        <p:spPr/>
        <p:txBody>
          <a:bodyPr/>
          <a:lstStyle/>
          <a:p>
            <a:fld id="{48F63A3B-78C7-47BE-AE5E-E10140E04643}" type="slidenum">
              <a:rPr lang="en-US" smtClean="0"/>
              <a:pPr/>
              <a:t>98</a:t>
            </a:fld>
            <a:endParaRPr lang="en-US" dirty="0"/>
          </a:p>
        </p:txBody>
      </p:sp>
    </p:spTree>
    <p:extLst>
      <p:ext uri="{BB962C8B-B14F-4D97-AF65-F5344CB8AC3E}">
        <p14:creationId xmlns:p14="http://schemas.microsoft.com/office/powerpoint/2010/main" val="176472574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5F919A-8728-9785-DDD5-5BD2B9D7EF2A}"/>
              </a:ext>
            </a:extLst>
          </p:cNvPr>
          <p:cNvSpPr>
            <a:spLocks noGrp="1"/>
          </p:cNvSpPr>
          <p:nvPr>
            <p:ph sz="quarter" idx="4"/>
          </p:nvPr>
        </p:nvSpPr>
        <p:spPr>
          <a:xfrm>
            <a:off x="914400" y="928689"/>
            <a:ext cx="10511627" cy="5335936"/>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Uyum</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Kurumsal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Denge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istikrarı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uyumuna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bağlıdır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uygun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çalışmazsa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yabancılaşma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ortaya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çıkar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güvenini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zedeler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Örnek:</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fırsat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eşitliği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sağlanmazsa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adalet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duygusu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zayıflar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olarak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çalışkanlık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kayırmacılığa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bırakabilir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Durkheim’a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moral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dengesizliklerle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sarsıldığında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yeni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düzenin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doğması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kaçınılmazdır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8C7F9391-F849-66D9-F05E-763522D987C4}"/>
              </a:ext>
            </a:extLst>
          </p:cNvPr>
          <p:cNvSpPr>
            <a:spLocks noGrp="1"/>
          </p:cNvSpPr>
          <p:nvPr>
            <p:ph type="sldNum" sz="quarter" idx="10"/>
          </p:nvPr>
        </p:nvSpPr>
        <p:spPr/>
        <p:txBody>
          <a:bodyPr/>
          <a:lstStyle/>
          <a:p>
            <a:fld id="{48F63A3B-78C7-47BE-AE5E-E10140E04643}" type="slidenum">
              <a:rPr lang="en-US" smtClean="0"/>
              <a:pPr/>
              <a:t>99</a:t>
            </a:fld>
            <a:endParaRPr lang="en-US" dirty="0"/>
          </a:p>
        </p:txBody>
      </p:sp>
    </p:spTree>
    <p:extLst>
      <p:ext uri="{BB962C8B-B14F-4D97-AF65-F5344CB8AC3E}">
        <p14:creationId xmlns:p14="http://schemas.microsoft.com/office/powerpoint/2010/main" val="64675494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29A453-168E-1D7F-AF64-8364F52A9684}"/>
              </a:ext>
            </a:extLst>
          </p:cNvPr>
          <p:cNvSpPr>
            <a:spLocks noGrp="1"/>
          </p:cNvSpPr>
          <p:nvPr>
            <p:ph sz="quarter" idx="4"/>
          </p:nvPr>
        </p:nvSpPr>
        <p:spPr>
          <a:xfrm>
            <a:off x="914400" y="928689"/>
            <a:ext cx="10511627" cy="5335936"/>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Dönüşüm</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Kurumsal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Yeniden</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Yapılanma</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yapısını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tanımlar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Teknolojik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yenilikler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dijitalleşme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küresel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etkileşim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ekonomiye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kadar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tüm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dönüştürmektedir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Örnek:</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Üniversitelerde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uzaktan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kalıcı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hale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gelmiştir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yaşamında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esnek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çalışma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yeni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norm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oluşturmuştur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Dini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çevrim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içi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vaaz</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yayınlarla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yeni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iletişim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geliştirmiştir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dönüşüm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ilişkisinin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dinamik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doğasını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kanıtlar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EFCA15B6-D8C6-1F97-0685-9D3E949A6F9F}"/>
              </a:ext>
            </a:extLst>
          </p:cNvPr>
          <p:cNvSpPr>
            <a:spLocks noGrp="1"/>
          </p:cNvSpPr>
          <p:nvPr>
            <p:ph type="sldNum" sz="quarter" idx="10"/>
          </p:nvPr>
        </p:nvSpPr>
        <p:spPr/>
        <p:txBody>
          <a:bodyPr/>
          <a:lstStyle/>
          <a:p>
            <a:fld id="{48F63A3B-78C7-47BE-AE5E-E10140E04643}" type="slidenum">
              <a:rPr lang="en-US" smtClean="0"/>
              <a:pPr/>
              <a:t>100</a:t>
            </a:fld>
            <a:endParaRPr lang="en-US" dirty="0"/>
          </a:p>
        </p:txBody>
      </p:sp>
    </p:spTree>
    <p:extLst>
      <p:ext uri="{BB962C8B-B14F-4D97-AF65-F5344CB8AC3E}">
        <p14:creationId xmlns:p14="http://schemas.microsoft.com/office/powerpoint/2010/main" val="184924767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61ADA8-E994-4042-8D43-91E83529E467}"/>
              </a:ext>
            </a:extLst>
          </p:cNvPr>
          <p:cNvSpPr>
            <a:spLocks noGrp="1"/>
          </p:cNvSpPr>
          <p:nvPr>
            <p:ph sz="quarter" idx="4"/>
          </p:nvPr>
        </p:nvSpPr>
        <p:spPr>
          <a:xfrm>
            <a:off x="914400" y="1119673"/>
            <a:ext cx="10511627" cy="5144951"/>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Sonuç</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bütünün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üç</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parçasıdır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taşıyıcısı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ruhu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ikisinin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canlı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organizmasıdır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dönüştürür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yenilikler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biçimlendirir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Sosyoloji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döngüyü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anlamaya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çalışarak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istikrarın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nasıl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sürdürülebileceğine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ipuçları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sunar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nabzı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işleyişinde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ruhu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ise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atar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Yrd</a:t>
            </a: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Doç</a:t>
            </a: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 Dr. Sibel </a:t>
            </a:r>
            <a:r>
              <a:rPr lang="en-US" sz="1800" i="1" kern="0" dirty="0" err="1">
                <a:effectLst/>
                <a:latin typeface="Times New Roman" panose="02020603050405020304" pitchFamily="18" charset="0"/>
                <a:ea typeface="Times New Roman" panose="02020603050405020304" pitchFamily="18" charset="0"/>
                <a:cs typeface="Times New Roman" panose="02020603050405020304" pitchFamily="18" charset="0"/>
              </a:rPr>
              <a:t>Solyalı</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94D06071-34BE-2131-F079-73FB33DF56F5}"/>
              </a:ext>
            </a:extLst>
          </p:cNvPr>
          <p:cNvSpPr>
            <a:spLocks noGrp="1"/>
          </p:cNvSpPr>
          <p:nvPr>
            <p:ph type="sldNum" sz="quarter" idx="10"/>
          </p:nvPr>
        </p:nvSpPr>
        <p:spPr/>
        <p:txBody>
          <a:bodyPr/>
          <a:lstStyle/>
          <a:p>
            <a:fld id="{48F63A3B-78C7-47BE-AE5E-E10140E04643}" type="slidenum">
              <a:rPr lang="en-US" smtClean="0"/>
              <a:pPr/>
              <a:t>101</a:t>
            </a:fld>
            <a:endParaRPr lang="en-US" dirty="0"/>
          </a:p>
        </p:txBody>
      </p:sp>
    </p:spTree>
    <p:extLst>
      <p:ext uri="{BB962C8B-B14F-4D97-AF65-F5344CB8AC3E}">
        <p14:creationId xmlns:p14="http://schemas.microsoft.com/office/powerpoint/2010/main" val="68683065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E6106D-B30A-B73B-BFFE-B64E8489A652}"/>
              </a:ext>
            </a:extLst>
          </p:cNvPr>
          <p:cNvSpPr>
            <a:spLocks noGrp="1"/>
          </p:cNvSpPr>
          <p:nvPr>
            <p:ph sz="quarter" idx="4"/>
          </p:nvPr>
        </p:nvSpPr>
        <p:spPr>
          <a:xfrm>
            <a:off x="914400" y="559837"/>
            <a:ext cx="10511627" cy="6074228"/>
          </a:xfrm>
        </p:spPr>
        <p:txBody>
          <a:bodyPr>
            <a:normAutofit/>
          </a:bodyPr>
          <a:lstStyle/>
          <a:p>
            <a:pPr marL="0" marR="0">
              <a:lnSpc>
                <a:spcPct val="115000"/>
              </a:lnSpc>
              <a:spcAft>
                <a:spcPts val="800"/>
              </a:spcAft>
              <a:buNone/>
            </a:pPr>
            <a:r>
              <a:rPr lang="en-US" sz="2800" b="1" kern="0" dirty="0">
                <a:effectLst/>
                <a:latin typeface="Times New Roman" panose="02020603050405020304" pitchFamily="18" charset="0"/>
                <a:ea typeface="Times New Roman" panose="02020603050405020304" pitchFamily="18" charset="0"/>
                <a:cs typeface="Times New Roman" panose="02020603050405020304" pitchFamily="18" charset="0"/>
              </a:rPr>
              <a:t>SONUÇ VE DEĞERLENDİRME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Genel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Değerlendirme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arasındaki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ilişki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sosyolojinin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merkezinde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alır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unsurlar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birbirini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tamamlayan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dinamik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süreçlerdir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Bir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sürekliliği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yaşatılmasına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ise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teknoloji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medya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gibi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araçlarla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yeni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üretilmesine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bağlıdır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Durkheim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korumak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için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moral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temellere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dayanması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gerektiğini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vurgulamıştır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Giddens</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eylemin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birbirini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şekillendirdiğini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söylerken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düzenin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sabit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sürekli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üretildiğini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belirtmiştir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Illich</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sistem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içindeki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özgürlüğünü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sorgulamış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okulun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ötesinde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öğrenme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önermiştir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Singer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Bekiroğlu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ise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duyarlılığın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vicdanın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gelişmişliğini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gösterdiğini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savunmuştur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görüşlerin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kesişim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noktasında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şu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temel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fikir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öne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çıkar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yalnızca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kurumlarının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gücüyle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kültürlerinin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derinliği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bilincinin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olgunluğuyla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ayakta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kalır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71B7F83C-BDE2-53E5-1F2B-1A1F17994D79}"/>
              </a:ext>
            </a:extLst>
          </p:cNvPr>
          <p:cNvSpPr>
            <a:spLocks noGrp="1"/>
          </p:cNvSpPr>
          <p:nvPr>
            <p:ph type="sldNum" sz="quarter" idx="10"/>
          </p:nvPr>
        </p:nvSpPr>
        <p:spPr/>
        <p:txBody>
          <a:bodyPr/>
          <a:lstStyle/>
          <a:p>
            <a:fld id="{48F63A3B-78C7-47BE-AE5E-E10140E04643}" type="slidenum">
              <a:rPr lang="en-US" smtClean="0"/>
              <a:pPr/>
              <a:t>102</a:t>
            </a:fld>
            <a:endParaRPr lang="en-US" dirty="0"/>
          </a:p>
        </p:txBody>
      </p:sp>
    </p:spTree>
    <p:extLst>
      <p:ext uri="{BB962C8B-B14F-4D97-AF65-F5344CB8AC3E}">
        <p14:creationId xmlns:p14="http://schemas.microsoft.com/office/powerpoint/2010/main" val="167447278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894D9B-AF10-580F-0DD3-7224710DDE5F}"/>
              </a:ext>
            </a:extLst>
          </p:cNvPr>
          <p:cNvSpPr>
            <a:spLocks noGrp="1"/>
          </p:cNvSpPr>
          <p:nvPr>
            <p:ph sz="quarter" idx="4"/>
          </p:nvPr>
        </p:nvSpPr>
        <p:spPr>
          <a:xfrm>
            <a:off x="914400" y="783771"/>
            <a:ext cx="10511627" cy="5480853"/>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Bütünleşme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Dengesi</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sağlıklı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işlemesi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için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bütünleşme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arasında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denge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kurulmalıdır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Aşırı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durağanlık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ilerlemeyi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engellerken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aşırı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kimlik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kaybına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yol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açabilir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nedenle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sosyolojik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analiz</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hem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koruyucu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hem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yenileyici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yönlerini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değerlendirmelidir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örneği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dengeyi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gösteren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iyi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laboratuvardır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Geleneksel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aile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korunmakta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Uluslararası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aracılığıyla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yenilenme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yaşanmakta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Genç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kuşaklar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çok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kültürlü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kimliklerle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büyümektedir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süreç</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hem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uyum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hem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yenilenme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açısından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dikkate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DDC89373-6081-635D-5F72-0982AAC42A5D}"/>
              </a:ext>
            </a:extLst>
          </p:cNvPr>
          <p:cNvSpPr>
            <a:spLocks noGrp="1"/>
          </p:cNvSpPr>
          <p:nvPr>
            <p:ph type="sldNum" sz="quarter" idx="10"/>
          </p:nvPr>
        </p:nvSpPr>
        <p:spPr/>
        <p:txBody>
          <a:bodyPr/>
          <a:lstStyle/>
          <a:p>
            <a:fld id="{48F63A3B-78C7-47BE-AE5E-E10140E04643}" type="slidenum">
              <a:rPr lang="en-US" smtClean="0"/>
              <a:pPr/>
              <a:t>103</a:t>
            </a:fld>
            <a:endParaRPr lang="en-US" dirty="0"/>
          </a:p>
        </p:txBody>
      </p:sp>
    </p:spTree>
    <p:extLst>
      <p:ext uri="{BB962C8B-B14F-4D97-AF65-F5344CB8AC3E}">
        <p14:creationId xmlns:p14="http://schemas.microsoft.com/office/powerpoint/2010/main" val="227744185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479AD6-F053-50CD-9477-3754A41DD138}"/>
              </a:ext>
            </a:extLst>
          </p:cNvPr>
          <p:cNvSpPr>
            <a:spLocks noGrp="1"/>
          </p:cNvSpPr>
          <p:nvPr>
            <p:ph sz="quarter" idx="4"/>
          </p:nvPr>
        </p:nvSpPr>
        <p:spPr>
          <a:xfrm>
            <a:off x="914400" y="928689"/>
            <a:ext cx="10511627" cy="5335936"/>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Kurumların</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Dönüşümdeki</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Rolü</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din,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ekonomi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siyaset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yalnızca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düzeni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sürdürmekle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kalmaz</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aynı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zamanda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değişimin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taşıyıcısıdır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dönüştürür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ekonomi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değiştirir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siyaset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öncelikleri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belirler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çatıştığında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gerilim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ortaya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çıkar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Örneğin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fırsat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eşitsizliği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adalet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zedeler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Ekonomik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krizler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dayanışma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kültürünü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sınar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Siyasal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kutuplaşma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güveni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sarsar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Dolayısıyla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yalnızca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işlevsel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aynı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zamanda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ahlaki</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sorumluluk</a:t>
            </a: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taşıyan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yapılardır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F608C240-3223-86EF-EEAE-88273A0EA31C}"/>
              </a:ext>
            </a:extLst>
          </p:cNvPr>
          <p:cNvSpPr>
            <a:spLocks noGrp="1"/>
          </p:cNvSpPr>
          <p:nvPr>
            <p:ph type="sldNum" sz="quarter" idx="10"/>
          </p:nvPr>
        </p:nvSpPr>
        <p:spPr/>
        <p:txBody>
          <a:bodyPr/>
          <a:lstStyle/>
          <a:p>
            <a:fld id="{48F63A3B-78C7-47BE-AE5E-E10140E04643}" type="slidenum">
              <a:rPr lang="en-US" smtClean="0"/>
              <a:pPr/>
              <a:t>104</a:t>
            </a:fld>
            <a:endParaRPr lang="en-US" dirty="0"/>
          </a:p>
        </p:txBody>
      </p:sp>
    </p:spTree>
    <p:extLst>
      <p:ext uri="{BB962C8B-B14F-4D97-AF65-F5344CB8AC3E}">
        <p14:creationId xmlns:p14="http://schemas.microsoft.com/office/powerpoint/2010/main" val="425570484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5D1939-04ED-337D-DE80-2AB5F1FC50E9}"/>
              </a:ext>
            </a:extLst>
          </p:cNvPr>
          <p:cNvSpPr>
            <a:spLocks noGrp="1"/>
          </p:cNvSpPr>
          <p:nvPr>
            <p:ph sz="quarter" idx="4"/>
          </p:nvPr>
        </p:nvSpPr>
        <p:spPr>
          <a:xfrm>
            <a:off x="914400" y="1063691"/>
            <a:ext cx="10511627" cy="5200934"/>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Değerlerin</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Yaşamdaki</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Önemi</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kimlik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kazandırır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tarihsel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sürekliliği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sağlar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Bir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geleceğe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güvenle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bakabilmesi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geçmişinden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getirdiği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çağın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gerekleriyle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uyumlu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yaşatmasına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bağlıdır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Tanpınar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geçmişin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mirasıyla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geleceğin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enerjisini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birleştiren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kalıcıdır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der.</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sosyolojide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süreklilik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ilkesine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denk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düşer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Kültürünü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reddeden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kimliğini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yitirir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ama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kültürünü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geliştiremeyen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durağanlaşır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A838994C-D98A-B559-EE22-83DB36C51225}"/>
              </a:ext>
            </a:extLst>
          </p:cNvPr>
          <p:cNvSpPr>
            <a:spLocks noGrp="1"/>
          </p:cNvSpPr>
          <p:nvPr>
            <p:ph type="sldNum" sz="quarter" idx="10"/>
          </p:nvPr>
        </p:nvSpPr>
        <p:spPr/>
        <p:txBody>
          <a:bodyPr/>
          <a:lstStyle/>
          <a:p>
            <a:fld id="{48F63A3B-78C7-47BE-AE5E-E10140E04643}" type="slidenum">
              <a:rPr lang="en-US" smtClean="0"/>
              <a:pPr/>
              <a:t>105</a:t>
            </a:fld>
            <a:endParaRPr lang="en-US" dirty="0"/>
          </a:p>
        </p:txBody>
      </p:sp>
    </p:spTree>
    <p:extLst>
      <p:ext uri="{BB962C8B-B14F-4D97-AF65-F5344CB8AC3E}">
        <p14:creationId xmlns:p14="http://schemas.microsoft.com/office/powerpoint/2010/main" val="266188775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DC1362-0895-D474-CB89-064A400EEEF4}"/>
              </a:ext>
            </a:extLst>
          </p:cNvPr>
          <p:cNvSpPr>
            <a:spLocks noGrp="1"/>
          </p:cNvSpPr>
          <p:nvPr>
            <p:ph sz="quarter" idx="4"/>
          </p:nvPr>
        </p:nvSpPr>
        <p:spPr>
          <a:xfrm>
            <a:off x="914400" y="1082351"/>
            <a:ext cx="10511627" cy="5182273"/>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Vicdan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vicdanıdır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bilinçle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desteklenmediğinde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anlamını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yitirir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nedenle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çağdaş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toplumlarda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adalet</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çevre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bilinci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insan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hayvan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hakları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gibi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alanlar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yeni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oluşumuna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katkı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sağlar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Singer</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canlı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hakları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üzerine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yaklaşımı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sınırların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genişlemesi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gerektiğini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vurgular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Bekiroğlu</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analizleri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farkındalığın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hukuki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dönüşüme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nasıl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yön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verdiğini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gösterir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geliştiğinde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yalnızca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bilgi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bilinç</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üretir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6BC15C63-AEB4-5FE7-A00C-25397123F0A4}"/>
              </a:ext>
            </a:extLst>
          </p:cNvPr>
          <p:cNvSpPr>
            <a:spLocks noGrp="1"/>
          </p:cNvSpPr>
          <p:nvPr>
            <p:ph type="sldNum" sz="quarter" idx="10"/>
          </p:nvPr>
        </p:nvSpPr>
        <p:spPr/>
        <p:txBody>
          <a:bodyPr/>
          <a:lstStyle/>
          <a:p>
            <a:fld id="{48F63A3B-78C7-47BE-AE5E-E10140E04643}" type="slidenum">
              <a:rPr lang="en-US" smtClean="0"/>
              <a:pPr/>
              <a:t>106</a:t>
            </a:fld>
            <a:endParaRPr lang="en-US" dirty="0"/>
          </a:p>
        </p:txBody>
      </p:sp>
    </p:spTree>
    <p:extLst>
      <p:ext uri="{BB962C8B-B14F-4D97-AF65-F5344CB8AC3E}">
        <p14:creationId xmlns:p14="http://schemas.microsoft.com/office/powerpoint/2010/main" val="126777423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0075DB-D2D5-5EBF-A184-CC1D16E14E93}"/>
              </a:ext>
            </a:extLst>
          </p:cNvPr>
          <p:cNvSpPr>
            <a:spLocks noGrp="1"/>
          </p:cNvSpPr>
          <p:nvPr>
            <p:ph sz="quarter" idx="4"/>
          </p:nvPr>
        </p:nvSpPr>
        <p:spPr>
          <a:xfrm>
            <a:off x="914400" y="1091683"/>
            <a:ext cx="10511627" cy="5172942"/>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Türkiye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Bağlamında</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Genel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Sentez</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Türkiye’de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tarihsel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olarak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birbirine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yakın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olmakla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birlikte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farklı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modernleşme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deneyimleri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yaşamıştır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Kıbrıs’ta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çok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kültürlülük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çeşitliliği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artırmış</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Türkiye’de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modernleşme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küreselleşme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yeniden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biçimlendirmiştir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Her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iki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da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eğitim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taşıyıcısı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olmaya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devam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etmektedir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Ancak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dijitalleşme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bireyselleşme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süreçleri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yeni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küresel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kimlik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inşasını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beraberinde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getirmiştir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kimlik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yerel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çatışmadan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var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olabildiği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ölçüde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dengeyi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güçlendirir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077E0D5C-4D36-2603-A710-4F4E2D086DA9}"/>
              </a:ext>
            </a:extLst>
          </p:cNvPr>
          <p:cNvSpPr>
            <a:spLocks noGrp="1"/>
          </p:cNvSpPr>
          <p:nvPr>
            <p:ph type="sldNum" sz="quarter" idx="10"/>
          </p:nvPr>
        </p:nvSpPr>
        <p:spPr/>
        <p:txBody>
          <a:bodyPr/>
          <a:lstStyle/>
          <a:p>
            <a:fld id="{48F63A3B-78C7-47BE-AE5E-E10140E04643}" type="slidenum">
              <a:rPr lang="en-US" smtClean="0"/>
              <a:pPr/>
              <a:t>107</a:t>
            </a:fld>
            <a:endParaRPr lang="en-US" dirty="0"/>
          </a:p>
        </p:txBody>
      </p:sp>
    </p:spTree>
    <p:extLst>
      <p:ext uri="{BB962C8B-B14F-4D97-AF65-F5344CB8AC3E}">
        <p14:creationId xmlns:p14="http://schemas.microsoft.com/office/powerpoint/2010/main" val="29976040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A2A2E4-5FDB-B920-FD82-C5BC6BD4B4EB}"/>
              </a:ext>
            </a:extLst>
          </p:cNvPr>
          <p:cNvSpPr>
            <a:spLocks noGrp="1"/>
          </p:cNvSpPr>
          <p:nvPr>
            <p:ph sz="quarter" idx="4"/>
          </p:nvPr>
        </p:nvSpPr>
        <p:spPr>
          <a:xfrm>
            <a:off x="914400" y="793102"/>
            <a:ext cx="10511627" cy="5850294"/>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Sosyolojik</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Perspektiften</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Sonuç</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kurum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ilişkisi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insan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yaşamının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temel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eksenidir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üçlü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yapı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arasında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sürekli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etkileşim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vardır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ortak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amaçlar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ve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etrafında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insanları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birleştirir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birlikteliğe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anlam</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kazandırır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18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Kurumlar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değerleri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somutlaştırarak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toplumsal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yaşamı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organize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eder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n-US" sz="1800" kern="0" dirty="0" err="1">
                <a:effectLst/>
                <a:latin typeface="Times New Roman" panose="02020603050405020304" pitchFamily="18" charset="0"/>
                <a:ea typeface="Times New Roman" panose="02020603050405020304" pitchFamily="18" charset="0"/>
              </a:rPr>
              <a:t>Sosyolojik</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bakış</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açısı</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bu</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etkileşimin</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bilinçli</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biçimde</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sürdürülmesi</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gerektiğini</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gösterir</a:t>
            </a:r>
            <a:r>
              <a:rPr lang="en-US" sz="1800" kern="0" dirty="0">
                <a:effectLst/>
                <a:latin typeface="Times New Roman" panose="02020603050405020304" pitchFamily="18" charset="0"/>
                <a:ea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rPr>
            </a:br>
            <a:r>
              <a:rPr lang="en-US" sz="1800" kern="0" dirty="0" err="1">
                <a:effectLst/>
                <a:latin typeface="Times New Roman" panose="02020603050405020304" pitchFamily="18" charset="0"/>
                <a:ea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ilerlemesi</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mirasını</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koruyarak</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yeniliklere</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açık</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kalmasıyla</a:t>
            </a:r>
            <a:r>
              <a:rPr lang="en-US" sz="1800" kern="0" dirty="0">
                <a:effectLst/>
                <a:latin typeface="Times New Roman" panose="02020603050405020304" pitchFamily="18" charset="0"/>
                <a:ea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rPr>
              <a:t>mümkündür</a:t>
            </a:r>
            <a:endParaRPr lang="en-US" dirty="0"/>
          </a:p>
        </p:txBody>
      </p:sp>
      <p:sp>
        <p:nvSpPr>
          <p:cNvPr id="4" name="Slide Number Placeholder 3">
            <a:extLst>
              <a:ext uri="{FF2B5EF4-FFF2-40B4-BE49-F238E27FC236}">
                <a16:creationId xmlns:a16="http://schemas.microsoft.com/office/drawing/2014/main" id="{4CC8DE76-10E6-2D4B-7624-8FCACBB70392}"/>
              </a:ext>
            </a:extLst>
          </p:cNvPr>
          <p:cNvSpPr>
            <a:spLocks noGrp="1"/>
          </p:cNvSpPr>
          <p:nvPr>
            <p:ph type="sldNum" sz="quarter" idx="10"/>
          </p:nvPr>
        </p:nvSpPr>
        <p:spPr/>
        <p:txBody>
          <a:bodyPr/>
          <a:lstStyle/>
          <a:p>
            <a:fld id="{48F63A3B-78C7-47BE-AE5E-E10140E04643}" type="slidenum">
              <a:rPr lang="en-US" smtClean="0"/>
              <a:pPr/>
              <a:t>108</a:t>
            </a:fld>
            <a:endParaRPr lang="en-US" dirty="0"/>
          </a:p>
        </p:txBody>
      </p:sp>
    </p:spTree>
    <p:extLst>
      <p:ext uri="{BB962C8B-B14F-4D97-AF65-F5344CB8AC3E}">
        <p14:creationId xmlns:p14="http://schemas.microsoft.com/office/powerpoint/2010/main" val="422037840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1D0F98-2E4B-E4B0-49BE-50FB2D409169}"/>
              </a:ext>
            </a:extLst>
          </p:cNvPr>
          <p:cNvSpPr>
            <a:spLocks noGrp="1"/>
          </p:cNvSpPr>
          <p:nvPr>
            <p:ph sz="quarter" idx="4"/>
          </p:nvPr>
        </p:nvSpPr>
        <p:spPr>
          <a:xfrm>
            <a:off x="914400" y="998377"/>
            <a:ext cx="10511627" cy="5266248"/>
          </a:xfrm>
        </p:spPr>
        <p:txBody>
          <a:bodyPr/>
          <a:lstStyle/>
          <a:p>
            <a:pPr marL="0" marR="0">
              <a:lnSpc>
                <a:spcPct val="115000"/>
              </a:lnSpc>
              <a:spcAft>
                <a:spcPts val="800"/>
              </a:spcAft>
              <a:buNone/>
            </a:pP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Sosyolojinin</a:t>
            </a: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Öğrettikleri</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Sosyoloji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bize,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durağan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canlı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organizma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olduğunu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öğretir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Her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birey</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kültürel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mirasın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hem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taşıyıcısı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hem de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dönüştürücüsüdür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nedenle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Sosyoloji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insanı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yalnızca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içinde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yaşadığı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değil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içinde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yaşattığı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anlamlarda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da arar</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Toplumu</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anlamak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insanı</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anlamaktır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kültürü</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korumak</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geleceği</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korumaktır</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tr-TR" sz="1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ea typeface="Times New Roman" panose="02020603050405020304" pitchFamily="18" charset="0"/>
                <a:cs typeface="Times New Roman" panose="02020603050405020304" pitchFamily="18" charset="0"/>
              </a:rPr>
              <a:t>Yrd</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ea typeface="Times New Roman" panose="02020603050405020304" pitchFamily="18" charset="0"/>
                <a:cs typeface="Times New Roman" panose="02020603050405020304" pitchFamily="18" charset="0"/>
              </a:rPr>
              <a:t>Doç</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Dr. </a:t>
            </a:r>
            <a:r>
              <a:rPr lang="en-US" b="1" kern="0" dirty="0">
                <a:latin typeface="Times New Roman" panose="02020603050405020304" pitchFamily="18" charset="0"/>
                <a:ea typeface="Times New Roman" panose="02020603050405020304" pitchFamily="18" charset="0"/>
                <a:cs typeface="Times New Roman" panose="02020603050405020304" pitchFamily="18" charset="0"/>
              </a:rPr>
              <a:t>Sibel </a:t>
            </a:r>
            <a:r>
              <a:rPr lang="en-US" b="1" kern="0" dirty="0" err="1">
                <a:latin typeface="Times New Roman" panose="02020603050405020304" pitchFamily="18" charset="0"/>
                <a:ea typeface="Times New Roman" panose="02020603050405020304" pitchFamily="18" charset="0"/>
                <a:cs typeface="Times New Roman" panose="02020603050405020304" pitchFamily="18" charset="0"/>
              </a:rPr>
              <a:t>Solyalı</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63584DE4-231C-DFA6-467C-BC2BB1F50751}"/>
              </a:ext>
            </a:extLst>
          </p:cNvPr>
          <p:cNvSpPr>
            <a:spLocks noGrp="1"/>
          </p:cNvSpPr>
          <p:nvPr>
            <p:ph type="sldNum" sz="quarter" idx="10"/>
          </p:nvPr>
        </p:nvSpPr>
        <p:spPr/>
        <p:txBody>
          <a:bodyPr/>
          <a:lstStyle/>
          <a:p>
            <a:fld id="{48F63A3B-78C7-47BE-AE5E-E10140E04643}" type="slidenum">
              <a:rPr lang="en-US" smtClean="0"/>
              <a:pPr/>
              <a:t>109</a:t>
            </a:fld>
            <a:endParaRPr lang="en-US" dirty="0"/>
          </a:p>
        </p:txBody>
      </p:sp>
    </p:spTree>
    <p:extLst>
      <p:ext uri="{BB962C8B-B14F-4D97-AF65-F5344CB8AC3E}">
        <p14:creationId xmlns:p14="http://schemas.microsoft.com/office/powerpoint/2010/main" val="131126081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2C9136-50F7-5D9F-89FF-FC1B6D41EDA9}"/>
              </a:ext>
            </a:extLst>
          </p:cNvPr>
          <p:cNvSpPr>
            <a:spLocks noGrp="1"/>
          </p:cNvSpPr>
          <p:nvPr>
            <p:ph sz="quarter" idx="4"/>
          </p:nvPr>
        </p:nvSpPr>
        <p:spPr>
          <a:xfrm>
            <a:off x="914400" y="1287625"/>
            <a:ext cx="10511627" cy="4977000"/>
          </a:xfrm>
        </p:spPr>
        <p:txBody>
          <a:bodyPr>
            <a:normAutofit fontScale="92500" lnSpcReduction="20000"/>
          </a:bodyPr>
          <a:lstStyle/>
          <a:p>
            <a:r>
              <a:rPr lang="en-US" b="1" dirty="0"/>
              <a:t>Genel </a:t>
            </a:r>
            <a:r>
              <a:rPr lang="en-US" b="1" dirty="0" err="1"/>
              <a:t>Kaynakça</a:t>
            </a:r>
            <a:endParaRPr lang="en-US" dirty="0"/>
          </a:p>
          <a:p>
            <a:pPr lvl="0"/>
            <a:r>
              <a:rPr lang="en-US" dirty="0"/>
              <a:t>Tezcan, M. (1993). </a:t>
            </a:r>
            <a:r>
              <a:rPr lang="en-US" i="1" dirty="0" err="1"/>
              <a:t>Sosyolojiye</a:t>
            </a:r>
            <a:r>
              <a:rPr lang="en-US" i="1" dirty="0"/>
              <a:t> </a:t>
            </a:r>
            <a:r>
              <a:rPr lang="en-US" i="1" dirty="0" err="1"/>
              <a:t>Giriş</a:t>
            </a:r>
            <a:r>
              <a:rPr lang="en-US" i="1" dirty="0"/>
              <a:t>.</a:t>
            </a:r>
            <a:r>
              <a:rPr lang="en-US" dirty="0"/>
              <a:t> Ankara: A.Ü. E.B.F. Yay.</a:t>
            </a:r>
          </a:p>
          <a:p>
            <a:pPr lvl="0"/>
            <a:r>
              <a:rPr lang="en-US" dirty="0"/>
              <a:t>Tan, A. (1981). </a:t>
            </a:r>
            <a:r>
              <a:rPr lang="en-US" i="1" dirty="0" err="1"/>
              <a:t>Sosyoloji</a:t>
            </a:r>
            <a:r>
              <a:rPr lang="en-US" i="1" dirty="0"/>
              <a:t>.</a:t>
            </a:r>
            <a:r>
              <a:rPr lang="en-US" dirty="0"/>
              <a:t> Ankara: A.Ü. E.B.F. Yay.</a:t>
            </a:r>
          </a:p>
          <a:p>
            <a:pPr lvl="0"/>
            <a:r>
              <a:rPr lang="en-US" dirty="0"/>
              <a:t>Durkheim, E. (1956). </a:t>
            </a:r>
            <a:r>
              <a:rPr lang="en-US" i="1" dirty="0"/>
              <a:t>Education and Sociology.</a:t>
            </a:r>
            <a:r>
              <a:rPr lang="en-US" dirty="0"/>
              <a:t> New York: The Free Press.</a:t>
            </a:r>
          </a:p>
          <a:p>
            <a:pPr lvl="0"/>
            <a:r>
              <a:rPr lang="en-US" dirty="0"/>
              <a:t>Illich, I. (2021). </a:t>
            </a:r>
            <a:r>
              <a:rPr lang="en-US" i="1" dirty="0" err="1"/>
              <a:t>Okulsuz</a:t>
            </a:r>
            <a:r>
              <a:rPr lang="en-US" i="1" dirty="0"/>
              <a:t> </a:t>
            </a:r>
            <a:r>
              <a:rPr lang="en-US" i="1" dirty="0" err="1"/>
              <a:t>Toplum</a:t>
            </a:r>
            <a:r>
              <a:rPr lang="en-US" i="1" dirty="0"/>
              <a:t>.</a:t>
            </a:r>
            <a:r>
              <a:rPr lang="en-US" dirty="0"/>
              <a:t> İstanbul: </a:t>
            </a:r>
            <a:r>
              <a:rPr lang="en-US" dirty="0" err="1"/>
              <a:t>Şule</a:t>
            </a:r>
            <a:r>
              <a:rPr lang="en-US" dirty="0"/>
              <a:t> Yayınları.</a:t>
            </a:r>
          </a:p>
          <a:p>
            <a:pPr lvl="0"/>
            <a:r>
              <a:rPr lang="en-US" dirty="0"/>
              <a:t>Orwell, G. (2019). </a:t>
            </a:r>
            <a:r>
              <a:rPr lang="en-US" i="1" dirty="0" err="1"/>
              <a:t>Hayvan</a:t>
            </a:r>
            <a:r>
              <a:rPr lang="en-US" i="1" dirty="0"/>
              <a:t> </a:t>
            </a:r>
            <a:r>
              <a:rPr lang="en-US" i="1" dirty="0" err="1"/>
              <a:t>Çiftliği</a:t>
            </a:r>
            <a:r>
              <a:rPr lang="en-US" i="1" dirty="0"/>
              <a:t>.</a:t>
            </a:r>
            <a:r>
              <a:rPr lang="en-US" dirty="0"/>
              <a:t> İstanbul: Tekin </a:t>
            </a:r>
            <a:r>
              <a:rPr lang="en-US" dirty="0" err="1"/>
              <a:t>Yayınevi</a:t>
            </a:r>
            <a:r>
              <a:rPr lang="en-US" dirty="0"/>
              <a:t>.</a:t>
            </a:r>
          </a:p>
          <a:p>
            <a:pPr lvl="0"/>
            <a:r>
              <a:rPr lang="en-US" dirty="0" err="1"/>
              <a:t>Tanpınar</a:t>
            </a:r>
            <a:r>
              <a:rPr lang="en-US" dirty="0"/>
              <a:t>, A. H. (2021). </a:t>
            </a:r>
            <a:r>
              <a:rPr lang="en-US" i="1" dirty="0" err="1"/>
              <a:t>Saatleri</a:t>
            </a:r>
            <a:r>
              <a:rPr lang="en-US" i="1" dirty="0"/>
              <a:t> </a:t>
            </a:r>
            <a:r>
              <a:rPr lang="en-US" i="1" dirty="0" err="1"/>
              <a:t>Ayarlama</a:t>
            </a:r>
            <a:r>
              <a:rPr lang="en-US" i="1" dirty="0"/>
              <a:t> </a:t>
            </a:r>
            <a:r>
              <a:rPr lang="en-US" i="1" dirty="0" err="1"/>
              <a:t>Enstitüsü</a:t>
            </a:r>
            <a:r>
              <a:rPr lang="en-US" i="1" dirty="0"/>
              <a:t>.</a:t>
            </a:r>
            <a:r>
              <a:rPr lang="en-US" dirty="0"/>
              <a:t> </a:t>
            </a:r>
            <a:r>
              <a:rPr lang="en-US" dirty="0" err="1"/>
              <a:t>Dergâh</a:t>
            </a:r>
            <a:r>
              <a:rPr lang="en-US" dirty="0"/>
              <a:t> Yayınları: İstanbul.</a:t>
            </a:r>
          </a:p>
          <a:p>
            <a:pPr lvl="0"/>
            <a:r>
              <a:rPr lang="en-US" dirty="0"/>
              <a:t>Singer, P. (1975/2009). </a:t>
            </a:r>
            <a:r>
              <a:rPr lang="en-US" i="1" dirty="0"/>
              <a:t>Animal Liberation.</a:t>
            </a:r>
            <a:r>
              <a:rPr lang="en-US" dirty="0"/>
              <a:t> HarperCollins.</a:t>
            </a:r>
          </a:p>
          <a:p>
            <a:pPr lvl="0"/>
            <a:r>
              <a:rPr lang="en-US" dirty="0" err="1"/>
              <a:t>Bekiroğlu</a:t>
            </a:r>
            <a:r>
              <a:rPr lang="en-US" dirty="0"/>
              <a:t>, S. (2022). “</a:t>
            </a:r>
            <a:r>
              <a:rPr lang="en-US" dirty="0" err="1"/>
              <a:t>Türkiye’de</a:t>
            </a:r>
            <a:r>
              <a:rPr lang="en-US" dirty="0"/>
              <a:t> </a:t>
            </a:r>
            <a:r>
              <a:rPr lang="en-US" dirty="0" err="1"/>
              <a:t>Hayvan</a:t>
            </a:r>
            <a:r>
              <a:rPr lang="en-US" dirty="0"/>
              <a:t> </a:t>
            </a:r>
            <a:r>
              <a:rPr lang="en-US" dirty="0" err="1"/>
              <a:t>Hakları</a:t>
            </a:r>
            <a:r>
              <a:rPr lang="en-US" dirty="0"/>
              <a:t> </a:t>
            </a:r>
            <a:r>
              <a:rPr lang="en-US" dirty="0" err="1"/>
              <a:t>Hareketi</a:t>
            </a:r>
            <a:r>
              <a:rPr lang="en-US" dirty="0"/>
              <a:t>: </a:t>
            </a:r>
            <a:r>
              <a:rPr lang="en-US" dirty="0" err="1"/>
              <a:t>Toplumsal</a:t>
            </a:r>
            <a:r>
              <a:rPr lang="en-US" dirty="0"/>
              <a:t> </a:t>
            </a:r>
            <a:r>
              <a:rPr lang="en-US" dirty="0" err="1"/>
              <a:t>ve</a:t>
            </a:r>
            <a:r>
              <a:rPr lang="en-US" dirty="0"/>
              <a:t> </a:t>
            </a:r>
            <a:r>
              <a:rPr lang="en-US" dirty="0" err="1"/>
              <a:t>Hukuki</a:t>
            </a:r>
            <a:r>
              <a:rPr lang="en-US" dirty="0"/>
              <a:t> Bir Analiz.” </a:t>
            </a:r>
            <a:r>
              <a:rPr lang="en-US" i="1" dirty="0"/>
              <a:t>Ankara </a:t>
            </a:r>
            <a:r>
              <a:rPr lang="en-US" i="1" dirty="0" err="1"/>
              <a:t>Üniversitesi</a:t>
            </a:r>
            <a:r>
              <a:rPr lang="en-US" i="1" dirty="0"/>
              <a:t> </a:t>
            </a:r>
            <a:r>
              <a:rPr lang="en-US" i="1" dirty="0" err="1"/>
              <a:t>Hukuk</a:t>
            </a:r>
            <a:r>
              <a:rPr lang="en-US" i="1" dirty="0"/>
              <a:t> </a:t>
            </a:r>
            <a:r>
              <a:rPr lang="en-US" i="1" dirty="0" err="1"/>
              <a:t>Fakültesi</a:t>
            </a:r>
            <a:r>
              <a:rPr lang="en-US" i="1" dirty="0"/>
              <a:t> </a:t>
            </a:r>
            <a:r>
              <a:rPr lang="en-US" i="1" dirty="0" err="1"/>
              <a:t>Dergisi</a:t>
            </a:r>
            <a:r>
              <a:rPr lang="en-US" i="1" dirty="0"/>
              <a:t>.</a:t>
            </a:r>
            <a:endParaRPr lang="en-US" dirty="0"/>
          </a:p>
          <a:p>
            <a:pPr lvl="0"/>
            <a:r>
              <a:rPr lang="en-US" dirty="0"/>
              <a:t>Burkle, F. M. (2020). “COVID-19 and the Need for a Social Science Perspective.” </a:t>
            </a:r>
            <a:r>
              <a:rPr lang="en-US" i="1" dirty="0"/>
              <a:t>Disaster Medicine and Public Health Preparedness.</a:t>
            </a:r>
            <a:endParaRPr lang="en-US" dirty="0"/>
          </a:p>
          <a:p>
            <a:pPr lvl="0"/>
            <a:r>
              <a:rPr lang="en-US" dirty="0"/>
              <a:t>TÜİK (2021). “</a:t>
            </a:r>
            <a:r>
              <a:rPr lang="en-US" dirty="0" err="1"/>
              <a:t>Pandemi</a:t>
            </a:r>
            <a:r>
              <a:rPr lang="en-US" dirty="0"/>
              <a:t> </a:t>
            </a:r>
            <a:r>
              <a:rPr lang="en-US" dirty="0" err="1"/>
              <a:t>Döneminde</a:t>
            </a:r>
            <a:r>
              <a:rPr lang="en-US" dirty="0"/>
              <a:t> </a:t>
            </a:r>
            <a:r>
              <a:rPr lang="en-US" dirty="0" err="1"/>
              <a:t>Eğitim</a:t>
            </a:r>
            <a:r>
              <a:rPr lang="en-US" dirty="0"/>
              <a:t> </a:t>
            </a:r>
            <a:r>
              <a:rPr lang="en-US" dirty="0" err="1"/>
              <a:t>ve</a:t>
            </a:r>
            <a:r>
              <a:rPr lang="en-US" dirty="0"/>
              <a:t> </a:t>
            </a:r>
            <a:r>
              <a:rPr lang="en-US" dirty="0" err="1"/>
              <a:t>Çalışma</a:t>
            </a:r>
            <a:r>
              <a:rPr lang="en-US" dirty="0"/>
              <a:t> </a:t>
            </a:r>
            <a:r>
              <a:rPr lang="en-US" dirty="0" err="1"/>
              <a:t>Hayatı</a:t>
            </a:r>
            <a:r>
              <a:rPr lang="en-US" dirty="0"/>
              <a:t>.”</a:t>
            </a:r>
          </a:p>
          <a:p>
            <a:pPr lvl="0"/>
            <a:r>
              <a:rPr lang="en-US" dirty="0"/>
              <a:t>Giddens, A. (1998, 2008). </a:t>
            </a:r>
            <a:r>
              <a:rPr lang="en-US" i="1" dirty="0" err="1"/>
              <a:t>Sosyoloji</a:t>
            </a:r>
            <a:r>
              <a:rPr lang="en-US" i="1" dirty="0"/>
              <a:t>.</a:t>
            </a:r>
            <a:r>
              <a:rPr lang="en-US" dirty="0"/>
              <a:t> İstanbul: </a:t>
            </a:r>
            <a:r>
              <a:rPr lang="en-US" dirty="0" err="1"/>
              <a:t>Kırmızı</a:t>
            </a:r>
            <a:r>
              <a:rPr lang="en-US" dirty="0"/>
              <a:t> Yayınları.</a:t>
            </a:r>
          </a:p>
          <a:p>
            <a:pPr marL="0" indent="0">
              <a:buNone/>
            </a:pPr>
            <a:r>
              <a:rPr lang="en-US" dirty="0"/>
              <a:t> </a:t>
            </a:r>
          </a:p>
          <a:p>
            <a:endParaRPr lang="en-US" dirty="0"/>
          </a:p>
        </p:txBody>
      </p:sp>
      <p:sp>
        <p:nvSpPr>
          <p:cNvPr id="4" name="Slide Number Placeholder 3">
            <a:extLst>
              <a:ext uri="{FF2B5EF4-FFF2-40B4-BE49-F238E27FC236}">
                <a16:creationId xmlns:a16="http://schemas.microsoft.com/office/drawing/2014/main" id="{C5FA71F7-F0DE-0665-304A-2712D46675E7}"/>
              </a:ext>
            </a:extLst>
          </p:cNvPr>
          <p:cNvSpPr>
            <a:spLocks noGrp="1"/>
          </p:cNvSpPr>
          <p:nvPr>
            <p:ph type="sldNum" sz="quarter" idx="10"/>
          </p:nvPr>
        </p:nvSpPr>
        <p:spPr/>
        <p:txBody>
          <a:bodyPr/>
          <a:lstStyle/>
          <a:p>
            <a:fld id="{48F63A3B-78C7-47BE-AE5E-E10140E04643}" type="slidenum">
              <a:rPr lang="en-US" smtClean="0"/>
              <a:pPr/>
              <a:t>110</a:t>
            </a:fld>
            <a:endParaRPr lang="en-US" dirty="0"/>
          </a:p>
        </p:txBody>
      </p:sp>
    </p:spTree>
    <p:extLst>
      <p:ext uri="{BB962C8B-B14F-4D97-AF65-F5344CB8AC3E}">
        <p14:creationId xmlns:p14="http://schemas.microsoft.com/office/powerpoint/2010/main" val="409356601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6DBB56F-4362-4386-A1A1-3DF89889661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{A09DDB0E-4500-4DD7-B659-9535BA9EBE85}TF8a9b5915-b8c7-461e-8cdd-693d48b5e32371f7b7e2_win32-4bf0b9a2ea37</Template>
  <TotalTime>180</TotalTime>
  <Words>7829</Words>
  <Application>Microsoft Office PowerPoint</Application>
  <PresentationFormat>Widescreen</PresentationFormat>
  <Paragraphs>628</Paragraphs>
  <Slides>110</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110</vt:i4>
      </vt:variant>
    </vt:vector>
  </HeadingPairs>
  <TitlesOfParts>
    <vt:vector size="118" baseType="lpstr">
      <vt:lpstr>Arial</vt:lpstr>
      <vt:lpstr>Arial Black</vt:lpstr>
      <vt:lpstr>Calibri</vt:lpstr>
      <vt:lpstr>Sabon Next LT</vt:lpstr>
      <vt:lpstr>Symbol</vt:lpstr>
      <vt:lpstr>Times New Roman</vt:lpstr>
      <vt:lpstr>Wingdings</vt:lpstr>
      <vt:lpstr>Custom</vt:lpstr>
      <vt:lpstr>  Toplum, Sosyal Yapı ve Sosyal Kurumlar – Kültür ve Toplum  Yrd. Doç. Dr. Sibel Solyalı  (Lisans 1. Sınıf / Ders Notları 3-4) </vt:lpstr>
      <vt:lpstr>PowerPoint Presentation</vt:lpstr>
      <vt:lpstr>Dersin amacı</vt:lpstr>
      <vt:lpstr>Toplum Kavrami Toplumun Tanımı ve Temel Özellikleri Toplum, belirli bir coğrafyada yaşayan, ortak bir kültürü, dili, değerleri ve kurumları paylaşan insan topluluğudur. Toplumu bir arada tutan şey yalnızca coğrafi yakınlık değil, ortak anlamlar, normlar ve değerlerdir.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SOLYALI TURİZM VE SEYHAT ACENTASI</dc:creator>
  <cp:lastModifiedBy>SOLYALI TURİZM VE SEYHAT ACENTASI</cp:lastModifiedBy>
  <cp:revision>7</cp:revision>
  <dcterms:created xsi:type="dcterms:W3CDTF">2025-10-25T16:25:40Z</dcterms:created>
  <dcterms:modified xsi:type="dcterms:W3CDTF">2025-10-27T12:44:39Z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