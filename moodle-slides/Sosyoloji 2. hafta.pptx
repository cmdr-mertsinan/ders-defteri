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37"/>
  </p:notesMasterIdLst>
  <p:handoutMasterIdLst>
    <p:handoutMasterId r:id="rId138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7" r:id="rId12"/>
    <p:sldId id="318" r:id="rId13"/>
    <p:sldId id="323" r:id="rId14"/>
    <p:sldId id="319" r:id="rId15"/>
    <p:sldId id="321" r:id="rId16"/>
    <p:sldId id="322" r:id="rId17"/>
    <p:sldId id="297" r:id="rId18"/>
    <p:sldId id="324" r:id="rId19"/>
    <p:sldId id="325" r:id="rId20"/>
    <p:sldId id="326" r:id="rId21"/>
    <p:sldId id="327" r:id="rId22"/>
    <p:sldId id="328" r:id="rId23"/>
    <p:sldId id="329" r:id="rId24"/>
    <p:sldId id="330" r:id="rId25"/>
    <p:sldId id="331" r:id="rId26"/>
    <p:sldId id="332" r:id="rId27"/>
    <p:sldId id="333" r:id="rId28"/>
    <p:sldId id="334" r:id="rId29"/>
    <p:sldId id="335" r:id="rId30"/>
    <p:sldId id="336" r:id="rId31"/>
    <p:sldId id="337" r:id="rId32"/>
    <p:sldId id="338" r:id="rId33"/>
    <p:sldId id="339" r:id="rId34"/>
    <p:sldId id="340" r:id="rId35"/>
    <p:sldId id="341" r:id="rId36"/>
    <p:sldId id="342" r:id="rId37"/>
    <p:sldId id="343" r:id="rId38"/>
    <p:sldId id="344" r:id="rId39"/>
    <p:sldId id="345" r:id="rId40"/>
    <p:sldId id="346" r:id="rId41"/>
    <p:sldId id="347" r:id="rId42"/>
    <p:sldId id="348" r:id="rId43"/>
    <p:sldId id="349" r:id="rId44"/>
    <p:sldId id="350" r:id="rId45"/>
    <p:sldId id="351" r:id="rId46"/>
    <p:sldId id="352" r:id="rId47"/>
    <p:sldId id="353" r:id="rId48"/>
    <p:sldId id="354" r:id="rId49"/>
    <p:sldId id="355" r:id="rId50"/>
    <p:sldId id="356" r:id="rId51"/>
    <p:sldId id="357" r:id="rId52"/>
    <p:sldId id="358" r:id="rId53"/>
    <p:sldId id="359" r:id="rId54"/>
    <p:sldId id="360" r:id="rId55"/>
    <p:sldId id="361" r:id="rId56"/>
    <p:sldId id="362" r:id="rId57"/>
    <p:sldId id="363" r:id="rId58"/>
    <p:sldId id="364" r:id="rId59"/>
    <p:sldId id="365" r:id="rId60"/>
    <p:sldId id="366" r:id="rId61"/>
    <p:sldId id="367" r:id="rId62"/>
    <p:sldId id="368" r:id="rId63"/>
    <p:sldId id="369" r:id="rId64"/>
    <p:sldId id="370" r:id="rId65"/>
    <p:sldId id="371" r:id="rId66"/>
    <p:sldId id="372" r:id="rId67"/>
    <p:sldId id="373" r:id="rId68"/>
    <p:sldId id="374" r:id="rId69"/>
    <p:sldId id="375" r:id="rId70"/>
    <p:sldId id="376" r:id="rId71"/>
    <p:sldId id="377" r:id="rId72"/>
    <p:sldId id="378" r:id="rId73"/>
    <p:sldId id="379" r:id="rId74"/>
    <p:sldId id="380" r:id="rId75"/>
    <p:sldId id="381" r:id="rId76"/>
    <p:sldId id="382" r:id="rId77"/>
    <p:sldId id="383" r:id="rId78"/>
    <p:sldId id="384" r:id="rId79"/>
    <p:sldId id="385" r:id="rId80"/>
    <p:sldId id="386" r:id="rId81"/>
    <p:sldId id="387" r:id="rId82"/>
    <p:sldId id="388" r:id="rId83"/>
    <p:sldId id="389" r:id="rId84"/>
    <p:sldId id="390" r:id="rId85"/>
    <p:sldId id="391" r:id="rId86"/>
    <p:sldId id="392" r:id="rId87"/>
    <p:sldId id="393" r:id="rId88"/>
    <p:sldId id="394" r:id="rId89"/>
    <p:sldId id="395" r:id="rId90"/>
    <p:sldId id="396" r:id="rId91"/>
    <p:sldId id="397" r:id="rId92"/>
    <p:sldId id="398" r:id="rId93"/>
    <p:sldId id="399" r:id="rId94"/>
    <p:sldId id="400" r:id="rId95"/>
    <p:sldId id="401" r:id="rId96"/>
    <p:sldId id="402" r:id="rId97"/>
    <p:sldId id="403" r:id="rId98"/>
    <p:sldId id="404" r:id="rId99"/>
    <p:sldId id="405" r:id="rId100"/>
    <p:sldId id="406" r:id="rId101"/>
    <p:sldId id="407" r:id="rId102"/>
    <p:sldId id="408" r:id="rId103"/>
    <p:sldId id="409" r:id="rId104"/>
    <p:sldId id="410" r:id="rId105"/>
    <p:sldId id="411" r:id="rId106"/>
    <p:sldId id="412" r:id="rId107"/>
    <p:sldId id="413" r:id="rId108"/>
    <p:sldId id="414" r:id="rId109"/>
    <p:sldId id="415" r:id="rId110"/>
    <p:sldId id="416" r:id="rId111"/>
    <p:sldId id="417" r:id="rId112"/>
    <p:sldId id="418" r:id="rId113"/>
    <p:sldId id="419" r:id="rId114"/>
    <p:sldId id="420" r:id="rId115"/>
    <p:sldId id="421" r:id="rId116"/>
    <p:sldId id="422" r:id="rId117"/>
    <p:sldId id="423" r:id="rId118"/>
    <p:sldId id="424" r:id="rId119"/>
    <p:sldId id="425" r:id="rId120"/>
    <p:sldId id="426" r:id="rId121"/>
    <p:sldId id="427" r:id="rId122"/>
    <p:sldId id="428" r:id="rId123"/>
    <p:sldId id="429" r:id="rId124"/>
    <p:sldId id="430" r:id="rId125"/>
    <p:sldId id="431" r:id="rId126"/>
    <p:sldId id="432" r:id="rId127"/>
    <p:sldId id="433" r:id="rId128"/>
    <p:sldId id="434" r:id="rId129"/>
    <p:sldId id="435" r:id="rId130"/>
    <p:sldId id="436" r:id="rId131"/>
    <p:sldId id="437" r:id="rId132"/>
    <p:sldId id="438" r:id="rId133"/>
    <p:sldId id="439" r:id="rId134"/>
    <p:sldId id="440" r:id="rId135"/>
    <p:sldId id="441" r:id="rId136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8C8C"/>
    <a:srgbClr val="202C8F"/>
    <a:srgbClr val="FDFBF6"/>
    <a:srgbClr val="AAC4E9"/>
    <a:srgbClr val="F5CDCE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82" d="100"/>
          <a:sy n="82" d="100"/>
        </p:scale>
        <p:origin x="720" y="67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slide" Target="slides/slide129.xml"/><Relationship Id="rId138" Type="http://schemas.openxmlformats.org/officeDocument/2006/relationships/handoutMaster" Target="handoutMasters/handoutMaster1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28" Type="http://schemas.openxmlformats.org/officeDocument/2006/relationships/slide" Target="slides/slide124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134" Type="http://schemas.openxmlformats.org/officeDocument/2006/relationships/slide" Target="slides/slide130.xml"/><Relationship Id="rId139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142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16" Type="http://schemas.openxmlformats.org/officeDocument/2006/relationships/slide" Target="slides/slide112.xml"/><Relationship Id="rId124" Type="http://schemas.openxmlformats.org/officeDocument/2006/relationships/slide" Target="slides/slide120.xml"/><Relationship Id="rId129" Type="http://schemas.openxmlformats.org/officeDocument/2006/relationships/slide" Target="slides/slide125.xml"/><Relationship Id="rId137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11" Type="http://schemas.openxmlformats.org/officeDocument/2006/relationships/slide" Target="slides/slide107.xml"/><Relationship Id="rId132" Type="http://schemas.openxmlformats.org/officeDocument/2006/relationships/slide" Target="slides/slide128.xml"/><Relationship Id="rId14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130" Type="http://schemas.openxmlformats.org/officeDocument/2006/relationships/slide" Target="slides/slide126.xml"/><Relationship Id="rId135" Type="http://schemas.openxmlformats.org/officeDocument/2006/relationships/slide" Target="slides/slide131.xml"/><Relationship Id="rId143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141" Type="http://schemas.openxmlformats.org/officeDocument/2006/relationships/theme" Target="theme/theme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slide" Target="slides/slide127.xml"/><Relationship Id="rId136" Type="http://schemas.openxmlformats.org/officeDocument/2006/relationships/slide" Target="slides/slide132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br>
              <a:rPr lang="tr-TR" b="0" dirty="0"/>
            </a:br>
            <a:br>
              <a:rPr lang="tr-TR" b="0" dirty="0"/>
            </a:br>
            <a:br>
              <a:rPr lang="tr-TR" b="0" dirty="0"/>
            </a:br>
            <a:r>
              <a:rPr lang="en-US" b="0" dirty="0" err="1">
                <a:solidFill>
                  <a:srgbClr val="DF8C8C"/>
                </a:solidFill>
              </a:rPr>
              <a:t>Klasik</a:t>
            </a:r>
            <a:r>
              <a:rPr lang="en-US" b="0" dirty="0">
                <a:solidFill>
                  <a:srgbClr val="DF8C8C"/>
                </a:solidFill>
              </a:rPr>
              <a:t> </a:t>
            </a:r>
            <a:r>
              <a:rPr lang="en-US" b="0" dirty="0" err="1">
                <a:solidFill>
                  <a:srgbClr val="DF8C8C"/>
                </a:solidFill>
              </a:rPr>
              <a:t>Sosyoloklar</a:t>
            </a:r>
            <a:r>
              <a:rPr lang="en-US" b="0" dirty="0">
                <a:solidFill>
                  <a:srgbClr val="DF8C8C"/>
                </a:solidFill>
              </a:rPr>
              <a:t> (</a:t>
            </a:r>
            <a:r>
              <a:rPr lang="en-US" b="0" dirty="0" err="1">
                <a:solidFill>
                  <a:srgbClr val="DF8C8C"/>
                </a:solidFill>
              </a:rPr>
              <a:t>Sosyoloji'nin</a:t>
            </a:r>
            <a:r>
              <a:rPr lang="en-US" b="0" dirty="0">
                <a:solidFill>
                  <a:srgbClr val="DF8C8C"/>
                </a:solidFill>
              </a:rPr>
              <a:t> </a:t>
            </a:r>
            <a:r>
              <a:rPr lang="en-US" b="0" dirty="0" err="1">
                <a:solidFill>
                  <a:srgbClr val="DF8C8C"/>
                </a:solidFill>
              </a:rPr>
              <a:t>Fikirbabaları</a:t>
            </a:r>
            <a:r>
              <a:rPr lang="en-US" b="0" dirty="0">
                <a:solidFill>
                  <a:srgbClr val="DF8C8C"/>
                </a:solidFill>
              </a:rPr>
              <a:t>)</a:t>
            </a:r>
            <a:r>
              <a:rPr lang="en-US" dirty="0">
                <a:solidFill>
                  <a:srgbClr val="DF8C8C"/>
                </a:solidFill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D11BEE-05F4-75F6-E51B-3CBDC210D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209" y="898975"/>
            <a:ext cx="2034073" cy="16429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FAE502-53E4-D7DF-00F0-ABAF1E62C9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933" y="5510930"/>
            <a:ext cx="5792986" cy="89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9FA5BF5-F47B-DFF2-813E-1A68F82BA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179" y="1983872"/>
            <a:ext cx="10375641" cy="920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92B374-3155-10D8-81B3-35B7B84A5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8040" y="74645"/>
            <a:ext cx="6637987" cy="5726082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i="0" u="none" strike="noStrike" baseline="0" dirty="0" err="1">
                <a:latin typeface="Constantia" panose="02030602050306030303" pitchFamily="18" charset="0"/>
              </a:rPr>
              <a:t>Sosyolojinin</a:t>
            </a:r>
            <a:r>
              <a:rPr lang="en-US" sz="2800" i="0" u="none" strike="noStrike" baseline="0" dirty="0">
                <a:latin typeface="Constantia" panose="02030602050306030303" pitchFamily="18" charset="0"/>
              </a:rPr>
              <a:t> ilk </a:t>
            </a:r>
            <a:r>
              <a:rPr lang="en-US" sz="2800" i="0" u="none" strike="noStrike" baseline="0" dirty="0" err="1">
                <a:latin typeface="Constantia" panose="02030602050306030303" pitchFamily="18" charset="0"/>
              </a:rPr>
              <a:t>fikir</a:t>
            </a:r>
            <a:r>
              <a:rPr lang="en-US" sz="2800" i="0" u="none" strike="noStrike" baseline="0" dirty="0">
                <a:latin typeface="Constantia" panose="02030602050306030303" pitchFamily="18" charset="0"/>
              </a:rPr>
              <a:t> </a:t>
            </a:r>
            <a:r>
              <a:rPr lang="en-US" sz="2800" i="0" u="none" strike="noStrike" baseline="0" dirty="0" err="1">
                <a:latin typeface="Constantia" panose="02030602050306030303" pitchFamily="18" charset="0"/>
              </a:rPr>
              <a:t>babaları</a:t>
            </a:r>
            <a:r>
              <a:rPr lang="en-US" sz="2800" i="0" u="none" strike="noStrike" baseline="0" dirty="0">
                <a:latin typeface="Constantia" panose="02030602050306030303" pitchFamily="18" charset="0"/>
              </a:rPr>
              <a:t>,</a:t>
            </a:r>
            <a:br>
              <a:rPr lang="en-US" sz="1600" b="0" i="0" u="none" strike="noStrike" baseline="0" dirty="0">
                <a:solidFill>
                  <a:srgbClr val="000000"/>
                </a:solidFill>
                <a:latin typeface="Constantia" panose="02030602050306030303" pitchFamily="18" charset="0"/>
              </a:rPr>
            </a:br>
            <a:br>
              <a:rPr lang="tr-TR" sz="1600" b="0" i="0" u="none" strike="noStrike" baseline="0" dirty="0">
                <a:solidFill>
                  <a:srgbClr val="000000"/>
                </a:solidFill>
                <a:latin typeface="Constantia" panose="02030602050306030303" pitchFamily="18" charset="0"/>
              </a:rPr>
            </a:br>
            <a:br>
              <a:rPr lang="tr-TR" sz="1600" b="0" i="0" u="none" strike="noStrike" baseline="0" dirty="0">
                <a:solidFill>
                  <a:srgbClr val="000000"/>
                </a:solidFill>
                <a:latin typeface="Constantia" panose="02030602050306030303" pitchFamily="18" charset="0"/>
              </a:rPr>
            </a:br>
            <a:r>
              <a:rPr lang="en-US" sz="2800" b="0" i="0" u="none" strike="noStrike" cap="non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Doğa</a:t>
            </a:r>
            <a:r>
              <a:rPr lang="en-US" sz="2800" b="0" i="0" u="none" strike="noStrike" cap="non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 </a:t>
            </a:r>
            <a:r>
              <a:rPr lang="en-US" sz="2800" b="0" i="0" u="none" strike="noStrike" cap="non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bilimlerinin</a:t>
            </a:r>
            <a:r>
              <a:rPr lang="en-US" sz="2800" b="0" i="0" u="none" strike="noStrike" cap="non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 </a:t>
            </a:r>
            <a:r>
              <a:rPr lang="en-US" sz="2800" b="0" i="0" u="none" strike="noStrike" cap="non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kendi</a:t>
            </a:r>
            <a:r>
              <a:rPr lang="en-US" sz="2800" b="0" i="0" u="none" strike="noStrike" cap="non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 </a:t>
            </a:r>
            <a:r>
              <a:rPr lang="en-US" sz="2800" b="0" i="0" u="none" strike="noStrike" cap="non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alanlarında</a:t>
            </a:r>
            <a:r>
              <a:rPr lang="en-US" sz="2800" b="0" i="0" u="none" strike="noStrike" cap="non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 </a:t>
            </a:r>
            <a:r>
              <a:rPr lang="en-US" sz="2800" b="0" i="0" u="none" strike="noStrike" cap="non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göstermiş</a:t>
            </a:r>
            <a:r>
              <a:rPr lang="en-US" sz="2800" b="0" i="0" u="none" strike="noStrike" cap="non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 </a:t>
            </a:r>
            <a:r>
              <a:rPr lang="en-US" sz="2800" b="0" i="0" u="none" strike="noStrike" cap="non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oldukları</a:t>
            </a:r>
            <a:r>
              <a:rPr lang="en-US" sz="2800" b="0" i="0" u="none" strike="noStrike" cap="non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 </a:t>
            </a:r>
            <a:r>
              <a:rPr lang="en-US" sz="2800" b="0" i="0" u="none" strike="noStrike" cap="non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başarıları</a:t>
            </a:r>
            <a:r>
              <a:rPr lang="en-US" sz="2800" b="0" i="0" u="none" strike="noStrike" cap="non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 </a:t>
            </a:r>
            <a:r>
              <a:rPr lang="en-US" sz="2800" b="0" i="0" u="none" strike="noStrike" cap="non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örnek</a:t>
            </a:r>
            <a:r>
              <a:rPr lang="en-US" sz="2800" b="0" i="0" u="none" strike="noStrike" cap="non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 </a:t>
            </a:r>
            <a:r>
              <a:rPr lang="en-US" sz="2800" b="0" i="0" u="none" strike="noStrike" cap="non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almak</a:t>
            </a:r>
            <a:r>
              <a:rPr lang="en-US" sz="2800" b="0" i="0" u="none" strike="noStrike" cap="non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 </a:t>
            </a:r>
            <a:r>
              <a:rPr lang="en-US" sz="2800" b="0" i="0" u="none" strike="noStrike" cap="non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ve</a:t>
            </a:r>
            <a:r>
              <a:rPr lang="en-US" sz="2800" b="0" i="0" u="none" strike="noStrike" cap="non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 </a:t>
            </a:r>
            <a:r>
              <a:rPr lang="tr-TR" sz="2800" b="0" i="0" u="none" strike="noStrike" cap="non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,</a:t>
            </a:r>
            <a:r>
              <a:rPr lang="tr-TR" sz="2800" b="0" cap="none" dirty="0">
                <a:solidFill>
                  <a:srgbClr val="000000"/>
                </a:solidFill>
                <a:latin typeface="Constantia" panose="02030602050306030303" pitchFamily="18" charset="0"/>
              </a:rPr>
              <a:t> d</a:t>
            </a:r>
            <a:r>
              <a:rPr lang="en-US" sz="2800" b="0" i="0" u="none" strike="noStrike" cap="non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oğa</a:t>
            </a:r>
            <a:r>
              <a:rPr lang="en-US" sz="2800" b="0" i="0" u="none" strike="noStrike" cap="non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 </a:t>
            </a:r>
            <a:r>
              <a:rPr lang="en-US" sz="2800" b="0" i="0" u="none" strike="noStrike" cap="non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bilimsel</a:t>
            </a:r>
            <a:r>
              <a:rPr lang="en-US" sz="2800" b="0" i="0" u="none" strike="noStrike" cap="non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 </a:t>
            </a:r>
            <a:r>
              <a:rPr lang="en-US" sz="2800" b="0" i="0" u="none" strike="noStrike" cap="non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yöntemleri</a:t>
            </a:r>
            <a:r>
              <a:rPr lang="en-US" sz="2800" b="0" i="0" u="none" strike="noStrike" cap="non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 </a:t>
            </a:r>
            <a:r>
              <a:rPr lang="en-US" sz="2800" b="0" i="0" u="none" strike="noStrike" cap="non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topluma</a:t>
            </a:r>
            <a:r>
              <a:rPr lang="en-US" sz="2800" b="0" i="0" u="none" strike="noStrike" cap="non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 </a:t>
            </a:r>
            <a:r>
              <a:rPr lang="en-US" sz="2800" b="0" i="0" u="none" strike="noStrike" cap="non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uygulayarak</a:t>
            </a:r>
            <a:r>
              <a:rPr lang="en-US" sz="2800" b="0" i="0" u="none" strike="noStrike" cap="non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, </a:t>
            </a:r>
            <a:r>
              <a:rPr lang="en-US" sz="2800" b="0" i="0" u="none" strike="noStrike" cap="non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topluma</a:t>
            </a:r>
            <a:r>
              <a:rPr lang="en-US" sz="2800" b="0" i="0" u="none" strike="noStrike" cap="non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 </a:t>
            </a:r>
            <a:r>
              <a:rPr lang="en-US" sz="2800" b="0" i="0" u="none" strike="noStrike" cap="non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çeki</a:t>
            </a:r>
            <a:r>
              <a:rPr lang="en-US" sz="2800" b="0" i="0" u="none" strike="noStrike" cap="non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 </a:t>
            </a:r>
            <a:r>
              <a:rPr lang="en-US" sz="2800" b="0" i="0" u="none" strike="noStrike" cap="non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düzen</a:t>
            </a:r>
            <a:r>
              <a:rPr lang="en-US" sz="2800" b="0" i="0" u="none" strike="noStrike" cap="non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 </a:t>
            </a:r>
            <a:r>
              <a:rPr lang="en-US" sz="2800" b="0" i="0" u="none" strike="noStrike" cap="non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vermek</a:t>
            </a:r>
            <a:r>
              <a:rPr lang="en-US" sz="2800" b="0" i="0" u="none" strike="noStrike" cap="non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 </a:t>
            </a:r>
            <a:r>
              <a:rPr lang="en-US" sz="2800" b="0" i="0" u="none" strike="noStrike" cap="non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amacındadır</a:t>
            </a:r>
            <a:r>
              <a:rPr lang="en-US" sz="2800" b="0" i="0" u="none" strike="noStrike" cap="non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 (</a:t>
            </a:r>
            <a:r>
              <a:rPr lang="en-US" sz="2800" b="0" i="0" u="none" strike="noStrike" cap="non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pozitivist</a:t>
            </a:r>
            <a:r>
              <a:rPr lang="en-US" sz="2800" b="0" i="0" u="none" strike="noStrike" cap="non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 </a:t>
            </a:r>
            <a:r>
              <a:rPr lang="en-US" sz="2800" b="0" i="0" u="none" strike="noStrike" cap="non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yaklaşım</a:t>
            </a:r>
            <a:r>
              <a:rPr lang="en-US" sz="2800" b="0" i="0" u="none" strike="noStrike" cap="non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).</a:t>
            </a:r>
            <a:br>
              <a:rPr lang="en-US" sz="2800" b="0" i="0" u="none" strike="noStrike" baseline="0" dirty="0">
                <a:solidFill>
                  <a:srgbClr val="000000"/>
                </a:solidFill>
                <a:latin typeface="Constantia" panose="02030602050306030303" pitchFamily="18" charset="0"/>
              </a:rPr>
            </a:br>
            <a:br>
              <a:rPr lang="en-US" sz="2800" b="0" i="0" u="none" strike="noStrike" baseline="0" dirty="0">
                <a:solidFill>
                  <a:srgbClr val="000000"/>
                </a:solidFill>
                <a:latin typeface="Constantia" panose="02030602050306030303" pitchFamily="18" charset="0"/>
              </a:rPr>
            </a:br>
            <a:endParaRPr lang="en-US" dirty="0"/>
          </a:p>
        </p:txBody>
      </p:sp>
      <p:pic>
        <p:nvPicPr>
          <p:cNvPr id="1026" name="Picture 2" descr="Kısaca: Sosyoloji Nedir? Sosyoloji'nin Kurucuları ve Tanımı -  TarihiBilgi.org">
            <a:extLst>
              <a:ext uri="{FF2B5EF4-FFF2-40B4-BE49-F238E27FC236}">
                <a16:creationId xmlns:a16="http://schemas.microsoft.com/office/drawing/2014/main" id="{5A6B0FFA-55B0-631D-FA34-2F66C572D201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7" r="6177"/>
          <a:stretch>
            <a:fillRect/>
          </a:stretch>
        </p:blipFill>
        <p:spPr bwMode="auto">
          <a:xfrm>
            <a:off x="284725" y="74645"/>
            <a:ext cx="4344695" cy="635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AC9AC5D-0F42-D70D-A1D2-3C33A9CAC8EE}"/>
              </a:ext>
            </a:extLst>
          </p:cNvPr>
          <p:cNvSpPr txBox="1"/>
          <p:nvPr/>
        </p:nvSpPr>
        <p:spPr>
          <a:xfrm>
            <a:off x="569167" y="100664"/>
            <a:ext cx="2743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Auguste COMTE</a:t>
            </a:r>
          </a:p>
          <a:p>
            <a:r>
              <a:rPr lang="en-US" dirty="0"/>
              <a:t>(1798 1857)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5259554" cy="1303370"/>
          </a:xfrm>
        </p:spPr>
        <p:txBody>
          <a:bodyPr/>
          <a:lstStyle/>
          <a:p>
            <a:r>
              <a:rPr lang="en-US" dirty="0"/>
              <a:t>Auguste COMTE (1798-1857)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111" y="2425959"/>
            <a:ext cx="6981083" cy="4245429"/>
          </a:xfrm>
        </p:spPr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Pozitivist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sosyolojinin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kurucusudur</a:t>
            </a:r>
            <a:r>
              <a:rPr lang="en-US" dirty="0">
                <a:solidFill>
                  <a:schemeClr val="tx1"/>
                </a:solidFill>
              </a:rPr>
              <a:t>. </a:t>
            </a:r>
            <a:r>
              <a:rPr lang="en-US" dirty="0" err="1">
                <a:solidFill>
                  <a:schemeClr val="tx1"/>
                </a:solidFill>
              </a:rPr>
              <a:t>Sosyolojinin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isim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babası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olarak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bilinmektedir</a:t>
            </a:r>
            <a:r>
              <a:rPr lang="en-US" dirty="0">
                <a:solidFill>
                  <a:schemeClr val="tx1"/>
                </a:solidFill>
              </a:rPr>
              <a:t>. </a:t>
            </a:r>
            <a:endParaRPr lang="tr-TR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Fransız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ihtilalinin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getirdiği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başıbozukluk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bunalımın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büyük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ölçüde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etkisi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altında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kalmıştır</a:t>
            </a:r>
            <a:r>
              <a:rPr lang="en-US" dirty="0">
                <a:solidFill>
                  <a:schemeClr val="tx1"/>
                </a:solidFill>
              </a:rPr>
              <a:t>. </a:t>
            </a:r>
            <a:r>
              <a:rPr lang="en-US" dirty="0" err="1">
                <a:solidFill>
                  <a:schemeClr val="tx1"/>
                </a:solidFill>
              </a:rPr>
              <a:t>İçinde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bulunduğu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toplumsal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yapının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nasıl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düzeltilebileceği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toplumun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rayına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nasıl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oturtulabileceği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üzerinde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durmuştur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endParaRPr lang="en-US" dirty="0"/>
          </a:p>
        </p:txBody>
      </p:sp>
      <p:pic>
        <p:nvPicPr>
          <p:cNvPr id="2052" name="Picture 4" descr="Auguste Comte Biyografiler.com">
            <a:extLst>
              <a:ext uri="{FF2B5EF4-FFF2-40B4-BE49-F238E27FC236}">
                <a16:creationId xmlns:a16="http://schemas.microsoft.com/office/drawing/2014/main" id="{A4624401-58C8-5FB0-A43B-27E3EF7D65D6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6" r="7476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Temel </a:t>
            </a:r>
            <a:r>
              <a:rPr lang="en-US" dirty="0" err="1"/>
              <a:t>amacı</a:t>
            </a:r>
            <a:r>
              <a:rPr lang="en-US" b="0" dirty="0"/>
              <a:t>;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>
            <a:normAutofit/>
          </a:bodyPr>
          <a:lstStyle/>
          <a:p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Yeni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toplumsal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düzen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yaratmak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sosyoloji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yardımıyla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topluma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yeni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düzen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vermektir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1839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yılında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comte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toplumsal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olayları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inceleyerek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yeni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bilime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sosyal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fizik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ismini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önermiş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daha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sonra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aynı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anlama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geldiğini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düşündüğü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sosyoloji</a:t>
            </a:r>
            <a:r>
              <a:rPr lang="tr-T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kavramsallaştırmasına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gitmiştir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AADC26E-DE8C-3209-C893-ED485C164D5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536302" y="457199"/>
            <a:ext cx="8481528" cy="6204858"/>
          </a:xfrm>
        </p:spPr>
        <p:txBody>
          <a:bodyPr>
            <a:normAutofit/>
          </a:bodyPr>
          <a:lstStyle/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Comte`un</a:t>
            </a:r>
            <a:r>
              <a:rPr lang="tr-TR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pozitif</a:t>
            </a:r>
            <a:r>
              <a:rPr lang="en-US" sz="28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felsefe</a:t>
            </a:r>
            <a:r>
              <a:rPr lang="tr-TR" sz="28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adını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verdiği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yeni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bilim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tr-TR" sz="2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toplumsal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yasaları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ortaya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çıkaracak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tr-T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ralarında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ilişkiler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kuracak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yolla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toplumsal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olguları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açıklayabilecek</a:t>
            </a:r>
            <a:endParaRPr lang="en-US" sz="2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Toplumun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yeniden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düzenlenmesi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amacına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hizmet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edecektir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sz="2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457200"/>
            <a:ext cx="7081935" cy="5566166"/>
          </a:xfrm>
        </p:spPr>
        <p:txBody>
          <a:bodyPr>
            <a:normAutofit/>
          </a:bodyPr>
          <a:lstStyle/>
          <a:p>
            <a:pPr algn="l"/>
            <a:endParaRPr lang="en-US" sz="1000" b="0" i="0" u="none" strike="noStrike" baseline="0" dirty="0">
              <a:solidFill>
                <a:srgbClr val="000000"/>
              </a:solidFill>
              <a:latin typeface="Constantia" panose="02030602050306030303" pitchFamily="18" charset="0"/>
            </a:endParaRPr>
          </a:p>
          <a:p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Bilim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maddi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dünyadaki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olayları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kontrol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altına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almamızı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nasıl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sağlıyorsa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sosyoloji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insanların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kendi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kaderlerini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kontrol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etmelerini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sağlayacak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bilim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olacaktır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Eğer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toplumun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işleyiş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yasalarını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bulabilirsek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geleceğe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ilişkin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kestirimlerde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bulunmamız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mümkün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olabilecektir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Comte`a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göre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«</a:t>
            </a:r>
            <a:r>
              <a:rPr lang="en-US" sz="24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geleceği</a:t>
            </a:r>
            <a:r>
              <a:rPr lang="en-US" sz="24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kestirmek</a:t>
            </a:r>
            <a:r>
              <a:rPr lang="en-US" sz="24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iktidar</a:t>
            </a:r>
            <a:r>
              <a:rPr lang="en-US" sz="24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sahibi</a:t>
            </a:r>
            <a:r>
              <a:rPr lang="en-US" sz="24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olmak</a:t>
            </a:r>
            <a:r>
              <a:rPr lang="en-US" sz="24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demektir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».</a:t>
            </a:r>
          </a:p>
          <a:p>
            <a:endParaRPr lang="en-US" sz="1800" b="0" i="0" u="none" strike="noStrike" baseline="0" dirty="0">
              <a:solidFill>
                <a:srgbClr val="000000"/>
              </a:solidFill>
              <a:latin typeface="Constantia" panose="02030602050306030303" pitchFamily="18" charset="0"/>
            </a:endParaRPr>
          </a:p>
          <a:p>
            <a:r>
              <a:rPr lang="en-US" sz="900" b="0" i="0" u="none" strike="noStrike" baseline="0" dirty="0">
                <a:solidFill>
                  <a:srgbClr val="045C75"/>
                </a:solidFill>
                <a:latin typeface="Arial" panose="020B0604020202020204" pitchFamily="34" charset="0"/>
              </a:rPr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" y="774441"/>
            <a:ext cx="7949682" cy="56723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Comte’un</a:t>
            </a:r>
            <a:r>
              <a:rPr lang="tr-TR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temel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kavramları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1.T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oplumsal </a:t>
            </a:r>
            <a:r>
              <a:rPr lang="en-US" sz="2400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Statik: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Temeli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24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düzen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”dir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Varolan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toplum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koşullarının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incelenmesi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anlamına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gelir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Toplumsal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24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consensus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la (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uzlaşı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toplumda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yaşayan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insanlar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arasındaki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uyum”u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içeren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yasalarla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ilgilidir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Sosyal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yapı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düzen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alanın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içindedir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Toplum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organik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bütündür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üç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açıdan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analiz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edilebilir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1.Birey 2. Aile 3. </a:t>
            </a:r>
            <a:r>
              <a:rPr lang="en-US" sz="2400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Toplum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***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Ancak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sosyoloji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için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küçük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birim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birey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değil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ailedir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Çünkü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toplum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parçalanıp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bireylere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indirgenemez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1" name="Picture 2" descr="Kısaca: Sosyoloji Nedir? Sosyoloji'nin Kurucuları ve Tanımı -  TarihiBilgi.org">
            <a:extLst>
              <a:ext uri="{FF2B5EF4-FFF2-40B4-BE49-F238E27FC236}">
                <a16:creationId xmlns:a16="http://schemas.microsoft.com/office/drawing/2014/main" id="{B9CFC704-042F-C805-2523-8E40A73CF9A2}"/>
              </a:ext>
            </a:extLst>
          </p:cNvPr>
          <p:cNvPicPr>
            <a:picLocks noGrp="1" noChangeAspect="1" noChangeArrowheads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r="13925"/>
          <a:stretch>
            <a:fillRect/>
          </a:stretch>
        </p:blipFill>
        <p:spPr bwMode="auto">
          <a:xfrm>
            <a:off x="8566150" y="411163"/>
            <a:ext cx="3625850" cy="644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035697" y="457199"/>
            <a:ext cx="7725747" cy="5596410"/>
          </a:xfrm>
        </p:spPr>
        <p:txBody>
          <a:bodyPr/>
          <a:lstStyle/>
          <a:p>
            <a:endParaRPr lang="tr-TR" sz="2400" b="1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2400" b="1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2.Toplumsal </a:t>
            </a:r>
            <a:r>
              <a:rPr lang="en-US" sz="2400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Dinamik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Temeli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24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ilerleme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”dir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Toplumun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değişen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koşullarının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gelişiminin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yani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toplumun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ilerleme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yasalarının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incelenmesini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kapsar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Toplumsal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dinamik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insan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düşüncesinin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insan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toplumlarının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art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arda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gelen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zorunlu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evrelerini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ifade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eder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(3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yasası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DDEE0-B9DC-EE6E-B092-E787617A7D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122" name="Picture 2" descr="Üç Hâl Yasası, Üç Hâl Kanunu | Felsefe hakkında her şey...">
            <a:extLst>
              <a:ext uri="{FF2B5EF4-FFF2-40B4-BE49-F238E27FC236}">
                <a16:creationId xmlns:a16="http://schemas.microsoft.com/office/drawing/2014/main" id="{1A9580DB-D748-D092-A491-18F3BDD7C732}"/>
              </a:ext>
            </a:extLst>
          </p:cNvPr>
          <p:cNvPicPr>
            <a:picLocks noGrp="1" noChangeAspect="1" noChangeArrowheads="1"/>
          </p:cNvPicPr>
          <p:nvPr>
            <p:ph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039177"/>
            <a:ext cx="7585787" cy="5408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7312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948CA73-85FC-820C-5F44-5EFE913E53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3062" y="131505"/>
            <a:ext cx="10499986" cy="543041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Evrimci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perspektiften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tarihsel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sosyal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gerçekliğe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bakan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Comte,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evrimci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süreci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üç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aşama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yasası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açıklar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tr-T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1.Dinsel (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teolojik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aşama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Olgular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tanrısal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güçlerle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açıklanır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Bu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dönemde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insanoğlu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bilmediği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anlayamadığı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olayları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hep </a:t>
            </a:r>
            <a:r>
              <a:rPr lang="tr-T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bilimden uzak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kaynakla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açıklama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yoluna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gitmiştir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Aklından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çok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imgeleminin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sesini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dinlemiş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ussal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yolla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temellendirilmiş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açıklamalar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yapmak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yerine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mitolojik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anlatılara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başvurmuştur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2C39999-E8ED-F4F3-F744-2943EE00D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003" y="2957804"/>
            <a:ext cx="8572500" cy="3379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84D883B-E395-0DFB-09A5-9FD0EFF00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8759" y="513183"/>
            <a:ext cx="9394244" cy="550884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400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Metafizik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aşama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olgular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soyut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kavramlar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özler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ideal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biçimlerle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açıklanır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Gerek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mitolojik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tanrıların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varlığına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gerekse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onların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özel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yetilerine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güçlerine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duyulan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inancın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çökmesiyle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birlikte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değişik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metafizik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araştırma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yöntemleriyle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insan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zihni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saltığı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kavramaya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çalışmıştır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tr-TR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C81D45-F5CB-1791-3010-F6C44243C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719" y="2354425"/>
            <a:ext cx="996112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D1EF1B-6A51-E39F-2C9E-234DC2A9AA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4400" y="1017037"/>
            <a:ext cx="10511627" cy="524758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400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Pozitif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Aşama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olgular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olgularla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açıklanır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Sadece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doğa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olayları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değil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dinler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gelenekler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sanat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ahlak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olgulara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dayalı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olarak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açıklanmalıdır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>
              <a:buFont typeface="Wingdings" panose="05000000000000000000" pitchFamily="2" charset="2"/>
              <a:buChar char="Ø"/>
            </a:pPr>
            <a:endParaRPr lang="tr-TR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Usun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bütünüyle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imgelemin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üstesinden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geldiğinin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varsayıldığı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son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dönemde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insanoğlu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artık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deneye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açık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olgularla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olgular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arasındaki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ilişkilerle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olguların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altında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yattığı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düşünülen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yapı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düzen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yasalarla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ilgilenmektedir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r-TR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6F2088-DF76-157F-5252-E420D3B89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5228" y="3620278"/>
            <a:ext cx="8572500" cy="317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34EA918-8B78-A1FD-E7E5-386D4B3EEB39}"/>
              </a:ext>
            </a:extLst>
          </p:cNvPr>
          <p:cNvSpPr txBox="1"/>
          <p:nvPr/>
        </p:nvSpPr>
        <p:spPr>
          <a:xfrm>
            <a:off x="923731" y="699797"/>
            <a:ext cx="8222601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**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İnsanlık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aşamaları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sırasıyla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hem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toplumsal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örgütler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düzeyinde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hem de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insan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aklının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gelişimi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sürecinde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belirli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sıra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içinde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kaçınılmaz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olarak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takip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etmektedir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tr-TR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** Bu durum “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insan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ırkının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kendisini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mükemmelleştirme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eğilimi”nden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kaynaklanan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doğal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yasaya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bağlı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olarak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gerçekleşmektedir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b="0" i="0" u="none" strike="noStrike" baseline="0" dirty="0">
              <a:solidFill>
                <a:srgbClr val="000000"/>
              </a:solidFill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B65B59-2AB0-F4A3-FE09-66AA5F40AF2C}"/>
              </a:ext>
            </a:extLst>
          </p:cNvPr>
          <p:cNvSpPr txBox="1"/>
          <p:nvPr/>
        </p:nvSpPr>
        <p:spPr>
          <a:xfrm>
            <a:off x="849085" y="1371600"/>
            <a:ext cx="10450285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0" i="0" u="none" strike="noStrik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**</a:t>
            </a:r>
            <a:r>
              <a:rPr lang="en-US" sz="2600" b="1" i="0" u="none" strike="noStrik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DÜZEN</a:t>
            </a:r>
            <a:r>
              <a:rPr lang="en-US" sz="2600" b="0" i="0" u="none" strike="noStrik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(</a:t>
            </a:r>
            <a:r>
              <a:rPr lang="en-US" sz="2600" b="0" i="0" u="none" strike="noStrik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toplumsal</a:t>
            </a:r>
            <a:r>
              <a:rPr lang="tr-TR" sz="2600" b="0" i="0" u="none" strike="noStrik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 </a:t>
            </a:r>
            <a:r>
              <a:rPr lang="en-US" sz="2600" b="0" i="0" u="none" strike="noStrik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statik</a:t>
            </a:r>
            <a:r>
              <a:rPr lang="en-US" sz="2600" b="0" i="0" u="none" strike="noStrik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)</a:t>
            </a:r>
            <a:r>
              <a:rPr lang="en-US" sz="2600" b="0" i="0" u="none" strike="noStrik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ve</a:t>
            </a:r>
            <a:r>
              <a:rPr lang="en-US" sz="2600" b="1" i="0" u="none" strike="noStrik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İLERLEME</a:t>
            </a:r>
            <a:r>
              <a:rPr lang="en-US" sz="2600" b="0" i="0" u="none" strike="noStrik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(</a:t>
            </a:r>
            <a:r>
              <a:rPr lang="en-US" sz="2600" b="0" i="0" u="none" strike="noStrik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toplumsal</a:t>
            </a:r>
            <a:r>
              <a:rPr lang="tr-TR" sz="2600" b="0" i="0" u="none" strike="noStrik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 </a:t>
            </a:r>
            <a:r>
              <a:rPr lang="en-US" sz="2600" b="0" i="0" u="none" strike="noStrik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dinamik</a:t>
            </a:r>
            <a:r>
              <a:rPr lang="en-US" sz="2600" b="0" i="0" u="none" strike="noStrik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),</a:t>
            </a:r>
            <a:r>
              <a:rPr lang="tr-TR" sz="2600" b="0" i="0" u="none" strike="noStrik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 </a:t>
            </a:r>
            <a:r>
              <a:rPr lang="en-US" sz="2600" b="0" i="0" u="none" strike="noStrik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böylelikle</a:t>
            </a:r>
            <a:r>
              <a:rPr lang="tr-TR" sz="2600" b="0" i="0" u="none" strike="noStrik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 </a:t>
            </a:r>
            <a:r>
              <a:rPr lang="en-US" sz="2600" b="0" i="0" u="none" strike="noStrik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toplumun</a:t>
            </a:r>
            <a:r>
              <a:rPr lang="tr-TR" sz="2600" b="0" i="0" u="none" strike="noStrik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 </a:t>
            </a:r>
            <a:r>
              <a:rPr lang="en-US" sz="2600" b="0" i="0" u="none" strike="noStrik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statik</a:t>
            </a:r>
            <a:r>
              <a:rPr lang="tr-TR" sz="2600" b="0" i="0" u="none" strike="noStrik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 </a:t>
            </a:r>
            <a:r>
              <a:rPr lang="en-US" sz="2600" b="0" i="0" u="none" strike="noStrik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ve</a:t>
            </a:r>
            <a:r>
              <a:rPr lang="tr-TR" sz="2600" b="0" i="0" u="none" strike="noStrik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 </a:t>
            </a:r>
            <a:r>
              <a:rPr lang="en-US" sz="2600" b="0" i="0" u="none" strike="noStrik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dinamik</a:t>
            </a:r>
            <a:r>
              <a:rPr lang="tr-TR" sz="2600" b="0" i="0" u="none" strike="noStrik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 </a:t>
            </a:r>
            <a:r>
              <a:rPr lang="en-US" sz="2600" b="0" i="0" u="none" strike="noStrik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yönlerine</a:t>
            </a:r>
            <a:r>
              <a:rPr lang="tr-TR" sz="2600" b="0" i="0" u="none" strike="noStrik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 </a:t>
            </a:r>
            <a:r>
              <a:rPr lang="en-US" sz="2600" b="0" i="0" u="none" strike="noStrik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karşılık</a:t>
            </a:r>
            <a:r>
              <a:rPr lang="tr-TR" sz="2600" b="0" i="0" u="none" strike="noStrik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 </a:t>
            </a:r>
            <a:r>
              <a:rPr lang="en-US" sz="2600" b="0" i="0" u="none" strike="noStrik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gelmektedir</a:t>
            </a:r>
            <a:r>
              <a:rPr lang="en-US" sz="2600" b="0" i="0" u="none" strike="noStrik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.</a:t>
            </a:r>
            <a:endParaRPr lang="tr-TR" sz="2600" b="0" i="0" u="none" strike="noStrike" baseline="0" dirty="0">
              <a:solidFill>
                <a:srgbClr val="000000"/>
              </a:solidFill>
              <a:latin typeface="Constantia" panose="02030602050306030303" pitchFamily="18" charset="0"/>
            </a:endParaRPr>
          </a:p>
          <a:p>
            <a:endParaRPr lang="en-US" sz="2600" b="0" i="0" u="none" strike="noStrike" baseline="0" dirty="0">
              <a:solidFill>
                <a:srgbClr val="000000"/>
              </a:solidFill>
              <a:latin typeface="Constantia" panose="02030602050306030303" pitchFamily="18" charset="0"/>
            </a:endParaRPr>
          </a:p>
          <a:p>
            <a:r>
              <a:rPr lang="en-US" sz="2600" b="0" i="0" u="none" strike="noStrik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**</a:t>
            </a:r>
            <a:r>
              <a:rPr lang="en-US" sz="2600" b="0" i="0" u="none" strike="noStrik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İLERLEME`nin</a:t>
            </a:r>
            <a:r>
              <a:rPr lang="tr-TR" sz="2600" b="0" i="0" u="none" strike="noStrik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 </a:t>
            </a:r>
            <a:r>
              <a:rPr lang="en-US" sz="2600" b="0" i="0" u="none" strike="noStrik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olması</a:t>
            </a:r>
            <a:r>
              <a:rPr lang="tr-TR" sz="2600" b="0" i="0" u="none" strike="noStrik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 </a:t>
            </a:r>
            <a:r>
              <a:rPr lang="en-US" sz="2600" b="0" i="0" u="none" strike="noStrik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için</a:t>
            </a:r>
            <a:r>
              <a:rPr lang="tr-TR" sz="2600" b="0" i="0" u="none" strike="noStrik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 </a:t>
            </a:r>
            <a:r>
              <a:rPr lang="en-US" sz="2600" b="0" i="0" u="none" strike="noStrik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öncelikle</a:t>
            </a:r>
            <a:r>
              <a:rPr lang="tr-TR" sz="2600" b="0" i="0" u="none" strike="noStrik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 </a:t>
            </a:r>
            <a:r>
              <a:rPr lang="en-US" sz="2600" b="0" i="0" u="none" strike="noStrik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DÜZEN</a:t>
            </a:r>
            <a:r>
              <a:rPr lang="tr-TR" sz="2600" b="0" i="0" u="none" strike="noStrik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 </a:t>
            </a:r>
            <a:r>
              <a:rPr lang="en-US" sz="2600" b="0" i="0" u="none" strike="noStrik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ve</a:t>
            </a:r>
            <a:r>
              <a:rPr lang="tr-TR" sz="2600" b="0" i="0" u="none" strike="noStrik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 </a:t>
            </a:r>
            <a:r>
              <a:rPr lang="en-US" sz="2600" b="0" i="0" u="none" strike="noStrik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dolayısıyla,UYUM</a:t>
            </a:r>
            <a:r>
              <a:rPr lang="tr-TR" sz="2600" b="0" i="0" u="none" strike="noStrik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 </a:t>
            </a:r>
            <a:r>
              <a:rPr lang="en-US" sz="2600" b="0" i="0" u="none" strike="noStrik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ve</a:t>
            </a:r>
            <a:r>
              <a:rPr lang="tr-TR" sz="2600" b="0" i="0" u="none" strike="noStrik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 </a:t>
            </a:r>
            <a:r>
              <a:rPr lang="en-US" sz="2600" b="0" i="0" u="none" strike="noStrik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DAYANIŞMA</a:t>
            </a:r>
            <a:r>
              <a:rPr lang="tr-TR" sz="2600" b="0" i="0" u="none" strike="noStrik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 </a:t>
            </a:r>
            <a:r>
              <a:rPr lang="en-US" sz="2600" b="0" i="0" u="none" strike="noStrike" baseline="0" dirty="0" err="1">
                <a:solidFill>
                  <a:srgbClr val="000000"/>
                </a:solidFill>
                <a:latin typeface="Constantia" panose="02030602050306030303" pitchFamily="18" charset="0"/>
              </a:rPr>
              <a:t>gerekmektedir</a:t>
            </a:r>
            <a:r>
              <a:rPr lang="en-US" sz="2600" b="0" i="0" u="none" strike="noStrike" baseline="0" dirty="0">
                <a:solidFill>
                  <a:srgbClr val="000000"/>
                </a:solidFill>
                <a:latin typeface="Constantia" panose="02030602050306030303" pitchFamily="18" charset="0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669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C817C4-0923-B7D6-E3AC-CE36294345E3}"/>
              </a:ext>
            </a:extLst>
          </p:cNvPr>
          <p:cNvSpPr txBox="1"/>
          <p:nvPr/>
        </p:nvSpPr>
        <p:spPr>
          <a:xfrm>
            <a:off x="1222312" y="660995"/>
            <a:ext cx="616753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İbn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Haldun (1332 1406)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B3092C-DB80-2C7E-72C9-63C2AB90B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997" y="1430437"/>
            <a:ext cx="6367754" cy="476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161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FE30678-8FDB-F4EB-6A9A-7F29A365E5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895739"/>
            <a:ext cx="7660432" cy="5152509"/>
          </a:xfrm>
        </p:spPr>
        <p:txBody>
          <a:bodyPr/>
          <a:lstStyle/>
          <a:p>
            <a:endParaRPr lang="tr-T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İbni Haldun;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Astronom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iktisatçı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tarihçi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matematikçi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sosyal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bilimci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bir filozoftur.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İbn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Rüşt’ün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öğrencisi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önemli eseri ‘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Mukaddime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 dir. Mukaddime adlı ilmi eseri, Dünya ve İslam Düşünce Tarihi'ne önemli katkıları olduğu ifade edilmektedir.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Özgün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tarih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kuramcısı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kültür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siyaset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felsefecisi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toplumbilimcidir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7804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2668C29-5BD3-5A3F-18E4-6EA1F749A4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727788"/>
            <a:ext cx="8080309" cy="532046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lang="tr-T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Tarihsel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olayları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toplumsal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etnik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kültürel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siyasal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ekonomik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hatta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coğrafi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biyolojik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koşullarla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bağlantıları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içinde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değerlendiren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ilk</a:t>
            </a:r>
          </a:p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düşünürdür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  <a:endParaRPr lang="tr-T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Tarih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felsefesinin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sosyolojinin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çağdaş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anlamda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birer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bilim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olarak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ortaya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çıkmasını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sağlamıştır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47962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D9CEB6F-E318-2DD0-92B9-9DC5E4218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802433"/>
            <a:ext cx="9545216" cy="5887616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lang="tr-T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Mukaddime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Önsöz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olayın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başlangıcı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Mukaddime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adlı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eserinde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nesnel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gerçekçi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akılcı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yaklaşımla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aldığı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konular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Coğrafi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şartlarla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sosyal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hayatın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ilişkisi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toplum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şekilleri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din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devlet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hayatının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sınırları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şehir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köy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ilişkisi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iktisadi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hayat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bilgi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kuramı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bilimlerin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sınıflaması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edebiyat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32980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8DA5EC6-8E30-B169-CA23-7484B5C820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718457"/>
            <a:ext cx="11140750" cy="5329791"/>
          </a:xfrm>
        </p:spPr>
        <p:txBody>
          <a:bodyPr/>
          <a:lstStyle/>
          <a:p>
            <a:endParaRPr lang="tr-T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Mukaddime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1.bölüm :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İklimlerin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beslenmenin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insan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tabiatı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uygarlıklar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üzerindeki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etkileri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2.bölüm :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Göçebe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yerleşik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kültürlerin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karşılaştırılması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kültür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arasındaki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çatışmaların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sosyal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sonuçları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3.bölüm :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Devletlerin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doğuşu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çöküşü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saltanat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hilafet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krallıkların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koşulları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kuralları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06400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8F26B20-0E5A-4EE8-A8B5-E03C60732B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629" y="391887"/>
            <a:ext cx="10608906" cy="5656362"/>
          </a:xfrm>
        </p:spPr>
        <p:txBody>
          <a:bodyPr/>
          <a:lstStyle/>
          <a:p>
            <a:endParaRPr lang="tr-T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4.bölüm :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Köy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kasaba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hayatı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imar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faaliyetleri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bunun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İslam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devleti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ilgisi</a:t>
            </a:r>
            <a:endParaRPr lang="tr-T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5.bölüm :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Dönemin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ana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meslekleri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geçim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araçları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sanat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ticaret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ziraat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tarım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inşaat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gibi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ekonomik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faaliyetler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6.bölüm :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Bilimlerin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sınıflandırılması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eğitim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yöntemleri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34442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EFD4C5D-C653-71FD-D169-0B41E1F692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727788"/>
            <a:ext cx="10151705" cy="5320460"/>
          </a:xfrm>
        </p:spPr>
        <p:txBody>
          <a:bodyPr/>
          <a:lstStyle/>
          <a:p>
            <a:endParaRPr lang="tr-TR" dirty="0"/>
          </a:p>
          <a:p>
            <a:endParaRPr lang="tr-TR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Genel Dünya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tarihine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verirken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özellikle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Türk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tarihine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geniş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bölüm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ayırır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Devlet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hayatıyla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dini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hayatın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sınırlarını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ortaya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koyarken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Laik Devlet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sistemini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savunur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Temel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amacı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İslam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Medeniyetinin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tarihi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sosyolojik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problemlerine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ışık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tutmak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İslam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kültürüne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yeni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canlılık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kazandırmak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</p:txBody>
      </p:sp>
    </p:spTree>
    <p:extLst>
      <p:ext uri="{BB962C8B-B14F-4D97-AF65-F5344CB8AC3E}">
        <p14:creationId xmlns:p14="http://schemas.microsoft.com/office/powerpoint/2010/main" val="9031634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4975935-B296-201B-2578-9CCFB076D2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765110"/>
            <a:ext cx="9927770" cy="5283138"/>
          </a:xfrm>
        </p:spPr>
        <p:txBody>
          <a:bodyPr/>
          <a:lstStyle/>
          <a:p>
            <a:endParaRPr lang="tr-T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TEMEL KAVRAMLAR</a:t>
            </a:r>
            <a:endParaRPr lang="tr-T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UMRAN :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Uygarlık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bilimi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Konusu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insan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topluluğu”dur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  <a:endParaRPr lang="tr-T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İkiye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ayrılır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Hazeri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Umran (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yerleşik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uygarlık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edevi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Umran (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göçebe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Toplumların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doğasını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toplumsal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olaylar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arasındaki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neden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sonuç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ilişkilerini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araştırır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yasalarını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saptar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r-T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Toplumların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medeniyetini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tayin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eden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unsurlar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coğrafya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ekonomik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etkinliklerdir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78820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97159ED-604A-6406-809D-9DCE7845C5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541176"/>
            <a:ext cx="9442579" cy="5507072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ASABİYET 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Dayanışma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ruhu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grup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duygusu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kabilecilik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bağı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toplumsal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dayanışma</a:t>
            </a:r>
            <a:endParaRPr lang="tr-T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Asabiyet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toplumun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oluşumunun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temelidir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ahlak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toplumların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devamının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temelidir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Toplum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insan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için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ikinci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ana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rahmidir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ancak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asabiyet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yoluyla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oluşmaktadır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Toplum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yönüyle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ruhsal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varlık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olan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asabiyetin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kemiğe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bürünmüş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biçimlerinden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hatta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önemlisidir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663883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D332BC-8896-3EF8-CAE8-7D58B45445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681135"/>
            <a:ext cx="10496938" cy="5367113"/>
          </a:xfrm>
        </p:spPr>
        <p:txBody>
          <a:bodyPr/>
          <a:lstStyle/>
          <a:p>
            <a:endParaRPr lang="tr-TR" b="0" i="0" u="none" strike="noStrike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İki </a:t>
            </a:r>
            <a:r>
              <a:rPr lang="en-US" b="1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türlü</a:t>
            </a:r>
            <a:r>
              <a:rPr lang="en-US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asabiyet</a:t>
            </a:r>
            <a:r>
              <a:rPr lang="en-US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vardır</a:t>
            </a:r>
            <a:r>
              <a:rPr lang="en-US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tr-TR" b="1" i="0" u="none" strike="noStrike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0" i="0" u="none" strike="noStrike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Nesep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(soy)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asabiyeti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Aynı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soydan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gelmek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kandaş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olmak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kaçınılmaz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şarttır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İlkel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toplumlarda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bedevilerde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yaygındır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r-TR" b="0" i="0" u="none" strike="noStrike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0" i="0" u="none" strike="noStrike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Sebep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mükteseb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asabiyeti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Yerleşik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toplumlarda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yaygındır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1666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85CA6AF-FAF1-0854-81CB-C28169632C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466531"/>
            <a:ext cx="9629191" cy="5581717"/>
          </a:xfrm>
        </p:spPr>
        <p:txBody>
          <a:bodyPr/>
          <a:lstStyle/>
          <a:p>
            <a:endParaRPr lang="tr-TR" b="1" i="0" u="none" strike="noStrike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Temel </a:t>
            </a:r>
            <a:r>
              <a:rPr lang="en-US" b="1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Sorular</a:t>
            </a:r>
            <a:endParaRPr lang="tr-TR" b="1" i="0" u="none" strike="noStrike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i="0" u="none" strike="noStrike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İnsanları</a:t>
            </a:r>
            <a:r>
              <a:rPr lang="en-US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devlet</a:t>
            </a:r>
            <a:r>
              <a:rPr lang="en-US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halinde</a:t>
            </a:r>
            <a:r>
              <a:rPr lang="en-US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birleştiren</a:t>
            </a:r>
            <a:r>
              <a:rPr lang="en-US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sebep</a:t>
            </a:r>
            <a:r>
              <a:rPr lang="en-US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nedir</a:t>
            </a:r>
            <a:r>
              <a:rPr lang="en-US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 Bir </a:t>
            </a:r>
            <a:r>
              <a:rPr lang="en-US" b="1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devlet</a:t>
            </a:r>
            <a:r>
              <a:rPr lang="en-US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olarak</a:t>
            </a:r>
            <a:r>
              <a:rPr lang="en-US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</a:t>
            </a:r>
            <a:r>
              <a:rPr lang="en-US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yana</a:t>
            </a:r>
            <a:r>
              <a:rPr lang="en-US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yaşayan</a:t>
            </a:r>
            <a:r>
              <a:rPr lang="en-US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insanların</a:t>
            </a:r>
            <a:r>
              <a:rPr lang="en-US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birliktelikleri</a:t>
            </a:r>
            <a:r>
              <a:rPr lang="en-US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neye</a:t>
            </a:r>
            <a:r>
              <a:rPr lang="en-US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dayanır</a:t>
            </a:r>
            <a:r>
              <a:rPr lang="en-US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b="0" i="0" u="none" strike="noStrike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i="1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Dayanışma: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Toplum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yaşamında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ancak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dayanışma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bilinci"nin</a:t>
            </a:r>
            <a:r>
              <a:rPr lang="tr-TR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bulunduğu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yerde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yani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bireylerin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birbirini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karşılıklı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olarak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destekledikleri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yerde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devlet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vardır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Dayanışma</a:t>
            </a:r>
            <a:r>
              <a:rPr lang="en-US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duygusu</a:t>
            </a:r>
            <a:r>
              <a:rPr lang="en-US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neye</a:t>
            </a:r>
            <a:r>
              <a:rPr lang="en-US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dayanır?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duygu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çeşitli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etkilere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söz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gelimi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ortaklaşa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ırk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birliğine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din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birliğine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tarihi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kader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birliğine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dayanabilir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2946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C20FCC1-C23F-E08E-414C-65EA25D25A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737118"/>
            <a:ext cx="8434872" cy="5311130"/>
          </a:xfrm>
        </p:spPr>
        <p:txBody>
          <a:bodyPr/>
          <a:lstStyle/>
          <a:p>
            <a:r>
              <a:rPr lang="en-US" b="1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Dayanışmanın</a:t>
            </a:r>
            <a:r>
              <a:rPr lang="en-US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temeli</a:t>
            </a:r>
            <a:r>
              <a:rPr lang="en-US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“BİLİNÇ”</a:t>
            </a:r>
            <a:endParaRPr lang="tr-TR" b="1" i="0" u="none" strike="noStrike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i="0" u="none" strike="noStrike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Tüm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temellerden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önce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insanda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topluluk</a:t>
            </a:r>
            <a:r>
              <a:rPr lang="en-US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bilincinin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olması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gerekir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tr-TR" b="0" i="0" u="none" strike="noStrike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0" i="0" u="none" strike="noStrike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Yani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insan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öteki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insanlarla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akraba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olduğu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için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değil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akrabalık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bilincini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duyduğu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için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dayanışma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duygusu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taşır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Ya da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insan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aynı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dine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bağlı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olduğu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için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değil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de,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böyle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bağın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bilincine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sahip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olduğu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için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kendisini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ötekiler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ile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dayanışma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içinde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duyumsar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0446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66FBA33-4759-2D4B-8A3E-A914AEE55F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578498"/>
            <a:ext cx="8574832" cy="5469750"/>
          </a:xfrm>
        </p:spPr>
        <p:txBody>
          <a:bodyPr/>
          <a:lstStyle/>
          <a:p>
            <a:pPr algn="l"/>
            <a:endParaRPr lang="en-US" b="0" i="0" u="none" strike="noStrike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b="1" i="0" u="none" strike="noStrike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Yani </a:t>
            </a:r>
            <a:r>
              <a:rPr lang="en-US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devlet</a:t>
            </a:r>
            <a:r>
              <a:rPr lang="en-US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biyolojik</a:t>
            </a:r>
            <a:r>
              <a:rPr lang="en-US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birlik</a:t>
            </a:r>
            <a:r>
              <a:rPr lang="en-US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değil</a:t>
            </a:r>
            <a:r>
              <a:rPr lang="en-US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"</a:t>
            </a:r>
            <a:r>
              <a:rPr lang="en-US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ruhsal</a:t>
            </a:r>
            <a:r>
              <a:rPr lang="en-US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birliktir</a:t>
            </a:r>
            <a:r>
              <a:rPr lang="en-US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tr-TR" i="0" u="none" strike="noStrike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i="0" u="none" strike="noStrike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Devleti</a:t>
            </a:r>
            <a:r>
              <a:rPr lang="en-US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ayakta</a:t>
            </a:r>
            <a:r>
              <a:rPr lang="en-US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tutan</a:t>
            </a:r>
            <a:r>
              <a:rPr lang="en-US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US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bilinç"tir</a:t>
            </a:r>
            <a:r>
              <a:rPr lang="en-US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 </a:t>
            </a:r>
            <a:r>
              <a:rPr lang="en-US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bilincin</a:t>
            </a:r>
            <a:r>
              <a:rPr lang="en-US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dışında</a:t>
            </a:r>
            <a:r>
              <a:rPr lang="en-US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kalan</a:t>
            </a:r>
            <a:r>
              <a:rPr lang="en-US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bağların</a:t>
            </a:r>
            <a:r>
              <a:rPr lang="en-US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gerçekten</a:t>
            </a:r>
            <a:r>
              <a:rPr lang="en-US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var </a:t>
            </a:r>
            <a:r>
              <a:rPr lang="en-US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olup</a:t>
            </a:r>
            <a:r>
              <a:rPr lang="en-US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olmadığı</a:t>
            </a:r>
            <a:r>
              <a:rPr lang="en-US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konusu</a:t>
            </a:r>
            <a:r>
              <a:rPr lang="en-US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ikinci</a:t>
            </a:r>
            <a:r>
              <a:rPr lang="en-US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derecede</a:t>
            </a:r>
            <a:r>
              <a:rPr lang="en-US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önem</a:t>
            </a:r>
            <a:r>
              <a:rPr lang="en-US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taşır</a:t>
            </a:r>
            <a:r>
              <a:rPr lang="en-US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0660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928017-7003-290C-4051-A1200CA0B9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559837"/>
            <a:ext cx="10599575" cy="5488411"/>
          </a:xfrm>
        </p:spPr>
        <p:txBody>
          <a:bodyPr/>
          <a:lstStyle/>
          <a:p>
            <a:endParaRPr lang="tr-TR" b="1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tr-TR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    </a:t>
            </a:r>
            <a:r>
              <a:rPr lang="en-US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</a:t>
            </a:r>
            <a:r>
              <a:rPr lang="en-US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Devlet</a:t>
            </a:r>
            <a:endParaRPr lang="tr-TR" b="1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</a:t>
            </a:r>
            <a:r>
              <a:rPr lang="tr-TR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 </a:t>
            </a:r>
            <a:r>
              <a:rPr lang="en-US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insanların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doğa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ile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mücadelelerinde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birbirlerine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ihtiyaç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duymalarından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dolayı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araya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gelmelerinden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oluşurken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endParaRPr lang="tr-TR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</a:t>
            </a:r>
            <a:r>
              <a:rPr lang="tr-TR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 </a:t>
            </a:r>
            <a:r>
              <a:rPr lang="en-US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Devlet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insanı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hemcinslerinin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saldırıları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zulmünden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korumak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için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oluşturulan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şeydir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Devlet de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gibi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doğal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şeydir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tüm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insan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topluluklarını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kapsar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ancak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bu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ne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Tanrı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buyruğudur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ne de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tek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tanrılı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dinlere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özgü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durumdur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6684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46F84D-CB60-FC3D-894D-1A5BD0FB0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257" y="363895"/>
            <a:ext cx="10571584" cy="6204856"/>
          </a:xfrm>
        </p:spPr>
        <p:txBody>
          <a:bodyPr/>
          <a:lstStyle/>
          <a:p>
            <a:r>
              <a:rPr lang="tr-TR" sz="32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</a:p>
          <a:p>
            <a:r>
              <a:rPr lang="en-US" sz="32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Her </a:t>
            </a:r>
            <a:r>
              <a:rPr lang="en-US" sz="32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devlet</a:t>
            </a:r>
            <a:r>
              <a:rPr lang="en-US" sz="32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belli </a:t>
            </a:r>
            <a:r>
              <a:rPr lang="en-US" sz="32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32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32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şablona</a:t>
            </a:r>
            <a:r>
              <a:rPr lang="en-US" sz="32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32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göre</a:t>
            </a:r>
            <a:r>
              <a:rPr lang="en-US" sz="32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"</a:t>
            </a:r>
            <a:r>
              <a:rPr lang="en-US" sz="32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gelişir</a:t>
            </a:r>
            <a:r>
              <a:rPr lang="en-US" sz="32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«</a:t>
            </a:r>
            <a:endParaRPr lang="tr-TR" sz="3200" b="1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32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0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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Bütün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insan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toplulukları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kırsal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kültürden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kent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kültürüne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doğru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gelişme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gösterirler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Kırsal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Kültür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kendi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içinde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3 alt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aşamada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oluşur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0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1.</a:t>
            </a:r>
            <a:r>
              <a:rPr lang="tr-TR" sz="20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Aşama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hayat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örgütlenmenin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ilkel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biçimidir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(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göçebelik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  <a:r>
              <a:rPr lang="tr-TR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0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2.</a:t>
            </a:r>
            <a:r>
              <a:rPr lang="tr-TR" sz="20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Aşama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Hayvancılık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alanının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çeşitlendiği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yine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göçebelik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toplumudur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0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3.</a:t>
            </a:r>
            <a:r>
              <a:rPr lang="tr-TR" sz="20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Aşama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Küçük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yerleşim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birimlerinde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(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köy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veya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kasaba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)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tarımın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yapıldığı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yerleşik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hayatın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oluştuğu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dönemdir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91879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7A94502-A6A1-7EA4-95B6-FDD2F9E7CB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531845"/>
            <a:ext cx="9974423" cy="5924939"/>
          </a:xfrm>
        </p:spPr>
        <p:txBody>
          <a:bodyPr/>
          <a:lstStyle/>
          <a:p>
            <a:endParaRPr lang="tr-TR" b="1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Devletin</a:t>
            </a:r>
            <a:r>
              <a:rPr lang="en-US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Oluşumunun</a:t>
            </a:r>
            <a:r>
              <a:rPr lang="en-US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Koşulları</a:t>
            </a:r>
            <a:endParaRPr lang="tr-TR" b="1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b="1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1.Nüfusun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artması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endParaRPr lang="tr-TR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2.Kırsal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alandaki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üretim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artışı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yeni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ihtiyaçların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belirmesi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üretimin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pazarlanması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ihtiyacı</a:t>
            </a:r>
            <a:endParaRPr lang="tr-TR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3.Kent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hayatının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sürekliliği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varlığı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için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insanların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araya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gelip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üretim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pazarlamada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işbirliği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yapmaya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karar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vermesi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endParaRPr lang="tr-TR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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İnsanları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arada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tutacak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birbirlerine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zarar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vermelerini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önleyecek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egemenlik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siyasi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varlık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örgütlenmesi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 </a:t>
            </a:r>
            <a:r>
              <a:rPr lang="en-US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devlet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olmak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zorundadır</a:t>
            </a:r>
            <a:r>
              <a:rPr lang="en-US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046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9721E47-1AD2-522A-A513-ACDA811083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2473" y="923731"/>
            <a:ext cx="10049070" cy="5449077"/>
          </a:xfrm>
        </p:spPr>
        <p:txBody>
          <a:bodyPr>
            <a:normAutofit fontScale="92500" lnSpcReduction="10000"/>
          </a:bodyPr>
          <a:lstStyle/>
          <a:p>
            <a:endParaRPr lang="tr-TR" sz="40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40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KÖY-KENT KARŞILAŞTIRMASI</a:t>
            </a:r>
            <a:endParaRPr lang="tr-TR" sz="4000" b="1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40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0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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Köy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halkı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kent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halkından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daha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sağlam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mert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özgüveni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daha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fazla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özgür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köklü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az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bozulmuştur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0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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Köy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aile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yaşamı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kent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aile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yaşamından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daha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dengeli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daha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sağlam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daha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huzurludur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0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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bilinç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duyarlılık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karşılıklı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yardımlaşma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dayanışma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köy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yaşamında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daha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fazladır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0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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Ayrıca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yaşlılara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kadınlara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duyulan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saygı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değer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de 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daha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fazladır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4089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8992BD5-0F3E-7FFB-FD28-ED56085DF9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829" y="494522"/>
            <a:ext cx="9946432" cy="5553726"/>
          </a:xfrm>
        </p:spPr>
        <p:txBody>
          <a:bodyPr/>
          <a:lstStyle/>
          <a:p>
            <a:endParaRPr lang="tr-TR" sz="36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36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Temel </a:t>
            </a:r>
            <a:r>
              <a:rPr lang="en-US" sz="36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Sorular</a:t>
            </a:r>
            <a:endParaRPr lang="tr-TR" sz="36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36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0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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İslam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devletleri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kuruluyor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belli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gelişme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dönemi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yaşıyor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sonra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da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yıkılıyor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Bu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kaçınılmaz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sonun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nedeni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ne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olabilir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?</a:t>
            </a:r>
            <a:endParaRPr lang="tr-TR" sz="2400" b="1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0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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Devletlerin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önce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yavaş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yavaş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yükselip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sonra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da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gerilemesi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neden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kaynaklanıyor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1637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7F5FF78-6B43-A94B-E005-5D29A10FF7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475861"/>
            <a:ext cx="8453534" cy="5572387"/>
          </a:xfrm>
        </p:spPr>
        <p:txBody>
          <a:bodyPr/>
          <a:lstStyle/>
          <a:p>
            <a:pPr algn="l"/>
            <a:endParaRPr lang="en-US" sz="11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Başlangıçta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devleti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sırtlayan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sınıf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köylülerdir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Süreç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içinde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kent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halkı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devleti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taşıyacak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duruma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gelir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Ancak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devletin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köylülerden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kentlilerin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eline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geçişi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bireyciliğe</a:t>
            </a:r>
            <a:r>
              <a:rPr lang="tr-TR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yol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açar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0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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Bu durum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devletin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asıl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temeli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dayanışma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duygusunun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"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gevşemesine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",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zayıflamasına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neden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olur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Kent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yaşamı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bireyleri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birbiriyle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yarışmaya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mücadeleye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sürükler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Böylece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gelişim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devletin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şeklini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zorunlu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olarak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değiştirir</a:t>
            </a:r>
            <a:r>
              <a:rPr lang="tr-TR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8048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C4A2DE-F23A-CC81-DC13-8586775C01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373224"/>
            <a:ext cx="10608905" cy="5675024"/>
          </a:xfrm>
        </p:spPr>
        <p:txBody>
          <a:bodyPr/>
          <a:lstStyle/>
          <a:p>
            <a:pPr algn="l"/>
            <a:endParaRPr lang="en-US" sz="10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İbni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Haldun’a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göre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devlet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ancak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"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dört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kuşak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"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yaşayabilir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18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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Devletlerin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kurulmaları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yükselme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dönemi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yaşamaları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sonunda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çözülmeleri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"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genel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yasa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"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18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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Bu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yasa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devletin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organizma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olduğu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anlamına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gelmez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Aksine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devletlerin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gelişimi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“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psikolojik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"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temele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dayanır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97240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8509CB8-399E-F02E-5937-1428A95598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522514"/>
            <a:ext cx="10366309" cy="5525734"/>
          </a:xfrm>
        </p:spPr>
        <p:txBody>
          <a:bodyPr>
            <a:normAutofit/>
          </a:bodyPr>
          <a:lstStyle/>
          <a:p>
            <a:pPr algn="l"/>
            <a:endParaRPr lang="en-US" sz="12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Her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devletin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ortalama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olarak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120 -130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yıllık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ömrü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vardır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Her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devlet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genel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olarak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5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temel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aşamadan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geçer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endParaRPr lang="tr-TR" sz="2400" b="1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19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1.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Kuruluş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Devresi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: Her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türlü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karşı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koymanın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bastırıldığı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daha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önce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onu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elinde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tutan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hanedandan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zorla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alınması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devresidir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Ele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geçiren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grupta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canlılık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etkinlik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üst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düzeydedir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Siyasi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lider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henüz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kendisini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vatandaşlarından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ayrı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tutmaz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geleneksel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alışkanlıklarını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yitirmemiştir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19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2.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Otorite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Devresi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İktidarı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elinde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tutan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lider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kendi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grubu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üzerinde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otoritesini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kurar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mülkü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nimetleri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kendisi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için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istemeye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başlar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Grupta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rakip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olacak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ileri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gelenler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yönetimden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uzaklaştırılır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lidere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bağlı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itaatkar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kişiler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yönetime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gelir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  <a:p>
            <a:endParaRPr lang="en-US" sz="2400" b="0" i="0" u="none" strike="noStrike" baseline="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46374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3DAE98B-B390-7547-0EB5-5EF14183C8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298580"/>
            <a:ext cx="10366309" cy="5749668"/>
          </a:xfrm>
        </p:spPr>
        <p:txBody>
          <a:bodyPr/>
          <a:lstStyle/>
          <a:p>
            <a:endParaRPr lang="tr-TR" sz="2400" b="1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3.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Rahatlık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Devresi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İktidarın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meyveleri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toplanır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servet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genişletilir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şan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şöhret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plana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geçer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Siyasi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liderin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hem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kendi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grubunu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hem de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diğer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grupları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tam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egemenlik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altına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aldığı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dönemdir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Güçlü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ordu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iyi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çalışan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sivil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bürokrasi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düzenli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toplanan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vergiler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vardır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4.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Taklit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Devresi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Siyasi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iktidar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atalarının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bıraktıklarını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yeterli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görmeye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başlar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En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doğru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yolun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kendisine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miras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bırakılan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yolu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takip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etmek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olduğuna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inanır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Taklitçilik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gelenekçilik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yenileşmenin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önünü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tıkar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79238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58023E-70BE-EA76-18A0-9C8BA3F448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634482"/>
            <a:ext cx="10226350" cy="5413766"/>
          </a:xfrm>
        </p:spPr>
        <p:txBody>
          <a:bodyPr/>
          <a:lstStyle/>
          <a:p>
            <a:endParaRPr lang="tr-TR" sz="2400" b="1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5.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Savurganlık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Devresi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Siyasi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iktidar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atalarından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kalan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mirası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arzu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hevesine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göre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israf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etmeye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savurganlık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yapmaya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başlar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Devlet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yönetimine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ehliyetsiz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kişiler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geçirilir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Devletin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çözülme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yıkılma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süreci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başlar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Ordusunu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memurunu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besleyemez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giderlerini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karşılayamaz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hale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gelir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yıkılır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050406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E7DD84D-039A-575D-546C-E5A4350BCC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671804"/>
            <a:ext cx="10198358" cy="5376444"/>
          </a:xfrm>
        </p:spPr>
        <p:txBody>
          <a:bodyPr/>
          <a:lstStyle/>
          <a:p>
            <a:pPr algn="l"/>
            <a:endParaRPr lang="en-US" sz="11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tr-TR" sz="2400" b="1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İbni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Haldun,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devletin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çözülmesinde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dış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faktörlerden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ziyade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iç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etkenlerin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öncelik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taşıdığını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kabul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eder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Bununla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birlikte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devletin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tümüyle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ortadan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kalkışı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dış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saldırıyla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gerçekleşir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endParaRPr lang="tr-TR" sz="2400" b="1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0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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Devletin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yıkılışındaki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en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temel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sebepleri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; Lider, Ekonomi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Ahlak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olmak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üzere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3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temel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başlık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altında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ifade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eder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6056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F2D076F-A625-A840-3D32-64C2538498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625151"/>
            <a:ext cx="10375640" cy="5423097"/>
          </a:xfrm>
        </p:spPr>
        <p:txBody>
          <a:bodyPr>
            <a:normAutofit lnSpcReduction="10000"/>
          </a:bodyPr>
          <a:lstStyle/>
          <a:p>
            <a:endParaRPr lang="tr-TR" sz="40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4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Coğrafya</a:t>
            </a:r>
            <a:r>
              <a:rPr lang="en-US" sz="4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4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kaderdir</a:t>
            </a:r>
            <a:endParaRPr lang="tr-TR" sz="40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40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0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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İbn</a:t>
            </a:r>
            <a:r>
              <a:rPr lang="tr-TR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-İ 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Haldun,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coğrafî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şartların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yedikleri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gıdaların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insanların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karakterleri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üzerinde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etkili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olduğunu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belirtir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0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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Örneğin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dağlık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bölgelerde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yaşayanların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daha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sert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cesur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sıcak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iklimlerde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yaşayanların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ise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gevşek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oyun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eğlenceye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düşkün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olduklarını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ileri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sürer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0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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Aşırı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iklimler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toplumun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refahına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uygun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değildir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Bu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nedenle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medeniyetler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ılıman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iklimlerde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kurulmuştur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1860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B25B237-F1DE-A3CC-CACE-ABB48EB923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765110"/>
            <a:ext cx="10245011" cy="5283138"/>
          </a:xfrm>
        </p:spPr>
        <p:txBody>
          <a:bodyPr/>
          <a:lstStyle/>
          <a:p>
            <a:r>
              <a:rPr lang="tr-TR" dirty="0"/>
              <a:t>			</a:t>
            </a:r>
          </a:p>
          <a:p>
            <a:endParaRPr lang="tr-TR" dirty="0"/>
          </a:p>
          <a:p>
            <a:r>
              <a:rPr lang="tr-TR" sz="3200" dirty="0">
                <a:solidFill>
                  <a:schemeClr val="tx1"/>
                </a:solidFill>
              </a:rPr>
              <a:t>                         </a:t>
            </a:r>
            <a:r>
              <a:rPr lang="en-US" sz="3200" dirty="0">
                <a:solidFill>
                  <a:schemeClr val="tx1"/>
                </a:solidFill>
              </a:rPr>
              <a:t>Emile DURKHEI</a:t>
            </a:r>
            <a:r>
              <a:rPr lang="tr-TR" sz="3200" dirty="0">
                <a:solidFill>
                  <a:schemeClr val="tx1"/>
                </a:solidFill>
              </a:rPr>
              <a:t>M </a:t>
            </a:r>
            <a:r>
              <a:rPr lang="en-US" sz="3200" dirty="0">
                <a:solidFill>
                  <a:schemeClr val="tx1"/>
                </a:solidFill>
              </a:rPr>
              <a:t>(1858</a:t>
            </a:r>
            <a:r>
              <a:rPr lang="tr-TR" sz="3200" dirty="0">
                <a:solidFill>
                  <a:schemeClr val="tx1"/>
                </a:solidFill>
              </a:rPr>
              <a:t>-</a:t>
            </a:r>
            <a:r>
              <a:rPr lang="en-US" sz="3200" dirty="0">
                <a:solidFill>
                  <a:schemeClr val="tx1"/>
                </a:solidFill>
              </a:rPr>
              <a:t>1917)</a:t>
            </a:r>
            <a:endParaRPr lang="tr-TR" sz="3200" dirty="0">
              <a:solidFill>
                <a:schemeClr val="tx1"/>
              </a:solidFill>
            </a:endParaRPr>
          </a:p>
          <a:p>
            <a:endParaRPr lang="en-US" sz="32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DF1866-B81A-319F-3257-960574043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1038" y="2248677"/>
            <a:ext cx="3531733" cy="3461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4481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45502CF-5771-D763-8D2C-A54F06F68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886408"/>
            <a:ext cx="9582538" cy="5161840"/>
          </a:xfrm>
        </p:spPr>
        <p:txBody>
          <a:bodyPr/>
          <a:lstStyle/>
          <a:p>
            <a:endParaRPr lang="tr-TR" sz="3600" b="1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36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Emile DURKHEIM (1858-1917)</a:t>
            </a:r>
            <a:endParaRPr lang="tr-TR" sz="3600" b="1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36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Comte`un</a:t>
            </a:r>
            <a:r>
              <a:rPr lang="tr-TR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sosyolojiyi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bilimsel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temele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oturtmakta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başarılı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olamadığı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görüşünden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hareket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etmiştir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Ortak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noktaları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: “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yaşamı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da,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tıpkı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doğal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dünyayı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inceleyen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bilimlerin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taşıdığı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nesnellikle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ele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alınmalıdır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.”</a:t>
            </a:r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4311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82F1724-9C7D-B4E7-570E-F6E27FBE86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5111" y="1063691"/>
            <a:ext cx="10618236" cy="5077864"/>
          </a:xfrm>
        </p:spPr>
        <p:txBody>
          <a:bodyPr/>
          <a:lstStyle/>
          <a:p>
            <a:pPr algn="l"/>
            <a:endParaRPr lang="en-US" sz="105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olguların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incelenmesi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kolay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değildir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çünkü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doğrudan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gözlemlenemezler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Ancak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olguların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etkileri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çözümlenebilir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olgular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incelenirken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önyargılardan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ideolojik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bakış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açılarından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kaçınmak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gerekir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(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nesnellik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ilkesi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512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52A12E4-7D88-F6E5-6655-460F5A34F9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466531"/>
            <a:ext cx="9330611" cy="5581717"/>
          </a:xfrm>
        </p:spPr>
        <p:txBody>
          <a:bodyPr/>
          <a:lstStyle/>
          <a:p>
            <a:endParaRPr lang="tr-TR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Durkheim,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sosyolojinin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ayrı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akademik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disiplin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olarak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tr-TR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   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tanınmasını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sağlamıştır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Böylelikle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toplumun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konuların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kendine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has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özellikleri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ortaya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çıkarılmış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konuların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birey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seviyesine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indirilmesi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önlenmiştir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Sosyolojide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sosyal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istatistiklerin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kullanılması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bakımından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da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öncü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olmuştur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Resmi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kayıtlar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sistematik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analizlerle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sosyal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olgular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belirli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tarzda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sıralanabilmekte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böylece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bilimsel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çıkarsamalar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yapılabilmektedir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0100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50FCC6-900B-56BB-1346-870AED47C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1804" y="727788"/>
            <a:ext cx="10142375" cy="5320460"/>
          </a:xfrm>
        </p:spPr>
        <p:txBody>
          <a:bodyPr/>
          <a:lstStyle/>
          <a:p>
            <a:endParaRPr lang="tr-TR" sz="3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tr-TR" sz="36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lang="en-US" sz="36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Önemli</a:t>
            </a:r>
            <a:r>
              <a:rPr lang="en-US" sz="36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36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Eserleri</a:t>
            </a:r>
            <a:endParaRPr lang="tr-TR" sz="36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36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İş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Bölümü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Üzerine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1893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Sosyoloji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Metodunun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Kuralları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1894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İntihar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1897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Din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Hayatının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İlkel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Şekilleri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1912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0338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D0FFB0D-AB67-1D63-9099-9B9FBAC6B5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587829"/>
            <a:ext cx="9965094" cy="5460419"/>
          </a:xfrm>
        </p:spPr>
        <p:txBody>
          <a:bodyPr/>
          <a:lstStyle/>
          <a:p>
            <a:endParaRPr lang="tr-TR" sz="2400" b="1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tr-TR" b="1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Toplumsal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olguları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ŞEYLER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olarak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incele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!</a:t>
            </a:r>
            <a:endParaRPr lang="tr-TR" sz="2400" b="1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olgular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gerçektir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nesneler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gibi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ele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alınmalıdır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yaşamı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da,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tıpkı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doğal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olay-olgular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gibi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çözümlenebilir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Her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olgunun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nedeni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yine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başka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olgudur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olgular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normlar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gereksinimler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temelinde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evrim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geçirmişlerdir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0777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DE11BDF-5EF2-27E7-70E5-0CC140080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578498"/>
            <a:ext cx="10338317" cy="5469750"/>
          </a:xfrm>
        </p:spPr>
        <p:txBody>
          <a:bodyPr/>
          <a:lstStyle/>
          <a:p>
            <a:pPr algn="l"/>
            <a:endParaRPr lang="en-US" sz="105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insana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ilişkin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her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kurumun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temelidir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Kurumlar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örneğin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din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Tanrı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anlayışı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da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bağlıdır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onunla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birlikte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gelişip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evrimleşir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Din,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dayanışma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üreten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önemli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olgulardan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birisidir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7536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FBADA8F-415B-893F-EF2F-CEBD90A055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802433"/>
            <a:ext cx="9918440" cy="5245815"/>
          </a:xfrm>
        </p:spPr>
        <p:txBody>
          <a:bodyPr/>
          <a:lstStyle/>
          <a:p>
            <a:pPr algn="l"/>
            <a:endParaRPr lang="en-US" sz="105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Her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birey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için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olaya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katılmak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kaçınılmaz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zorunluktur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•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Çünkü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olaylar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;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genel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zorunlu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bireyi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bireyler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arası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ilişkileri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belirleyen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din,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ekonomi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hukuk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ahlâk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siyaset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bilim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sanat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türünden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olaylardır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•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İnsan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genel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doğruları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hazır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biçimde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toplumdan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alır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Bu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doğrular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bireyin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(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kendisi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başkaları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insanlar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arası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ilişkiler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doğa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evren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üzerine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)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yargılarına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temel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dayanak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olur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9874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843779B-02BF-3378-295C-B5DFC84B28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289249"/>
            <a:ext cx="10422293" cy="5758999"/>
          </a:xfrm>
        </p:spPr>
        <p:txBody>
          <a:bodyPr/>
          <a:lstStyle/>
          <a:p>
            <a:endParaRPr lang="tr-TR" sz="2400" b="1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tek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tek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üyelerin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eylemlerinden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daha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fazla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şeydir</a:t>
            </a:r>
            <a:r>
              <a:rPr lang="en-US" sz="32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tr-TR" sz="32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32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•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organik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kollektif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bütündür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•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bireylerin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toplamından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daha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fazla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şeydir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bireylerden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bağımsız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kollektif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bilinç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olarak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ele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alınmalıdır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•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Kollektif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Bilinç: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İnsanda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bireysel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hayata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ait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olayları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aşan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ortak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düşünce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istek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heyecanları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temsil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eden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ortak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bilinç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7576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958AF0A-4B4A-3F73-2FF4-5B9DF8B0E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709127"/>
            <a:ext cx="10021077" cy="5339121"/>
          </a:xfrm>
        </p:spPr>
        <p:txBody>
          <a:bodyPr/>
          <a:lstStyle/>
          <a:p>
            <a:endParaRPr lang="tr-TR" sz="2400" b="1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Toplumu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arada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tutan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kaosu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engelleyen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şey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nedir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?</a:t>
            </a:r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tr-TR" sz="2400" b="1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DAYANIŞMA</a:t>
            </a:r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•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Bireylerin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başarılı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şekilde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toplumsallaşmalarına</a:t>
            </a:r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tr-TR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                                           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•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Grup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içinde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paylaşılan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değerler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gelenekler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tarafından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yönlendirilmelerine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bağlıdır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5327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A6F7645-F0D7-248E-E763-38FEA36247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802433"/>
            <a:ext cx="10515599" cy="5245815"/>
          </a:xfrm>
        </p:spPr>
        <p:txBody>
          <a:bodyPr/>
          <a:lstStyle/>
          <a:p>
            <a:endParaRPr lang="tr-TR" sz="2400" b="1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Mekanik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dayanışma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;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düşük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işbölümü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düzeyine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sahip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geleneksel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kültürlerde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görülür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Bu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tür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toplumlarda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üyelerin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çoğu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benzer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mesleklerde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alır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Birbirlerine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ortak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yaşantı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paylaşılan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inançlar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ile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bağlıdırlar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Paylaşılan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değerlerin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gücü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baskıcıdır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(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Kollektif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bilinç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yüksektir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Organik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dayanışma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;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ekonomik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bakımdan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birbirine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bağımlı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üyelerinin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katkılarıyla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arada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durabilen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toplumlarda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görülür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Gelişmiş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toplumlardaki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mesleki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uzmanlaşmayla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ortaya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çıkar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Ekonomik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bağımlılık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ortak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inanç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değerlerin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yerini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alır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59927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C98DC33-10C1-2981-BF19-6A906618E8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531845"/>
            <a:ext cx="10394301" cy="5516403"/>
          </a:xfrm>
        </p:spPr>
        <p:txBody>
          <a:bodyPr/>
          <a:lstStyle/>
          <a:p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*** Bu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iki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ayrı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dayanışma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tipinden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kaynaklanan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farklı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sosyal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gereksinimler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normlar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üzerinde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şekillenen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toplumsallaşmatipleri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vardır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***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yaşamını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ayakta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tutan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değerler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normlar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da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işbölümünün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ortaya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çıkardığı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toplumsallaşma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biçimlerine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göre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farklılık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göstermektedir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73197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DA2E982-20F3-4B84-64D0-6A4321DE95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3920" y="552246"/>
            <a:ext cx="8953499" cy="4301694"/>
          </a:xfrm>
        </p:spPr>
        <p:txBody>
          <a:bodyPr/>
          <a:lstStyle/>
          <a:p>
            <a:pPr algn="l"/>
            <a:endParaRPr lang="en-US" sz="11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8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Modern </a:t>
            </a:r>
            <a:r>
              <a:rPr lang="en-US" sz="28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hayatın</a:t>
            </a:r>
            <a:r>
              <a:rPr lang="en-US" sz="28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8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başlıca</a:t>
            </a:r>
            <a:r>
              <a:rPr lang="en-US" sz="28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8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problemleri</a:t>
            </a:r>
            <a:r>
              <a:rPr lang="en-US" sz="28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–yeni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dayanışma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formlarının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bulunamaması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–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yalıtılmış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olma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hissi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memnuniyetsizlik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</a:t>
            </a: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–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anomi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–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intihar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–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bireyselleşme</a:t>
            </a:r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9481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455AA8B-A56E-FC8D-1553-662A94989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160020"/>
            <a:ext cx="7612379" cy="5888228"/>
          </a:xfrm>
        </p:spPr>
        <p:txBody>
          <a:bodyPr/>
          <a:lstStyle/>
          <a:p>
            <a:r>
              <a:rPr lang="en-US" sz="4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Anomi</a:t>
            </a:r>
            <a:r>
              <a:rPr lang="en-US" sz="4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(</a:t>
            </a:r>
            <a:r>
              <a:rPr lang="en-US" sz="4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normsuzluk</a:t>
            </a:r>
            <a:r>
              <a:rPr lang="en-US" sz="4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/</a:t>
            </a:r>
            <a:r>
              <a:rPr lang="en-US" sz="4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kuralsızlık</a:t>
            </a:r>
            <a:r>
              <a:rPr lang="en-US" sz="4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  <a:endParaRPr lang="tr-TR" sz="40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40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Hızlı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dönüşümlerin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yaşandığı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modern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toplumlarda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yaşamının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yol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açtığı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amaçsızlık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umutsuzluk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duygusu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sebebiyle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“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anomi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”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ortaya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çıkabilir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Eskiden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dinin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sağladığı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geleneksel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ahlaki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denetleme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ölçüler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gelişme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tarafından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büyük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ölçüde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parçalanmıştır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Bu da modern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toplumlarda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yaşayan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çok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bireyi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kendi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gündelik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yaşamlarının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anlamdan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yoksun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olduğu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duygusuna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itmeye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başlamıştır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6223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52D641-03DA-F501-1270-C5C44E719C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419100"/>
            <a:ext cx="8945879" cy="5629148"/>
          </a:xfrm>
        </p:spPr>
        <p:txBody>
          <a:bodyPr/>
          <a:lstStyle/>
          <a:p>
            <a:endParaRPr lang="tr-TR" sz="32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nn-NO" sz="32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Bir toplumsal olgu olarak“İntihar”</a:t>
            </a:r>
            <a:endParaRPr lang="tr-TR" sz="32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nn-NO" sz="32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•“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İntihar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insanın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doğuracağı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sonucu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bilerek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olumlu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da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olumsuz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hareketi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ile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dolaylı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veya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dolaysız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olarak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kendi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kendini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ölüme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sürüklemesidir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İntihar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ferdin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dine,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aileye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devlete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olan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bağlılığı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ile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ters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orantılıdır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.” (Le Suicide, 1897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1526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B2F890D-B25E-57A7-E0B1-660AAFDA57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313267"/>
            <a:ext cx="9601199" cy="5734981"/>
          </a:xfrm>
        </p:spPr>
        <p:txBody>
          <a:bodyPr/>
          <a:lstStyle/>
          <a:p>
            <a:endParaRPr lang="tr-TR" sz="36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nn-NO" sz="36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Bir toplumsal olgu olarak “İntihar”</a:t>
            </a:r>
          </a:p>
          <a:p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Durkheim’agöre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;</a:t>
            </a: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-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Görünürde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tümüyle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kişisel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edim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intihar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olgusunun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sosyolojik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boyutu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vardır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-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İntihar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oranları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yıldan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yıla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düzenli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kalıplar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gösterdiği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için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kalıplar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sosyolojik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açıdan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açıklanmalıdır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-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İntihar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davranışı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üzerindeki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etkiler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(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örn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anomi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)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çözümlenebilir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82814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3C0B68-7401-13A8-5658-4CFCB1CD52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406400"/>
            <a:ext cx="9143999" cy="5641848"/>
          </a:xfrm>
        </p:spPr>
        <p:txBody>
          <a:bodyPr/>
          <a:lstStyle/>
          <a:p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***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Farklı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türden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dayanışma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biçimlerinin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bulunduğu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toplumlarda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farklı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türden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intihar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eğilimleri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ortaya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çıkmaktadır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•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İntihar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nedenlerini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incelerken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bireyin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kişiliğini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şekillendiren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etkenleri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( din,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aile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çevre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savaş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/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barış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ekonomik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durum vb.)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göz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önünde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bulundurmuştur.Bu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sonuçları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iki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başlık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altında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toplamıştır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Bütünleşme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Bireyin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herhangi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sosyal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gruba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dahil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olması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tr-TR" dirty="0">
                <a:solidFill>
                  <a:schemeClr val="tx1"/>
                </a:solidFill>
                <a:latin typeface="Arial" panose="020B0604020202020204" pitchFamily="34" charset="0"/>
              </a:rPr>
              <a:t>2. 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Düzenleme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Bireyin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isteklerinin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hayattaki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amacının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sosyal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kurallarca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çerçevelenmesi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4493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3198D66-A7F7-8E82-314F-60A2CCC782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381000"/>
            <a:ext cx="10591799" cy="5667248"/>
          </a:xfrm>
        </p:spPr>
        <p:txBody>
          <a:bodyPr/>
          <a:lstStyle/>
          <a:p>
            <a:r>
              <a:rPr lang="en-US" sz="2400" b="1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İntihar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Çeşitleri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</a:rPr>
              <a:t>:</a:t>
            </a:r>
            <a:endParaRPr lang="tr-TR" sz="2400" b="1" i="0" u="none" strike="noStrike" baseline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sz="24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Egoist (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bencil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)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İntihar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Düşük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bütünleşme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sebepli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yaşanan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intihardır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Durkheim’ın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araştırmalarına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göre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;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protestanlardan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daha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fazla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ayinde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araya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gelen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katoliklerde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daha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seyrek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egoist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intihar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gözlenmiştir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2.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Anomik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intihar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: Bir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düzenlemenin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olmaması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dolayısıyla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gerçekleşen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intiharlardır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Ekonomik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krizler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hızlı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değişmeler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vb.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743471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2B518DF-6B87-E805-D7A8-72250536BE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321733"/>
            <a:ext cx="10413999" cy="5726515"/>
          </a:xfrm>
        </p:spPr>
        <p:txBody>
          <a:bodyPr/>
          <a:lstStyle/>
          <a:p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3.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Altruistik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(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özgecil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)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intihar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Bireyin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aşırı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bütünleşmesi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durumunda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kendinden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daha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değerli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görmesiyle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ilgilidir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Mekanik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dayanışmanın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olduğu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toplumlarda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görülür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Bir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sosyal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gruba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da dine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aşırı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bağlılık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gösteren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kimselerde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görülür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(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örn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canlı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bomba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). </a:t>
            </a:r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4.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Fatalistik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(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kaderci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)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intihar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Çok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katı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kurallar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dolayısıyla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bireyin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kendi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hayatını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istediği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gibi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yaşayamaması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sonucu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gerçekleşen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intiharlardır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Aşırı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muhafazakar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bölgelerdeki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kadın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intiharları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örnek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gösterilebilir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59443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D4DC96F-7ED2-F608-758E-58EC535CAF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491067"/>
            <a:ext cx="10515599" cy="5557181"/>
          </a:xfrm>
        </p:spPr>
        <p:txBody>
          <a:bodyPr/>
          <a:lstStyle/>
          <a:p>
            <a:r>
              <a:rPr lang="tr-TR" dirty="0"/>
              <a:t>                                       </a:t>
            </a:r>
            <a:endParaRPr lang="tr-TR" dirty="0">
              <a:solidFill>
                <a:schemeClr val="tx1"/>
              </a:solidFill>
            </a:endParaRPr>
          </a:p>
          <a:p>
            <a:r>
              <a:rPr lang="tr-TR" dirty="0">
                <a:solidFill>
                  <a:schemeClr val="tx1"/>
                </a:solidFill>
              </a:rPr>
              <a:t>		      </a:t>
            </a:r>
            <a:r>
              <a:rPr lang="en-US" sz="3600" dirty="0">
                <a:solidFill>
                  <a:schemeClr val="tx1"/>
                </a:solidFill>
              </a:rPr>
              <a:t>ZİYA GÖKALP</a:t>
            </a:r>
          </a:p>
          <a:p>
            <a:r>
              <a:rPr lang="tr-TR" sz="3600" dirty="0">
                <a:solidFill>
                  <a:schemeClr val="tx1"/>
                </a:solidFill>
              </a:rPr>
              <a:t>		      </a:t>
            </a:r>
            <a:r>
              <a:rPr lang="en-US" sz="3600" dirty="0">
                <a:solidFill>
                  <a:schemeClr val="tx1"/>
                </a:solidFill>
              </a:rPr>
              <a:t>(1876 1924)</a:t>
            </a:r>
            <a:endParaRPr lang="tr-TR" sz="3600" dirty="0">
              <a:solidFill>
                <a:schemeClr val="tx1"/>
              </a:solidFill>
            </a:endParaRPr>
          </a:p>
          <a:p>
            <a:endParaRPr lang="tr-TR" sz="3600" dirty="0">
              <a:solidFill>
                <a:schemeClr val="tx1"/>
              </a:solidFill>
            </a:endParaRPr>
          </a:p>
          <a:p>
            <a:endParaRPr lang="tr-TR" sz="3600" dirty="0">
              <a:solidFill>
                <a:schemeClr val="tx1"/>
              </a:solidFill>
            </a:endParaRPr>
          </a:p>
          <a:p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C09A91-5269-DE69-C355-70377ED94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024" y="2254799"/>
            <a:ext cx="5439747" cy="449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35830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73B1982-42D2-793F-7B36-9B5C58A8C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753533"/>
            <a:ext cx="8390466" cy="5294715"/>
          </a:xfrm>
        </p:spPr>
        <p:txBody>
          <a:bodyPr/>
          <a:lstStyle/>
          <a:p>
            <a:endParaRPr lang="tr-TR" sz="1800" b="0" i="0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endParaRPr lang="tr-TR" sz="180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endParaRPr lang="tr-TR" sz="1800" b="0" i="0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endParaRPr lang="tr-TR" sz="180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r>
              <a:rPr lang="en-US" sz="18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«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Bedenimin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babası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Ali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Rıza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Efendi,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hislerimin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Namık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Kemal,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fikirlerimin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Ziya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Gökalp’tir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.» 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M.K. Atatürk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374192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22E5993-3E1B-C81D-6EC1-398CC9485C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550333"/>
            <a:ext cx="8525932" cy="5497915"/>
          </a:xfrm>
        </p:spPr>
        <p:txBody>
          <a:bodyPr/>
          <a:lstStyle/>
          <a:p>
            <a:endParaRPr lang="tr-TR" sz="2400" b="0" i="0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r>
              <a:rPr lang="en-US" sz="240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“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Ziya Gökalp, 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sosyoloji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ilminin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kurucusu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olan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”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Durkheim”dan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sonra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en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büyük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sosyologdur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Yani 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bu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ilmin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istiklâline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en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çok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çalışanlardan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biridir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  <a:endParaRPr lang="tr-TR" sz="2400" i="1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endParaRPr lang="tr-TR" sz="2400" i="1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Gökalp’in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milletlerarası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bir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şöhreti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olmamasının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sebebi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eserlerinin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Türkçe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olmasıdır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Gökalp 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Türkçülük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ve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devletçiliğin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de 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kurucularındandır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  <a:endParaRPr lang="tr-TR" sz="2400" i="1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endParaRPr lang="tr-TR" sz="2400" i="1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Gökalp 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Tanzimat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hareketinden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beri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son 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en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büyük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şuur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hamlemizdir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Yazık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ki 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onu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iyice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tanımıyoruz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Birçok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değerlerimizi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tanımadığımız</a:t>
            </a:r>
            <a:r>
              <a:rPr lang="en-US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gibi</a:t>
            </a:r>
            <a:r>
              <a:rPr lang="tr-TR" sz="240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” 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İsmail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Hakkı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Baltacıoğlu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69804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D06C22F-42A6-C918-DE07-F7961B1124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287867"/>
            <a:ext cx="8788399" cy="6196909"/>
          </a:xfrm>
        </p:spPr>
        <p:txBody>
          <a:bodyPr>
            <a:normAutofit lnSpcReduction="10000"/>
          </a:bodyPr>
          <a:lstStyle/>
          <a:p>
            <a:r>
              <a:rPr lang="en-US" sz="4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Cumhuriyete</a:t>
            </a:r>
            <a:r>
              <a:rPr lang="en-US" sz="4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4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Katkı</a:t>
            </a:r>
            <a:endParaRPr lang="en-US" sz="4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14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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Kurtuluş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savaşını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veren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kadronun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yanında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alır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yazılar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yazar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kitaplar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basar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İttihat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Terakki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Cemiyetinin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ideoloğu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olarak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görülür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  <a:endParaRPr lang="tr-TR" sz="2400" b="0" i="0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r>
              <a:rPr lang="en-US" sz="14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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1923’te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milletvekili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seçilerek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Diyarbakır’dan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Parlamentoya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girer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  <a:endParaRPr lang="tr-TR" sz="2400" b="0" i="0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r>
              <a:rPr lang="en-US" sz="14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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Gökalp,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düşünce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özgürlüğüne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dönük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çalışmalarıyla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özellikle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de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laikliğe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giden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yolda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yapılması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gerekenlerle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ilgili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olarak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önemli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kararlar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alınmasını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sağlar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  <a:endParaRPr lang="tr-TR" sz="2400" b="0" i="0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r>
              <a:rPr lang="en-US" sz="14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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Anayasa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Encümeninde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çalıştığı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yıllarda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halkçılık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milliyetçilik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lâiklik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ilkelerini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devlet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siyasetine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kanunlarına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sosyal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hayata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uyarlar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07339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4DAC0C5-D55F-DE3D-1936-84BC1A6F0E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287867"/>
            <a:ext cx="9660466" cy="6096000"/>
          </a:xfrm>
        </p:spPr>
        <p:txBody>
          <a:bodyPr/>
          <a:lstStyle/>
          <a:p>
            <a:endParaRPr lang="tr-TR" sz="36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36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Anadolu </a:t>
            </a:r>
            <a:r>
              <a:rPr lang="en-US" sz="36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Türklüğü</a:t>
            </a:r>
            <a:endParaRPr lang="tr-TR" sz="36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36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16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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Bir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imparatorluk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yıkılmış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aynı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koşullar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içinde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yeni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devlet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kurulmuştur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</a:p>
          <a:p>
            <a:r>
              <a:rPr lang="en-US" sz="16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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Gökalp,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Osmanlı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-Türk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ayrımını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gündeme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getirerek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Türkler’inOsmanlı’dan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ayrı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farklı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unsur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olduğunu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öne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sürecektir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</a:p>
          <a:p>
            <a:r>
              <a:rPr lang="en-US" sz="16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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Böylece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yeni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kimlik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Anadolu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Türklüğü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üzerine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temellenecektir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2452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0FBBBCE-6DF2-20D4-C46C-482BC9EFA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728133"/>
            <a:ext cx="9711266" cy="5320115"/>
          </a:xfrm>
        </p:spPr>
        <p:txBody>
          <a:bodyPr/>
          <a:lstStyle/>
          <a:p>
            <a:pPr algn="l"/>
            <a:endParaRPr lang="en-US" sz="1050" b="0" i="0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Çağdaşlaşmanın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nasıl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olması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gerektiği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yolunda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ortaya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koyduğu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formül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getirdiği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öneriler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Türk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devriminin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ideolojisiyle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örtüşür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</a:t>
            </a:r>
          </a:p>
          <a:p>
            <a:r>
              <a:rPr lang="en-US" sz="16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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Gökalp’in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düşünceleriyle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Atatürk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ilkeleri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arasındaki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tutarlılık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Gökalp’in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“Türk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devriminin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ideoloğu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”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olarak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görülmesine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yol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açmıştır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07148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829AD2-9727-5510-0133-98730A2F61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558800"/>
            <a:ext cx="10007599" cy="5489448"/>
          </a:xfrm>
        </p:spPr>
        <p:txBody>
          <a:bodyPr/>
          <a:lstStyle/>
          <a:p>
            <a:pPr algn="l"/>
            <a:endParaRPr lang="en-US" sz="1050" b="0" i="0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endParaRPr lang="tr-TR" sz="2400" b="0" i="0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endParaRPr lang="tr-TR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Ancak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Gökalp’in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Turancılık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ile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ilgili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görüşleri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Atatürk’ün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ideolojisine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devrimin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niteliğine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ters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düşmektedir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  <a:endParaRPr lang="tr-TR" sz="2400" b="0" i="0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Turan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: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Türklerin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Orta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Asya’daki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eski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yurtları</a:t>
            </a:r>
            <a:endParaRPr lang="en-US" sz="2400" b="0" i="0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Turancılık: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Dünyadaki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bütün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Türkleri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tek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bayrak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tek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dil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tek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din (İslam)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altında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birleştirme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ideali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87609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8B0DE29-2B03-F5CE-E34C-D0DEBF70B9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508000"/>
            <a:ext cx="10405532" cy="5540248"/>
          </a:xfrm>
        </p:spPr>
        <p:txBody>
          <a:bodyPr/>
          <a:lstStyle/>
          <a:p>
            <a:r>
              <a:rPr lang="en-US" sz="36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Sosyolojik</a:t>
            </a:r>
            <a:r>
              <a:rPr lang="en-US" sz="36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36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Yaklaşımı</a:t>
            </a:r>
            <a:endParaRPr lang="en-US" sz="36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14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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Gökalp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Türkiye’de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toplumbilime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akademik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çatı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altında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meşruiyet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kurumsallık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kazandırmıştır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</a:t>
            </a:r>
          </a:p>
          <a:p>
            <a:r>
              <a:rPr lang="en-US" sz="14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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Gökalp’in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sosyolojik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düşüncesi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pozitivist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sosyolog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olan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Durkheim’ın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(1858-1917)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etkisi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altında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gelişmiştir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</a:p>
          <a:p>
            <a:r>
              <a:rPr lang="en-US" sz="14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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Toplumun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ihtiyaçlarını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inceleyen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değişen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şartlarda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yeni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çareler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arayan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sosyologdur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04237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23CB148-775C-AFE7-0BA1-CBAB74C566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626533"/>
            <a:ext cx="9635066" cy="5421715"/>
          </a:xfrm>
        </p:spPr>
        <p:txBody>
          <a:bodyPr/>
          <a:lstStyle/>
          <a:p>
            <a:pPr algn="l"/>
            <a:endParaRPr lang="en-US" sz="1100" b="0" i="0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Gökalp’in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sosyolojik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yöntemi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sosyal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bilimlerin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araştırma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tekniklerini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kullanan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evrimci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zihniyetle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kendi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toplumunun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gelişimini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incelemeye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yönelik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yöntemdir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</a:p>
          <a:p>
            <a:r>
              <a:rPr lang="en-US" sz="14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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Sosyolojinin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konusunu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belirlerken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öncelikle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olayları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üçe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ayırır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:</a:t>
            </a:r>
          </a:p>
          <a:p>
            <a:r>
              <a:rPr lang="en-US" sz="1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a)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uzvi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(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organik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)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hayati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olaylar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</a:p>
          <a:p>
            <a:r>
              <a:rPr lang="en-US" sz="1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b)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ruhi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hayati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olaylar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</a:p>
          <a:p>
            <a:r>
              <a:rPr lang="nn-NO" sz="1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c)</a:t>
            </a:r>
            <a:r>
              <a:rPr lang="nn-NO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içtimai</a:t>
            </a:r>
            <a:r>
              <a:rPr lang="nn-NO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(toplumsal) hayati olaylar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56436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343F1DA-41F1-1C25-C534-8C47E76089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567267"/>
            <a:ext cx="10126132" cy="5480981"/>
          </a:xfrm>
        </p:spPr>
        <p:txBody>
          <a:bodyPr/>
          <a:lstStyle/>
          <a:p>
            <a:pPr algn="l"/>
            <a:endParaRPr lang="en-US" sz="1050" b="0" i="0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Gökalp’in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amacı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İmparatorluğu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içine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düştüğü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sosyal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siyasal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bunalımdan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kurtarmaktı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</a:p>
          <a:p>
            <a:r>
              <a:rPr lang="en-US" sz="16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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Bunun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yolu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yeni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bir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ülkü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(ideal)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milliyetçilik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bilincinin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uyandırılmasıydı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</a:p>
          <a:p>
            <a:r>
              <a:rPr lang="en-US" sz="16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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Ülkü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milliyetçiliğin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kurtuluş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yolu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olabilmesi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için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bilimsel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temellere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dayanması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gerekirdi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İşte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bilimsel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dayanak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sosyoloji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olmalıydı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70851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C91749A-0C78-0A50-3FBA-28349BEB85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601133"/>
            <a:ext cx="9846732" cy="5447115"/>
          </a:xfrm>
        </p:spPr>
        <p:txBody>
          <a:bodyPr/>
          <a:lstStyle/>
          <a:p>
            <a:pPr algn="l"/>
            <a:endParaRPr lang="en-US" sz="1100" b="0" i="0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Gökalp’e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göre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bir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toplumun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yönünü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etkileyen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şey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o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toplumun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değerleri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ve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ülküleridir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Ülküler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toplumun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özlemlerinin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görüntüsüdür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  <a:endParaRPr lang="tr-TR" sz="2400" b="0" i="0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r>
              <a:rPr lang="en-US" sz="14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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Sorunların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çözülebilmesi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için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toplumun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içindeki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özlemlerin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neler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olduğunu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bulmak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gerekmektedir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</a:p>
          <a:p>
            <a:r>
              <a:rPr lang="en-US" sz="14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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Toplumdaki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aydınlara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düşen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görev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doğuş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halindeki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ulus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toplumunda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bilinçli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olmayan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özlemleri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bilinçli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tutarlı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bütünlüklü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ülküler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haline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getirmektir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02756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0F32724-098B-7A8A-F6DA-AB6D1726D1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635000"/>
            <a:ext cx="10075332" cy="5413248"/>
          </a:xfrm>
        </p:spPr>
        <p:txBody>
          <a:bodyPr/>
          <a:lstStyle/>
          <a:p>
            <a:r>
              <a:rPr lang="en-US" sz="36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İlgilendiği</a:t>
            </a:r>
            <a:r>
              <a:rPr lang="en-US" sz="36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36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sosyolojik</a:t>
            </a:r>
            <a:r>
              <a:rPr lang="en-US" sz="36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36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problemler</a:t>
            </a:r>
            <a:endParaRPr lang="en-US" sz="36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16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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Sosyal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eylem</a:t>
            </a:r>
            <a:endParaRPr lang="en-US" sz="2400" b="0" i="0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r>
              <a:rPr lang="en-US" sz="16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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Sosyal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kurumlar</a:t>
            </a:r>
            <a:endParaRPr lang="en-US" sz="2400" b="0" i="0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r>
              <a:rPr lang="en-US" sz="16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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Sosyal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değişme</a:t>
            </a:r>
            <a:endParaRPr lang="en-US" sz="2400" b="0" i="0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r>
              <a:rPr lang="en-US" sz="16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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Yabancılaşma</a:t>
            </a:r>
            <a:endParaRPr lang="en-US" sz="2400" b="0" i="0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r>
              <a:rPr lang="en-US" sz="16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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Sosyal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sapma</a:t>
            </a:r>
            <a:endParaRPr lang="en-US" sz="2400" b="0" i="0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r>
              <a:rPr lang="en-US" sz="16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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Kültürel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gelişme</a:t>
            </a:r>
            <a:endParaRPr lang="en-US" sz="2400" b="0" i="0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r>
              <a:rPr lang="en-US" sz="16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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Kültürel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asimilasyon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vb</a:t>
            </a:r>
            <a:endParaRPr lang="en-US" sz="2400" b="0" i="0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31828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8D704BF-CC28-A8CF-EDBB-982C0511B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567267"/>
            <a:ext cx="9355666" cy="5480981"/>
          </a:xfrm>
        </p:spPr>
        <p:txBody>
          <a:bodyPr/>
          <a:lstStyle/>
          <a:p>
            <a:r>
              <a:rPr lang="en-US" sz="4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Milliyetçilik</a:t>
            </a:r>
            <a:endParaRPr lang="en-US" sz="4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14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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Gökalp’in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üzerinde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çok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durduğu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mesele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milliyetçiliktir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Ona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göre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bütün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toplumlar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üç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devreden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geçer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: </a:t>
            </a:r>
            <a:endParaRPr lang="tr-TR" sz="2400" b="0" i="0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r>
              <a:rPr lang="en-US" sz="1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1.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Kavim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devresi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: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Toplumsal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bütünlük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dil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ve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ırk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birliği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ile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sağlanır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Ayrıca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toplumda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ortak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adetler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kurumlar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vardır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Bu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ortak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noktalar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kavmin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diğerlerinden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farkını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belirler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  <a:endParaRPr lang="tr-TR" sz="2400" b="0" i="0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r>
              <a:rPr lang="en-US" sz="1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2.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Ümmet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devresi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: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Toplumsal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yapıya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evrensel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dinler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egemen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olur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dinlerin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etkileri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altına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giren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kavimler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kendilerine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özgü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nitelikleri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kaybederler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56256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D28FD98-F716-6AC9-39B5-939989220D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448733"/>
            <a:ext cx="9406466" cy="5599515"/>
          </a:xfrm>
        </p:spPr>
        <p:txBody>
          <a:bodyPr/>
          <a:lstStyle/>
          <a:p>
            <a:endParaRPr lang="tr-TR" sz="2000" b="0" i="0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endParaRPr lang="tr-TR" sz="200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r>
              <a:rPr lang="en-US" sz="20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3. 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Millet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devresi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: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Toplumlar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kişiliklerine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yeniden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kavuşurlar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Bu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kişiliğin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oluşabilmesi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için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de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toplumun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kendi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bünyesindeki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değerlerin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yüksek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uygarlık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düzeyinde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yeniden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örgütlenmesi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gerekmektedir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Kültür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medeniyet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fikirlerinin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uyanması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şarttır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057289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DFFDB9C-54E3-E680-57FD-21C9A2BC85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762000"/>
            <a:ext cx="10109199" cy="5232399"/>
          </a:xfrm>
        </p:spPr>
        <p:txBody>
          <a:bodyPr/>
          <a:lstStyle/>
          <a:p>
            <a:pPr algn="l"/>
            <a:endParaRPr lang="en-US" sz="1100" b="0" i="0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Bu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aşamalara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göre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yaptığı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tarihsel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incelemelerinde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Gökalp Türk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toplumunu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1)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İslam'dan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önce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Türkler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(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kavim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devri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) 2)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Osmanlı’da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Türkler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(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ümmet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devri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) 3) Modern Türkiye (millet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devri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)</a:t>
            </a:r>
          </a:p>
          <a:p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şeklinde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ayırır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</a:p>
          <a:p>
            <a:r>
              <a:rPr lang="en-US" sz="14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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Gökalp’e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göre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Türkler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henüz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ikinci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aşamadaydı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onun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çalışmalarının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amacı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Osmanlı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Ümmetini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Türk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Milletine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dönüştürmekti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58560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7117598-FCCB-5C72-2172-D3CC24470A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677333"/>
            <a:ext cx="9135532" cy="5370915"/>
          </a:xfrm>
        </p:spPr>
        <p:txBody>
          <a:bodyPr/>
          <a:lstStyle/>
          <a:p>
            <a:pPr algn="l"/>
            <a:endParaRPr lang="en-US" sz="1100" b="0" i="0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Durkheim’ın«kollektifbilinç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»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fikrinden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yola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çıkarak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ulusal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bilinç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kavramını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geliştirmiştir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</a:p>
          <a:p>
            <a:r>
              <a:rPr lang="en-US" sz="14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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Buna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göre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toplumun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ulus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olmasının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birinci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koşulu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ulusal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bilincin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gelişmesidir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</a:p>
          <a:p>
            <a:r>
              <a:rPr lang="en-US" sz="14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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Ulusal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bilincin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yaratılmasının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yolu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o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sırada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mevcut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olan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fikir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akımlarının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uyuşturulmasıdır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(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Türkleşmek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İslamlaşmak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Muasırlaşmak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1918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29485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82E82A-CE74-BA84-C843-103A2C55BA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381000"/>
            <a:ext cx="9931399" cy="5667248"/>
          </a:xfrm>
        </p:spPr>
        <p:txBody>
          <a:bodyPr/>
          <a:lstStyle/>
          <a:p>
            <a:pPr algn="l"/>
            <a:endParaRPr lang="en-US" sz="1050" b="0" i="0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r>
              <a:rPr lang="en-US" sz="2400" b="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« O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halde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her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birinin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nüfuz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dairelerini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tayin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ederek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bu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üç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gayenin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üçünü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de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kabul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etmeliyiz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Daha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doğrusu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bunları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bir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ihtiyacın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üç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muhtelif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noktadan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görülmüş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safhaları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olduğunu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anlayarak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muasır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bir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İslam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Türklüğü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ibda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etmeliyiz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» </a:t>
            </a:r>
            <a:r>
              <a:rPr lang="en-US" sz="20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(</a:t>
            </a:r>
            <a:r>
              <a:rPr lang="en-US" sz="2000" b="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Türkleşmek</a:t>
            </a:r>
            <a:r>
              <a:rPr lang="en-US" sz="2000" b="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  <a:r>
              <a:rPr lang="en-US" sz="2000" b="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İslamlaşmak</a:t>
            </a:r>
            <a:r>
              <a:rPr lang="en-US" sz="2000" b="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  <a:r>
              <a:rPr lang="en-US" sz="2000" b="0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Muasırlaşmak</a:t>
            </a:r>
            <a:r>
              <a:rPr lang="en-US" sz="2000" b="0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1918</a:t>
            </a:r>
            <a:r>
              <a:rPr lang="en-US" sz="20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51637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E8C0270-3E0A-DE50-18D7-AC9A25E55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626533"/>
            <a:ext cx="9592732" cy="5421715"/>
          </a:xfrm>
        </p:spPr>
        <p:txBody>
          <a:bodyPr/>
          <a:lstStyle/>
          <a:p>
            <a:pPr algn="l"/>
            <a:endParaRPr lang="en-US" sz="1050" b="0" i="0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Ulus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olmanın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ikinci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yolu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Türk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ulusal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kültürünü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(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hars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)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geliştirmektir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</a:p>
          <a:p>
            <a:r>
              <a:rPr lang="en-US" sz="16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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Bunun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için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Türk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dili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Türk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estetiği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Türk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ahlakı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Türk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hukuku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gibi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konularda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incelemeler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yapmıştır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6306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5F816FC-63FD-10B0-A7D1-D466867776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389467"/>
            <a:ext cx="10337799" cy="5658781"/>
          </a:xfrm>
        </p:spPr>
        <p:txBody>
          <a:bodyPr/>
          <a:lstStyle/>
          <a:p>
            <a:r>
              <a:rPr lang="en-US" sz="4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Hars </a:t>
            </a:r>
            <a:r>
              <a:rPr lang="en-US" sz="4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4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4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Medeniyet</a:t>
            </a:r>
            <a:endParaRPr lang="en-US" sz="40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14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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Türk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sosyolojisine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büyük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katkılarından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“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hars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ve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medeniyet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”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da “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kültür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uygarlık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”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ayrımıdır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</a:p>
          <a:p>
            <a:r>
              <a:rPr lang="en-US" sz="14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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“Bir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medeniyet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müteaddit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milletlerin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müşterek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malıdır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Çünkü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her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medeniyeti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sahipleri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olan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müteaddit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milletler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müşterek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bir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hayat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yaşayarak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vücuda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getirmişlerdir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Bu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sebeple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her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medeniyet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mutlaka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beynelmileldir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Fakat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bir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medeniyetin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her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millette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aldığı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hususi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şekilleri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vardır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ki,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bunlara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‘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hars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’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adı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verilir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.”</a:t>
            </a:r>
            <a:endParaRPr lang="en-US" sz="2400" b="0" i="0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62586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B61C27-3ED0-7B7E-E9A7-254BE3D87D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635000"/>
            <a:ext cx="9626599" cy="5413248"/>
          </a:xfrm>
        </p:spPr>
        <p:txBody>
          <a:bodyPr/>
          <a:lstStyle/>
          <a:p>
            <a:pPr algn="l"/>
            <a:endParaRPr lang="en-US" sz="1100" b="0" i="0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Hars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ile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medeniyet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arasındaki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büyük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ortak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nokta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ikisinin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de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bütün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toplumsal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hayatları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kapsamasıdır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Bunlar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; </a:t>
            </a:r>
          </a:p>
          <a:p>
            <a:r>
              <a:rPr lang="en-US" sz="14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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1) Dini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hayat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</a:p>
          <a:p>
            <a:r>
              <a:rPr lang="en-US" sz="14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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2)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Ahlaki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hayat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</a:p>
          <a:p>
            <a:r>
              <a:rPr lang="en-US" sz="14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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3)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Hukuki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hayat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</a:p>
          <a:p>
            <a:r>
              <a:rPr lang="en-US" sz="14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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4)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Muakalevi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(Akli)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hayat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</a:p>
          <a:p>
            <a:r>
              <a:rPr lang="en-US" sz="14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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5)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Bedii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hayat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(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Estetik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Güzel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Sanatlar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) 6)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İktisadi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hayat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</a:p>
          <a:p>
            <a:r>
              <a:rPr lang="en-US" sz="14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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7)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Lisani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hayat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</a:p>
          <a:p>
            <a:r>
              <a:rPr lang="en-US" sz="14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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8) Fenni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hayat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(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Bilim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Teknik)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olarak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ayrılabilir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18919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D2E3127-781D-D5DC-C5EF-721D1C2E9E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406400"/>
            <a:ext cx="10515599" cy="5641848"/>
          </a:xfrm>
        </p:spPr>
        <p:txBody>
          <a:bodyPr/>
          <a:lstStyle/>
          <a:p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Hars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ve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medeniyet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arasındaki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ayrımlar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:</a:t>
            </a:r>
          </a:p>
          <a:p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1-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Hars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ulusaldır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medeniyet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uluslararasıdır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Hars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toplumsal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hayatın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sekiz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alanında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birden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ulusun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niteliklerini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belirtir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Medeniyet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ise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bütün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ulusların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alanlardaki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özelliklerini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arada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belirtir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</a:t>
            </a:r>
          </a:p>
          <a:p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2-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Medeniyet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yapaydır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Bireylerin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iradi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olarak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yaptıkları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davranışlar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sonucunda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ortaya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çıkar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Hars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ise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doğaldır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Kendiliğinden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ortaya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çıkar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337929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7BD5125-3169-4A55-31AD-AB5B16ABF2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491067"/>
            <a:ext cx="9914466" cy="5557181"/>
          </a:xfrm>
        </p:spPr>
        <p:txBody>
          <a:bodyPr/>
          <a:lstStyle/>
          <a:p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3-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Medeniyet,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harstan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doğar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Fakat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medeniyetin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fazla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gelişmesi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bazen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ulusun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harsını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bozar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O zaman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dejenere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uluslar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ortaya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çıkar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</a:p>
          <a:p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4-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Harsı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kuvvetli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fakat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medeniyeti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zayıf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ulusla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harsı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bozulmuş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fakat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medeniyeti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yüksek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olan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başka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ulus,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siyasal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mücadeleye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girince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harsı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kuvvetli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olan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ulus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daima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galip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gelir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271822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2048C39-6FAC-2164-DD39-09A69B8817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558800"/>
            <a:ext cx="10371666" cy="5489448"/>
          </a:xfrm>
        </p:spPr>
        <p:txBody>
          <a:bodyPr/>
          <a:lstStyle/>
          <a:p>
            <a:pPr algn="l"/>
            <a:endParaRPr lang="en-US" sz="1050" b="0" i="0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Bir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medeniyet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ile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hars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arada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yaşayabilir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Bir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ulusun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bunu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başarması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için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harsını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güçlendirmesi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gerekmektedir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***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Gökalp, Türk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harsını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Batı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medeniyeti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ile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birleştirmek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istemiştir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925514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F8D2F6E-F89A-9300-A10B-BAE9EE58CF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414867"/>
            <a:ext cx="9677399" cy="5633381"/>
          </a:xfrm>
        </p:spPr>
        <p:txBody>
          <a:bodyPr/>
          <a:lstStyle/>
          <a:p>
            <a:pPr algn="l"/>
            <a:endParaRPr lang="en-US" sz="1050" b="0" i="0" u="none" strike="noStrike" baseline="0" dirty="0">
              <a:solidFill>
                <a:schemeClr val="tx1"/>
              </a:solidFill>
              <a:latin typeface="Wingdings" panose="05000000000000000000" pitchFamily="2" charset="2"/>
            </a:endParaRPr>
          </a:p>
          <a:p>
            <a:r>
              <a:rPr lang="en-US" sz="16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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Gökalp’in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Türkiye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için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önerdiği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çözüm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</a:p>
          <a:p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***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toplumsal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yaşamın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sekiz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alanında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akla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bilime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tekniğe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ilişkin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olan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yanları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Batı’dan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almak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</a:t>
            </a:r>
          </a:p>
          <a:p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***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duyguya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inanca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bağlı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olanları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ise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Türk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tarihinin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toplumunun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derinliklerinden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alarak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geliştirmekti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***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Gökalp’in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bütün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çabası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Batı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uygarlığı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içinde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Türk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toplumunun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yeni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bir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ulusal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bilinçle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ve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kendi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kültürünü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koruyarak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yer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almasını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sağlamaktı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221705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406F188-3B7E-1B96-1998-AA12C0B52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279400"/>
            <a:ext cx="10439399" cy="5768848"/>
          </a:xfrm>
        </p:spPr>
        <p:txBody>
          <a:bodyPr/>
          <a:lstStyle/>
          <a:p>
            <a:r>
              <a:rPr lang="en-US" sz="4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Çalışmaları</a:t>
            </a:r>
            <a:endParaRPr lang="tr-TR" sz="40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40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14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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Gökalp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sosyolojisinin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ikinci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önemli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deneme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alanı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Türk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Medeniyeti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Tarihidir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Yine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Durkheim’dan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esinlenerek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eski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Türklerde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göçebelik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töreler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dinin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rolü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totemizm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Şamanizm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büyü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efsane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toy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yağma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potlaç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gelenekleri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aile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yapısı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çeşitleri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gibi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çok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yönlü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konuları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ele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alarak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sosyolojimize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zengin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malzemeler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kazandırmıştır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  <a:endParaRPr lang="tr-TR" sz="2400" b="0" i="0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r>
              <a:rPr lang="en-US" sz="14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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Etnoloji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folklor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etnografya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alanında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da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kalıcı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nitelikte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yol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gösterici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uygulamalı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araştırmalar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yapmıştır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20232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05181C7-4FB2-B971-C6D3-D067E554CA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762000"/>
            <a:ext cx="10151532" cy="5286248"/>
          </a:xfrm>
        </p:spPr>
        <p:txBody>
          <a:bodyPr/>
          <a:lstStyle/>
          <a:p>
            <a:r>
              <a:rPr lang="en-US" sz="4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Geri </a:t>
            </a:r>
            <a:r>
              <a:rPr lang="en-US" sz="4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Kalmışlığın</a:t>
            </a:r>
            <a:r>
              <a:rPr lang="en-US" sz="4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4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Nedeni</a:t>
            </a:r>
            <a:r>
              <a:rPr lang="en-US" sz="4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</a:p>
          <a:p>
            <a:r>
              <a:rPr lang="en-US" sz="14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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“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Müslümanlar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geri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kalmışlardır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: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çünkü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</a:p>
          <a:p>
            <a:endParaRPr lang="en-US" sz="2400" b="0" i="0" u="none" strike="noStrike" baseline="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a)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Dünyanın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koşullarının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geliştirdiği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çağdaş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değişiklikleri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hiçe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saymışlardır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;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dinlerini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yeni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koşullar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altında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yeniden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yorumlamaktan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kaçınmışlardır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;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dinlerine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çağdaş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koşullar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altında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yeni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anlamlar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verememişlerdir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Batı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uygarlığı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üstün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uygarlık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olarak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ortaya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çıktığı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zaman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Müslümanların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gösterdiği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taassubun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altındaki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neden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de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budur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987173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9DDE9CA-8BC7-2788-5A00-A3AB87B7D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558800"/>
            <a:ext cx="10270066" cy="5489448"/>
          </a:xfrm>
        </p:spPr>
        <p:txBody>
          <a:bodyPr/>
          <a:lstStyle/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b)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Müslümanlaşmış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ulusların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ulusal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kültürleri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üzerine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kurulan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ümmet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uygarlığı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hukuku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</a:t>
            </a: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İslam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uygarlığı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çağdaş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uygarlık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karşısında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iflas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edince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bu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halklar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ulusal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kültürden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yoksun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yığınlar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olarak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ayakta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Verdana" panose="020B0604030504040204" pitchFamily="34" charset="0"/>
              </a:rPr>
              <a:t>duramamışlardır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Verdana" panose="020B0604030504040204" pitchFamily="34" charset="0"/>
              </a:rPr>
              <a:t>.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740598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8A8D478-5A86-7DCC-0A48-9ACB64F0F8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8620"/>
            <a:ext cx="11336867" cy="6699379"/>
          </a:xfrm>
        </p:spPr>
        <p:txBody>
          <a:bodyPr/>
          <a:lstStyle/>
          <a:p>
            <a:endParaRPr lang="tr-TR" sz="4000" b="1" i="0" u="none" strike="noStrike" baseline="0" dirty="0">
              <a:solidFill>
                <a:srgbClr val="000099"/>
              </a:solidFill>
              <a:latin typeface="Arial" panose="020B0604020202020204" pitchFamily="34" charset="0"/>
            </a:endParaRPr>
          </a:p>
          <a:p>
            <a:r>
              <a:rPr lang="en-US" sz="4000" b="1" i="0" u="none" strike="noStrike" baseline="0" dirty="0">
                <a:solidFill>
                  <a:srgbClr val="000099"/>
                </a:solidFill>
                <a:latin typeface="Arial" panose="020B0604020202020204" pitchFamily="34" charset="0"/>
              </a:rPr>
              <a:t>Karl Heinrich MARX1818-1883</a:t>
            </a:r>
            <a:endParaRPr lang="en-US" sz="4000" b="0" i="0" u="none" strike="noStrike" baseline="0" dirty="0">
              <a:solidFill>
                <a:srgbClr val="000099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909E89-FF0B-82F9-F1C9-6F88C55D0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21" y="1796143"/>
            <a:ext cx="7688424" cy="478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31270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839F96F-63E1-34EA-ECEE-6A4C63BD1C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1886" y="569167"/>
            <a:ext cx="9349273" cy="5479081"/>
          </a:xfrm>
        </p:spPr>
        <p:txBody>
          <a:bodyPr/>
          <a:lstStyle/>
          <a:p>
            <a:endParaRPr lang="tr-TR" sz="3600" b="0" i="0" u="none" strike="noStrike" baseline="0" dirty="0">
              <a:solidFill>
                <a:srgbClr val="000099"/>
              </a:solidFill>
              <a:latin typeface="Arial" panose="020B0604020202020204" pitchFamily="34" charset="0"/>
            </a:endParaRPr>
          </a:p>
          <a:p>
            <a:r>
              <a:rPr lang="en-US" sz="3600" b="0" i="0" u="none" strike="noStrike" baseline="0" dirty="0" err="1">
                <a:solidFill>
                  <a:srgbClr val="000099"/>
                </a:solidFill>
                <a:latin typeface="Arial" panose="020B0604020202020204" pitchFamily="34" charset="0"/>
              </a:rPr>
              <a:t>Eserleri</a:t>
            </a:r>
            <a:endParaRPr lang="tr-TR" sz="3600" b="0" i="0" u="none" strike="noStrike" baseline="0" dirty="0">
              <a:solidFill>
                <a:srgbClr val="000099"/>
              </a:solidFill>
              <a:latin typeface="Arial" panose="020B0604020202020204" pitchFamily="34" charset="0"/>
            </a:endParaRPr>
          </a:p>
          <a:p>
            <a:endParaRPr lang="en-US" sz="36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•Kutsal Aile (1845) </a:t>
            </a: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•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Felsefenin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Sefaleti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(1847) </a:t>
            </a: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•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Komünist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Manifesto (1848)</a:t>
            </a: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•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Fransa'da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Sınıf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Kavgaları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(1850) </a:t>
            </a: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•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Ekonominin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Eleştirisi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(1859) </a:t>
            </a: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•Kapital (Das Kapital-1867-1894).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04867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FDF3991-FB08-1734-CF82-04E6AC50D1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580" y="251927"/>
            <a:ext cx="9666513" cy="5712346"/>
          </a:xfrm>
        </p:spPr>
        <p:txBody>
          <a:bodyPr/>
          <a:lstStyle/>
          <a:p>
            <a:endParaRPr lang="tr-TR" sz="3200" b="1" i="0" u="none" strike="noStrike" baseline="0" dirty="0">
              <a:solidFill>
                <a:srgbClr val="000099"/>
              </a:solidFill>
              <a:latin typeface="Arial" panose="020B0604020202020204" pitchFamily="34" charset="0"/>
            </a:endParaRPr>
          </a:p>
          <a:p>
            <a:endParaRPr lang="tr-TR" sz="3200" b="1" dirty="0">
              <a:solidFill>
                <a:srgbClr val="000099"/>
              </a:solidFill>
              <a:latin typeface="Arial" panose="020B0604020202020204" pitchFamily="34" charset="0"/>
            </a:endParaRPr>
          </a:p>
          <a:p>
            <a:r>
              <a:rPr lang="en-US" sz="3200" b="1" i="0" u="none" strike="noStrike" baseline="0" dirty="0">
                <a:solidFill>
                  <a:srgbClr val="000099"/>
                </a:solidFill>
                <a:latin typeface="Arial" panose="020B0604020202020204" pitchFamily="34" charset="0"/>
              </a:rPr>
              <a:t>Karl Heinrich MARX (1818-1883)</a:t>
            </a:r>
            <a:endParaRPr lang="tr-TR" sz="3200" b="1" i="0" u="none" strike="noStrike" baseline="0" dirty="0">
              <a:solidFill>
                <a:srgbClr val="000099"/>
              </a:solidFill>
              <a:latin typeface="Arial" panose="020B0604020202020204" pitchFamily="34" charset="0"/>
            </a:endParaRPr>
          </a:p>
          <a:p>
            <a:endParaRPr lang="en-US" sz="3200" b="0" i="0" u="none" strike="noStrike" baseline="0" dirty="0">
              <a:solidFill>
                <a:srgbClr val="000099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•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Bilimsel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Sosyalizmin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kurucusudur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•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Endüstriyel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kapitalizm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18.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yüzyılın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siyasal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devrimlerinden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kaynaklanan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değişiklikleri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anlamaya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yönelmiştir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•1776-Amerikan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devrimi</a:t>
            </a:r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•1789-Fransız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devrimi</a:t>
            </a:r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•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Endüstri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devrimi</a:t>
            </a:r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05304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3C23129-73ED-3CD8-1400-5B9E4D4C0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634481"/>
            <a:ext cx="8742783" cy="5906277"/>
          </a:xfrm>
        </p:spPr>
        <p:txBody>
          <a:bodyPr/>
          <a:lstStyle/>
          <a:p>
            <a:endParaRPr lang="tr-TR" sz="2400" b="0" i="0" u="none" strike="noStrike" baseline="0" dirty="0">
              <a:solidFill>
                <a:srgbClr val="000099"/>
              </a:solidFill>
              <a:latin typeface="Arial" panose="020B0604020202020204" pitchFamily="34" charset="0"/>
            </a:endParaRPr>
          </a:p>
          <a:p>
            <a:endParaRPr lang="tr-TR" dirty="0">
              <a:solidFill>
                <a:srgbClr val="000099"/>
              </a:solidFill>
              <a:latin typeface="Arial" panose="020B0604020202020204" pitchFamily="34" charset="0"/>
            </a:endParaRPr>
          </a:p>
          <a:p>
            <a:r>
              <a:rPr lang="tr-TR" sz="2400" b="0" i="0" u="none" strike="noStrike" baseline="0" dirty="0">
                <a:solidFill>
                  <a:srgbClr val="000099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99"/>
                </a:solidFill>
                <a:latin typeface="Arial" panose="020B0604020202020204" pitchFamily="34" charset="0"/>
              </a:rPr>
              <a:t>Marx’a</a:t>
            </a:r>
            <a:r>
              <a:rPr lang="en-US" sz="2400" b="0" i="0" u="none" strike="noStrike" baseline="0" dirty="0">
                <a:solidFill>
                  <a:srgbClr val="000099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99"/>
                </a:solidFill>
                <a:latin typeface="Arial" panose="020B0604020202020204" pitchFamily="34" charset="0"/>
              </a:rPr>
              <a:t>göre</a:t>
            </a:r>
            <a:endParaRPr lang="tr-TR" sz="2400" b="0" i="0" u="none" strike="noStrike" baseline="0" dirty="0">
              <a:solidFill>
                <a:srgbClr val="000099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rgbClr val="000099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•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;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uzlaşmaz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sınıflar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işbölümü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özel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mülkiyet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biçimleri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üzerinde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kurulmuş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yapıdır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endParaRPr lang="en-US" sz="2400" b="0" i="0" u="none" strike="noStrike" baseline="0" dirty="0">
              <a:solidFill>
                <a:srgbClr val="003265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0825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7DB204-C4CE-6916-FA88-6B54571789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208" y="755780"/>
            <a:ext cx="8593493" cy="5292468"/>
          </a:xfrm>
        </p:spPr>
        <p:txBody>
          <a:bodyPr/>
          <a:lstStyle/>
          <a:p>
            <a:endParaRPr lang="tr-TR" sz="2400" b="1" i="0" u="none" strike="noStrike" baseline="0" dirty="0">
              <a:solidFill>
                <a:srgbClr val="000099"/>
              </a:solidFill>
              <a:latin typeface="Arial" panose="020B0604020202020204" pitchFamily="34" charset="0"/>
            </a:endParaRPr>
          </a:p>
          <a:p>
            <a:r>
              <a:rPr lang="en-US" sz="2400" b="1" i="0" u="none" strike="noStrike" baseline="0" dirty="0" err="1">
                <a:solidFill>
                  <a:srgbClr val="000099"/>
                </a:solidFill>
                <a:latin typeface="Arial" panose="020B0604020202020204" pitchFamily="34" charset="0"/>
              </a:rPr>
              <a:t>Marks’a</a:t>
            </a:r>
            <a:r>
              <a:rPr lang="en-US" sz="2400" b="1" i="0" u="none" strike="noStrike" baseline="0" dirty="0">
                <a:solidFill>
                  <a:srgbClr val="000099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rgbClr val="000099"/>
                </a:solidFill>
                <a:latin typeface="Arial" panose="020B0604020202020204" pitchFamily="34" charset="0"/>
              </a:rPr>
              <a:t>göre</a:t>
            </a:r>
            <a:r>
              <a:rPr lang="en-US" sz="2400" b="1" i="0" u="none" strike="noStrike" baseline="0" dirty="0">
                <a:solidFill>
                  <a:srgbClr val="000099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rgbClr val="000099"/>
                </a:solidFill>
                <a:latin typeface="Arial" panose="020B0604020202020204" pitchFamily="34" charset="0"/>
              </a:rPr>
              <a:t>bir</a:t>
            </a:r>
            <a:r>
              <a:rPr lang="en-US" sz="2400" b="1" i="0" u="none" strike="noStrike" baseline="0" dirty="0">
                <a:solidFill>
                  <a:srgbClr val="000099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rgbClr val="000099"/>
                </a:solidFill>
                <a:latin typeface="Arial" panose="020B0604020202020204" pitchFamily="34" charset="0"/>
              </a:rPr>
              <a:t>toplum</a:t>
            </a:r>
            <a:r>
              <a:rPr lang="en-US" sz="2400" b="1" i="0" u="none" strike="noStrike" baseline="0" dirty="0">
                <a:solidFill>
                  <a:srgbClr val="000099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rgbClr val="000099"/>
                </a:solidFill>
                <a:latin typeface="Arial" panose="020B0604020202020204" pitchFamily="34" charset="0"/>
              </a:rPr>
              <a:t>iki</a:t>
            </a:r>
            <a:r>
              <a:rPr lang="en-US" sz="2400" b="1" i="0" u="none" strike="noStrike" baseline="0" dirty="0">
                <a:solidFill>
                  <a:srgbClr val="000099"/>
                </a:solidFill>
                <a:latin typeface="Arial" panose="020B0604020202020204" pitchFamily="34" charset="0"/>
              </a:rPr>
              <a:t> ana </a:t>
            </a:r>
            <a:r>
              <a:rPr lang="en-US" sz="2400" b="1" i="0" u="none" strike="noStrike" baseline="0" dirty="0" err="1">
                <a:solidFill>
                  <a:srgbClr val="000099"/>
                </a:solidFill>
                <a:latin typeface="Arial" panose="020B0604020202020204" pitchFamily="34" charset="0"/>
              </a:rPr>
              <a:t>kısımdan</a:t>
            </a:r>
            <a:r>
              <a:rPr lang="en-US" sz="2400" b="1" i="0" u="none" strike="noStrike" baseline="0" dirty="0">
                <a:solidFill>
                  <a:srgbClr val="000099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rgbClr val="000099"/>
                </a:solidFill>
                <a:latin typeface="Arial" panose="020B0604020202020204" pitchFamily="34" charset="0"/>
              </a:rPr>
              <a:t>meydana</a:t>
            </a:r>
            <a:r>
              <a:rPr lang="en-US" sz="2400" b="1" i="0" u="none" strike="noStrike" baseline="0" dirty="0">
                <a:solidFill>
                  <a:srgbClr val="000099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rgbClr val="000099"/>
                </a:solidFill>
                <a:latin typeface="Arial" panose="020B0604020202020204" pitchFamily="34" charset="0"/>
              </a:rPr>
              <a:t>gelir</a:t>
            </a:r>
            <a:r>
              <a:rPr lang="en-US" sz="2400" b="1" i="0" u="none" strike="noStrike" baseline="0" dirty="0">
                <a:solidFill>
                  <a:srgbClr val="000099"/>
                </a:solidFill>
                <a:latin typeface="Arial" panose="020B0604020202020204" pitchFamily="34" charset="0"/>
              </a:rPr>
              <a:t>: </a:t>
            </a:r>
            <a:endParaRPr lang="tr-TR" sz="2400" b="1" i="0" u="none" strike="noStrike" baseline="0" dirty="0">
              <a:solidFill>
                <a:srgbClr val="000099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1.Altyapı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Toplumun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"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maddi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altyapısı"nı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oluşturan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üretim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güçleri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(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aletler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makineler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vb.)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ile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üretim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ilişkilerinin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(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sınıflar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arasındaki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ilişkilerin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)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kombinasyonu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;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yani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"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üretim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tarzı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"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da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ekonomik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ilişkiler</a:t>
            </a:r>
            <a:endParaRPr lang="tr-TR" sz="2400" b="1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2.Üstyapı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: Genel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olarak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devleti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siyasi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ilişkileri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gelenekleri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felsefeyi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bilimi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sanatı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içerir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89293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A8D5E7-A276-C60E-79C6-C81955A90A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926" y="335902"/>
            <a:ext cx="11940073" cy="5712346"/>
          </a:xfrm>
        </p:spPr>
        <p:txBody>
          <a:bodyPr/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r>
              <a:rPr lang="tr-TR" dirty="0"/>
              <a:t>	  </a:t>
            </a:r>
            <a:r>
              <a:rPr lang="tr-TR" b="1" dirty="0"/>
              <a:t>Toplumum Ekonomik sisteminin gelişimi, tüm toplumun evrimini belirler.</a:t>
            </a:r>
            <a:endParaRPr lang="en-US" b="1" dirty="0"/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BC2A9795-98FB-1DD9-56D4-BFF8FE6BA85D}"/>
              </a:ext>
            </a:extLst>
          </p:cNvPr>
          <p:cNvSpPr/>
          <p:nvPr/>
        </p:nvSpPr>
        <p:spPr>
          <a:xfrm>
            <a:off x="447869" y="2304661"/>
            <a:ext cx="914400" cy="914400"/>
          </a:xfrm>
          <a:prstGeom prst="star5">
            <a:avLst/>
          </a:prstGeom>
          <a:ln>
            <a:solidFill>
              <a:schemeClr val="accent6"/>
            </a:soli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22298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64BFF73-3C75-9BA6-9718-93BE74460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7910" y="811763"/>
            <a:ext cx="11411339" cy="5449078"/>
          </a:xfrm>
        </p:spPr>
        <p:txBody>
          <a:bodyPr/>
          <a:lstStyle/>
          <a:p>
            <a:endParaRPr lang="tr-TR" sz="2800" b="1" i="0" u="none" strike="noStrike" baseline="0" dirty="0">
              <a:solidFill>
                <a:srgbClr val="000099"/>
              </a:solidFill>
              <a:latin typeface="Arial" panose="020B0604020202020204" pitchFamily="34" charset="0"/>
            </a:endParaRPr>
          </a:p>
          <a:p>
            <a:r>
              <a:rPr lang="en-US" sz="2800" b="1" i="0" u="none" strike="noStrike" baseline="0" dirty="0">
                <a:solidFill>
                  <a:srgbClr val="000099"/>
                </a:solidFill>
                <a:latin typeface="Arial" panose="020B0604020202020204" pitchFamily="34" charset="0"/>
              </a:rPr>
              <a:t>"</a:t>
            </a:r>
            <a:r>
              <a:rPr lang="en-US" sz="2800" b="1" i="0" u="none" strike="noStrike" baseline="0" dirty="0" err="1">
                <a:solidFill>
                  <a:srgbClr val="000099"/>
                </a:solidFill>
                <a:latin typeface="Arial" panose="020B0604020202020204" pitchFamily="34" charset="0"/>
              </a:rPr>
              <a:t>Filozoflar</a:t>
            </a:r>
            <a:r>
              <a:rPr lang="en-US" sz="2800" b="1" i="0" u="none" strike="noStrike" baseline="0" dirty="0">
                <a:solidFill>
                  <a:srgbClr val="000099"/>
                </a:solidFill>
                <a:latin typeface="Arial" panose="020B0604020202020204" pitchFamily="34" charset="0"/>
              </a:rPr>
              <a:t> </a:t>
            </a:r>
            <a:r>
              <a:rPr lang="en-US" sz="2800" b="1" i="0" u="none" strike="noStrike" baseline="0" dirty="0" err="1">
                <a:solidFill>
                  <a:srgbClr val="000099"/>
                </a:solidFill>
                <a:latin typeface="Arial" panose="020B0604020202020204" pitchFamily="34" charset="0"/>
              </a:rPr>
              <a:t>dünyayı</a:t>
            </a:r>
            <a:r>
              <a:rPr lang="en-US" sz="2800" b="1" i="0" u="none" strike="noStrike" baseline="0" dirty="0">
                <a:solidFill>
                  <a:srgbClr val="000099"/>
                </a:solidFill>
                <a:latin typeface="Arial" panose="020B0604020202020204" pitchFamily="34" charset="0"/>
              </a:rPr>
              <a:t> </a:t>
            </a:r>
            <a:r>
              <a:rPr lang="en-US" sz="2800" b="1" i="0" u="none" strike="noStrike" baseline="0" dirty="0" err="1">
                <a:solidFill>
                  <a:srgbClr val="000099"/>
                </a:solidFill>
                <a:latin typeface="Arial" panose="020B0604020202020204" pitchFamily="34" charset="0"/>
              </a:rPr>
              <a:t>yalnızca</a:t>
            </a:r>
            <a:r>
              <a:rPr lang="en-US" sz="2800" b="1" i="0" u="none" strike="noStrike" baseline="0" dirty="0">
                <a:solidFill>
                  <a:srgbClr val="000099"/>
                </a:solidFill>
                <a:latin typeface="Arial" panose="020B0604020202020204" pitchFamily="34" charset="0"/>
              </a:rPr>
              <a:t> </a:t>
            </a:r>
            <a:r>
              <a:rPr lang="en-US" sz="2800" b="1" i="0" u="none" strike="noStrike" baseline="0" dirty="0" err="1">
                <a:solidFill>
                  <a:srgbClr val="000099"/>
                </a:solidFill>
                <a:latin typeface="Arial" panose="020B0604020202020204" pitchFamily="34" charset="0"/>
              </a:rPr>
              <a:t>değişik</a:t>
            </a:r>
            <a:r>
              <a:rPr lang="en-US" sz="2800" b="1" i="0" u="none" strike="noStrike" baseline="0" dirty="0">
                <a:solidFill>
                  <a:srgbClr val="000099"/>
                </a:solidFill>
                <a:latin typeface="Arial" panose="020B0604020202020204" pitchFamily="34" charset="0"/>
              </a:rPr>
              <a:t> </a:t>
            </a:r>
            <a:r>
              <a:rPr lang="en-US" sz="2800" b="1" i="0" u="none" strike="noStrike" baseline="0" dirty="0" err="1">
                <a:solidFill>
                  <a:srgbClr val="000099"/>
                </a:solidFill>
                <a:latin typeface="Arial" panose="020B0604020202020204" pitchFamily="34" charset="0"/>
              </a:rPr>
              <a:t>biçimlerde</a:t>
            </a:r>
            <a:r>
              <a:rPr lang="en-US" sz="2800" b="1" i="0" u="none" strike="noStrike" baseline="0" dirty="0">
                <a:solidFill>
                  <a:srgbClr val="000099"/>
                </a:solidFill>
                <a:latin typeface="Arial" panose="020B0604020202020204" pitchFamily="34" charset="0"/>
              </a:rPr>
              <a:t> </a:t>
            </a:r>
            <a:r>
              <a:rPr lang="en-US" sz="2800" b="1" i="0" u="none" strike="noStrike" baseline="0" dirty="0" err="1">
                <a:solidFill>
                  <a:srgbClr val="000099"/>
                </a:solidFill>
                <a:latin typeface="Arial" panose="020B0604020202020204" pitchFamily="34" charset="0"/>
              </a:rPr>
              <a:t>yorumladılar</a:t>
            </a:r>
            <a:r>
              <a:rPr lang="en-US" sz="2800" b="1" i="0" u="none" strike="noStrike" baseline="0" dirty="0">
                <a:solidFill>
                  <a:srgbClr val="000099"/>
                </a:solidFill>
                <a:latin typeface="Arial" panose="020B0604020202020204" pitchFamily="34" charset="0"/>
              </a:rPr>
              <a:t>, </a:t>
            </a:r>
            <a:r>
              <a:rPr lang="en-US" sz="2800" b="1" i="0" u="none" strike="noStrike" baseline="0" dirty="0" err="1">
                <a:solidFill>
                  <a:srgbClr val="000099"/>
                </a:solidFill>
                <a:latin typeface="Arial" panose="020B0604020202020204" pitchFamily="34" charset="0"/>
              </a:rPr>
              <a:t>oysa</a:t>
            </a:r>
            <a:r>
              <a:rPr lang="en-US" sz="2800" b="1" i="0" u="none" strike="noStrike" baseline="0" dirty="0">
                <a:solidFill>
                  <a:srgbClr val="000099"/>
                </a:solidFill>
                <a:latin typeface="Arial" panose="020B0604020202020204" pitchFamily="34" charset="0"/>
              </a:rPr>
              <a:t> </a:t>
            </a:r>
            <a:r>
              <a:rPr lang="en-US" sz="2800" b="1" i="0" u="none" strike="noStrike" baseline="0" dirty="0" err="1">
                <a:solidFill>
                  <a:srgbClr val="000099"/>
                </a:solidFill>
                <a:latin typeface="Arial" panose="020B0604020202020204" pitchFamily="34" charset="0"/>
              </a:rPr>
              <a:t>asıl</a:t>
            </a:r>
            <a:r>
              <a:rPr lang="en-US" sz="2800" b="1" i="0" u="none" strike="noStrike" baseline="0" dirty="0">
                <a:solidFill>
                  <a:srgbClr val="000099"/>
                </a:solidFill>
                <a:latin typeface="Arial" panose="020B0604020202020204" pitchFamily="34" charset="0"/>
              </a:rPr>
              <a:t> </a:t>
            </a:r>
            <a:r>
              <a:rPr lang="en-US" sz="2800" b="1" i="0" u="none" strike="noStrike" baseline="0" dirty="0" err="1">
                <a:solidFill>
                  <a:srgbClr val="000099"/>
                </a:solidFill>
                <a:latin typeface="Arial" panose="020B0604020202020204" pitchFamily="34" charset="0"/>
              </a:rPr>
              <a:t>sorun</a:t>
            </a:r>
            <a:r>
              <a:rPr lang="en-US" sz="2800" b="1" i="0" u="none" strike="noStrike" baseline="0" dirty="0">
                <a:solidFill>
                  <a:srgbClr val="000099"/>
                </a:solidFill>
                <a:latin typeface="Arial" panose="020B0604020202020204" pitchFamily="34" charset="0"/>
              </a:rPr>
              <a:t> </a:t>
            </a:r>
            <a:r>
              <a:rPr lang="en-US" sz="2800" b="1" i="0" u="none" strike="noStrike" baseline="0" dirty="0" err="1">
                <a:solidFill>
                  <a:srgbClr val="000099"/>
                </a:solidFill>
                <a:latin typeface="Arial" panose="020B0604020202020204" pitchFamily="34" charset="0"/>
              </a:rPr>
              <a:t>onu</a:t>
            </a:r>
            <a:r>
              <a:rPr lang="en-US" sz="2800" b="1" i="0" u="none" strike="noStrike" baseline="0" dirty="0">
                <a:solidFill>
                  <a:srgbClr val="000099"/>
                </a:solidFill>
                <a:latin typeface="Arial" panose="020B0604020202020204" pitchFamily="34" charset="0"/>
              </a:rPr>
              <a:t> </a:t>
            </a:r>
            <a:r>
              <a:rPr lang="en-US" sz="2800" b="1" i="0" u="none" strike="noStrike" baseline="0" dirty="0" err="1">
                <a:solidFill>
                  <a:srgbClr val="000099"/>
                </a:solidFill>
                <a:latin typeface="Arial" panose="020B0604020202020204" pitchFamily="34" charset="0"/>
              </a:rPr>
              <a:t>değiştirmektir</a:t>
            </a:r>
            <a:r>
              <a:rPr lang="en-US" sz="2800" b="1" i="0" u="none" strike="noStrike" baseline="0" dirty="0">
                <a:solidFill>
                  <a:srgbClr val="000099"/>
                </a:solidFill>
                <a:latin typeface="Arial" panose="020B0604020202020204" pitchFamily="34" charset="0"/>
              </a:rPr>
              <a:t>.«</a:t>
            </a:r>
            <a:endParaRPr lang="tr-TR" sz="2800" b="1" i="0" u="none" strike="noStrike" baseline="0" dirty="0">
              <a:solidFill>
                <a:srgbClr val="000099"/>
              </a:solidFill>
              <a:latin typeface="Arial" panose="020B0604020202020204" pitchFamily="34" charset="0"/>
            </a:endParaRPr>
          </a:p>
          <a:p>
            <a:endParaRPr lang="en-US" sz="28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8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•</a:t>
            </a:r>
            <a:r>
              <a:rPr lang="en-US" sz="28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Doğanın</a:t>
            </a:r>
            <a:r>
              <a:rPr lang="en-US" sz="28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8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gelişiminde</a:t>
            </a:r>
            <a:r>
              <a:rPr lang="en-US" sz="28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8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olduğu</a:t>
            </a:r>
            <a:r>
              <a:rPr lang="en-US" sz="28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8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gibi</a:t>
            </a:r>
            <a:r>
              <a:rPr lang="en-US" sz="28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8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toplumsal</a:t>
            </a:r>
            <a:r>
              <a:rPr lang="en-US" sz="28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8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gelişme</a:t>
            </a:r>
            <a:r>
              <a:rPr lang="en-US" sz="28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de belli </a:t>
            </a:r>
            <a:r>
              <a:rPr lang="en-US" sz="28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yasalarabağlıdır</a:t>
            </a:r>
            <a:r>
              <a:rPr lang="en-US" sz="28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endParaRPr lang="tr-TR" sz="28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8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8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•</a:t>
            </a:r>
            <a:r>
              <a:rPr lang="en-US" sz="28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</a:t>
            </a:r>
            <a:r>
              <a:rPr lang="en-US" sz="28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8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durağan</a:t>
            </a:r>
            <a:r>
              <a:rPr lang="en-US" sz="28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8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8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8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olgu</a:t>
            </a:r>
            <a:r>
              <a:rPr lang="en-US" sz="28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8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değil</a:t>
            </a:r>
            <a:r>
              <a:rPr lang="en-US" sz="28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8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aksine</a:t>
            </a:r>
            <a:r>
              <a:rPr lang="en-US" sz="28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8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dinamik</a:t>
            </a:r>
            <a:r>
              <a:rPr lang="en-US" sz="28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8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8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8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çelişkilerle</a:t>
            </a:r>
            <a:r>
              <a:rPr lang="en-US" sz="28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8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dolu</a:t>
            </a:r>
            <a:r>
              <a:rPr lang="en-US" sz="28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8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olan</a:t>
            </a:r>
            <a:r>
              <a:rPr lang="en-US" sz="28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8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8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8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gelişimin</a:t>
            </a:r>
            <a:r>
              <a:rPr lang="en-US" sz="28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8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sonucudur</a:t>
            </a:r>
            <a:r>
              <a:rPr lang="en-US" sz="28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endParaRPr lang="en-US" sz="2800" b="0" i="0" u="none" strike="noStrike" baseline="0" dirty="0">
              <a:solidFill>
                <a:srgbClr val="003265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00075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48E385-62CF-090A-906D-272B8B8926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634482"/>
            <a:ext cx="10627566" cy="5766318"/>
          </a:xfrm>
        </p:spPr>
        <p:txBody>
          <a:bodyPr>
            <a:normAutofit/>
          </a:bodyPr>
          <a:lstStyle/>
          <a:p>
            <a:endParaRPr lang="tr-TR" sz="4000" b="0" i="0" u="none" strike="noStrike" baseline="0" dirty="0">
              <a:solidFill>
                <a:srgbClr val="000099"/>
              </a:solidFill>
              <a:latin typeface="Arial" panose="020B0604020202020204" pitchFamily="34" charset="0"/>
            </a:endParaRPr>
          </a:p>
          <a:p>
            <a:r>
              <a:rPr lang="en-US" sz="4000" b="0" i="0" u="none" strike="noStrike" baseline="0" dirty="0">
                <a:solidFill>
                  <a:srgbClr val="000099"/>
                </a:solidFill>
                <a:latin typeface="Arial" panose="020B0604020202020204" pitchFamily="34" charset="0"/>
              </a:rPr>
              <a:t>TARİHSEL ANALİZ</a:t>
            </a: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•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değişmenin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ana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kaynağı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insanların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benimsedikleri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düşünceler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da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inançlar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değil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ekonomik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etkilerdir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•Marx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tarihsel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gelişmeyi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toplumların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geçtiği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dört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aşamada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açıklar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1.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İlkel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komünal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</a:t>
            </a:r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2.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Köleci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</a:t>
            </a:r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3.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Feodal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</a:t>
            </a:r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4.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Kapitalist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</a:t>
            </a:r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5.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Komünist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(son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nokta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1771653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208A17-CD52-AB8C-032B-7C95B40D83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438539"/>
            <a:ext cx="10646228" cy="5609709"/>
          </a:xfrm>
        </p:spPr>
        <p:txBody>
          <a:bodyPr/>
          <a:lstStyle/>
          <a:p>
            <a:pPr algn="l"/>
            <a:endParaRPr lang="en-US" sz="105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tr-TR" sz="2400" b="1" i="0" u="none" strike="noStrike" baseline="0" dirty="0">
              <a:solidFill>
                <a:srgbClr val="003265"/>
              </a:solidFill>
              <a:latin typeface="Arial" panose="020B0604020202020204" pitchFamily="34" charset="0"/>
            </a:endParaRPr>
          </a:p>
          <a:p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İlkel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Komünal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Dönem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: Avcı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toplayıcı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dönemde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paylaşılan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mülkiyete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ilkel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demokrasiye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dayanan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kooperatif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aşiretler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kabileler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•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Kölelik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Toplumun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kabileden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şehir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devletine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geçtiği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köleliğin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özel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mülkiyetin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aristokrasinin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doğduğu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tarımın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yaygın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olduğu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dönem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•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Feodalizm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Kralın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da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dahil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olduğu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aristokrasinin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yönetici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sınıf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haline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geldiği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dinin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önemli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tuttuğu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dönem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73415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51577D-DF74-39EA-4B94-700E05CF20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878" y="419877"/>
            <a:ext cx="11448661" cy="6232849"/>
          </a:xfrm>
        </p:spPr>
        <p:txBody>
          <a:bodyPr/>
          <a:lstStyle/>
          <a:p>
            <a:pPr algn="l"/>
            <a:endParaRPr lang="en-US" sz="105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tr-TR" sz="2400" b="1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Kapitalizm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Burjuva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sınıfının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yönetici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proletaryanın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da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ezilen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sınıf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olduğu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parlamenter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demokrasinin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yaygın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politik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sistem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olduğu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piyasa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ekonomisinin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işlediği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üretim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araçlarına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özel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mülkiyetin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sahip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olduğu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dönem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•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Komünizm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İşçilerin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devrim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yaparak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kapitalistleri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kovduğu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devletsiz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sınıfsız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mülkiyetsiz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yarattıkları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dönem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43469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2891ECE-8595-6B58-8AD0-A80B51C632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615819"/>
            <a:ext cx="10711542" cy="5831633"/>
          </a:xfrm>
        </p:spPr>
        <p:txBody>
          <a:bodyPr/>
          <a:lstStyle/>
          <a:p>
            <a:endParaRPr lang="en-US" dirty="0"/>
          </a:p>
          <a:p>
            <a:endParaRPr lang="tr-TR" dirty="0"/>
          </a:p>
          <a:p>
            <a:r>
              <a:rPr lang="en-US" dirty="0" err="1">
                <a:solidFill>
                  <a:schemeClr val="tx1"/>
                </a:solidFill>
              </a:rPr>
              <a:t>Marx’a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göre</a:t>
            </a:r>
            <a:r>
              <a:rPr lang="en-US" dirty="0">
                <a:solidFill>
                  <a:schemeClr val="tx1"/>
                </a:solidFill>
              </a:rPr>
              <a:t> her </a:t>
            </a:r>
            <a:r>
              <a:rPr lang="en-US" dirty="0" err="1">
                <a:solidFill>
                  <a:schemeClr val="tx1"/>
                </a:solidFill>
              </a:rPr>
              <a:t>çağda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belirli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sınıfların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zıtlığı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hakimdir</a:t>
            </a:r>
            <a:r>
              <a:rPr lang="en-US" dirty="0">
                <a:solidFill>
                  <a:schemeClr val="tx1"/>
                </a:solidFill>
              </a:rPr>
              <a:t>. Bu durum o </a:t>
            </a:r>
            <a:r>
              <a:rPr lang="en-US" dirty="0" err="1">
                <a:solidFill>
                  <a:schemeClr val="tx1"/>
                </a:solidFill>
              </a:rPr>
              <a:t>çağa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özgü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sosyal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sistemin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belirgin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özelliklerini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ortaya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koyar</a:t>
            </a:r>
            <a:r>
              <a:rPr lang="en-US" dirty="0">
                <a:solidFill>
                  <a:schemeClr val="tx1"/>
                </a:solidFill>
              </a:rPr>
              <a:t>. </a:t>
            </a:r>
            <a:endParaRPr lang="tr-TR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•Tarih, </a:t>
            </a:r>
            <a:r>
              <a:rPr lang="en-US" dirty="0" err="1">
                <a:solidFill>
                  <a:schemeClr val="tx1"/>
                </a:solidFill>
              </a:rPr>
              <a:t>bu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türden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sınıfsal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zıtlıklar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zıtlıkların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doğurduğu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sınıf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mücadeleleri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içinde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ilerlemektedir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1168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937093F-E648-BEB5-FCE6-2798490F31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307910"/>
            <a:ext cx="10366309" cy="5740338"/>
          </a:xfrm>
        </p:spPr>
        <p:txBody>
          <a:bodyPr/>
          <a:lstStyle/>
          <a:p>
            <a:endParaRPr lang="tr-TR" dirty="0"/>
          </a:p>
          <a:p>
            <a:r>
              <a:rPr lang="en-US" dirty="0" err="1"/>
              <a:t>Marks’a</a:t>
            </a:r>
            <a:r>
              <a:rPr lang="en-US" dirty="0"/>
              <a:t> </a:t>
            </a:r>
            <a:r>
              <a:rPr lang="en-US" dirty="0" err="1"/>
              <a:t>göre</a:t>
            </a:r>
            <a:r>
              <a:rPr lang="en-US" dirty="0"/>
              <a:t>; </a:t>
            </a:r>
          </a:p>
          <a:p>
            <a:endParaRPr lang="tr-TR" dirty="0"/>
          </a:p>
          <a:p>
            <a:r>
              <a:rPr lang="en-US" dirty="0">
                <a:solidFill>
                  <a:schemeClr val="tx1"/>
                </a:solidFill>
              </a:rPr>
              <a:t>•</a:t>
            </a:r>
            <a:r>
              <a:rPr lang="en-US" dirty="0" err="1">
                <a:solidFill>
                  <a:schemeClr val="tx1"/>
                </a:solidFill>
              </a:rPr>
              <a:t>Kapitalist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düzen</a:t>
            </a:r>
            <a:r>
              <a:rPr lang="en-US" dirty="0">
                <a:solidFill>
                  <a:schemeClr val="tx1"/>
                </a:solidFill>
              </a:rPr>
              <a:t>, son </a:t>
            </a:r>
            <a:r>
              <a:rPr lang="en-US" dirty="0" err="1">
                <a:solidFill>
                  <a:schemeClr val="tx1"/>
                </a:solidFill>
              </a:rPr>
              <a:t>sınıflı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toplumdur</a:t>
            </a:r>
            <a:r>
              <a:rPr lang="en-US" dirty="0">
                <a:solidFill>
                  <a:schemeClr val="tx1"/>
                </a:solidFill>
              </a:rPr>
              <a:t>. </a:t>
            </a:r>
            <a:r>
              <a:rPr lang="en-US" dirty="0" err="1">
                <a:solidFill>
                  <a:schemeClr val="tx1"/>
                </a:solidFill>
              </a:rPr>
              <a:t>Burjuvazi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ile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işçi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sınıfı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arasındaki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uzlaşmaz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çelişki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sonucu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yıkılacaktır</a:t>
            </a:r>
            <a:r>
              <a:rPr lang="en-US" dirty="0">
                <a:solidFill>
                  <a:schemeClr val="tx1"/>
                </a:solidFill>
              </a:rPr>
              <a:t>. </a:t>
            </a:r>
            <a:endParaRPr lang="tr-TR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•</a:t>
            </a:r>
            <a:r>
              <a:rPr lang="en-US" dirty="0" err="1">
                <a:solidFill>
                  <a:schemeClr val="tx1"/>
                </a:solidFill>
              </a:rPr>
              <a:t>Kapitalist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toplum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ile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birlikte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ortaya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çıkan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işçi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sınıfı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artık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toplumun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devrimci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dinamiğidir</a:t>
            </a:r>
            <a:r>
              <a:rPr lang="en-US" dirty="0">
                <a:solidFill>
                  <a:schemeClr val="tx1"/>
                </a:solidFill>
              </a:rPr>
              <a:t>. </a:t>
            </a:r>
            <a:r>
              <a:rPr lang="en-US" dirty="0" err="1">
                <a:solidFill>
                  <a:schemeClr val="tx1"/>
                </a:solidFill>
              </a:rPr>
              <a:t>Kapitalist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düzeni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ortadan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kaldırarak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komünizme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yani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sınıfsız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topluma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giden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yolu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açacak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olan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sınıftır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44040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F78BC17-AADA-6731-4210-447143B3A3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282" y="317241"/>
            <a:ext cx="11523305" cy="5731007"/>
          </a:xfrm>
        </p:spPr>
        <p:txBody>
          <a:bodyPr/>
          <a:lstStyle/>
          <a:p>
            <a:endParaRPr lang="tr-TR" dirty="0"/>
          </a:p>
          <a:p>
            <a:r>
              <a:rPr lang="en-US" dirty="0"/>
              <a:t>MARKSİZM Nedir?</a:t>
            </a:r>
            <a:endParaRPr lang="tr-TR" dirty="0"/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•</a:t>
            </a:r>
            <a:r>
              <a:rPr lang="en-US" dirty="0" err="1">
                <a:solidFill>
                  <a:schemeClr val="tx1"/>
                </a:solidFill>
              </a:rPr>
              <a:t>Bilimsel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sosyalizmin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kurucusu</a:t>
            </a:r>
            <a:r>
              <a:rPr lang="en-US" dirty="0">
                <a:solidFill>
                  <a:schemeClr val="tx1"/>
                </a:solidFill>
              </a:rPr>
              <a:t> Karl </a:t>
            </a:r>
            <a:r>
              <a:rPr lang="en-US" dirty="0" err="1">
                <a:solidFill>
                  <a:schemeClr val="tx1"/>
                </a:solidFill>
              </a:rPr>
              <a:t>Marx'ın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görüşlerini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temel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alan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siyasal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ekonomik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felsefisistemin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adıdır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tr-TR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•</a:t>
            </a:r>
            <a:r>
              <a:rPr lang="en-US" dirty="0" err="1">
                <a:solidFill>
                  <a:schemeClr val="tx1"/>
                </a:solidFill>
              </a:rPr>
              <a:t>Marksizm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b="1" dirty="0" err="1">
                <a:solidFill>
                  <a:schemeClr val="tx1"/>
                </a:solidFill>
              </a:rPr>
              <a:t>sınıflar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savaşımı</a:t>
            </a:r>
            <a:r>
              <a:rPr lang="en-US" dirty="0" err="1">
                <a:solidFill>
                  <a:schemeClr val="tx1"/>
                </a:solidFill>
              </a:rPr>
              <a:t>teorisini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ortaya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atan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savaşımın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zorunlu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sonucu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olarak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i="1" dirty="0" err="1">
                <a:solidFill>
                  <a:schemeClr val="tx1"/>
                </a:solidFill>
              </a:rPr>
              <a:t>proletarya</a:t>
            </a:r>
            <a:r>
              <a:rPr lang="en-US" b="1" i="1" dirty="0">
                <a:solidFill>
                  <a:schemeClr val="tx1"/>
                </a:solidFill>
              </a:rPr>
              <a:t> </a:t>
            </a:r>
            <a:r>
              <a:rPr lang="en-US" b="1" i="1" dirty="0" err="1">
                <a:solidFill>
                  <a:schemeClr val="tx1"/>
                </a:solidFill>
              </a:rPr>
              <a:t>diktatörlüğüne</a:t>
            </a:r>
            <a:r>
              <a:rPr lang="en-US" dirty="0" err="1">
                <a:solidFill>
                  <a:schemeClr val="tx1"/>
                </a:solidFill>
              </a:rPr>
              <a:t>ve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oradan</a:t>
            </a:r>
            <a:r>
              <a:rPr lang="en-US" dirty="0">
                <a:solidFill>
                  <a:schemeClr val="tx1"/>
                </a:solidFill>
              </a:rPr>
              <a:t> da </a:t>
            </a:r>
            <a:r>
              <a:rPr lang="en-US" dirty="0" err="1">
                <a:solidFill>
                  <a:schemeClr val="tx1"/>
                </a:solidFill>
              </a:rPr>
              <a:t>toplumsal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eşitlik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özgürlük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dünyası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i="1" dirty="0" err="1">
                <a:solidFill>
                  <a:schemeClr val="tx1"/>
                </a:solidFill>
              </a:rPr>
              <a:t>komünizme</a:t>
            </a:r>
            <a:r>
              <a:rPr lang="en-US" dirty="0" err="1">
                <a:solidFill>
                  <a:schemeClr val="tx1"/>
                </a:solidFill>
              </a:rPr>
              <a:t>varılacağını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öngören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bir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öğretidir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22194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5E060B6-DA31-7C2F-CA6C-32E450BE4F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828" y="391885"/>
            <a:ext cx="11019453" cy="6176865"/>
          </a:xfrm>
        </p:spPr>
        <p:txBody>
          <a:bodyPr/>
          <a:lstStyle/>
          <a:p>
            <a:endParaRPr lang="en-US" dirty="0"/>
          </a:p>
          <a:p>
            <a:endParaRPr lang="tr-TR" dirty="0"/>
          </a:p>
          <a:p>
            <a:r>
              <a:rPr lang="en-US" dirty="0" err="1">
                <a:solidFill>
                  <a:schemeClr val="tx1"/>
                </a:solidFill>
              </a:rPr>
              <a:t>Marksizm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varolan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geçmişte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varolmuş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olan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toplumlara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ilişkin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bir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analiz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özellikle</a:t>
            </a:r>
            <a:r>
              <a:rPr lang="en-US" b="1" dirty="0">
                <a:solidFill>
                  <a:schemeClr val="tx1"/>
                </a:solidFill>
              </a:rPr>
              <a:t> de </a:t>
            </a:r>
            <a:r>
              <a:rPr lang="en-US" b="1" dirty="0" err="1">
                <a:solidFill>
                  <a:schemeClr val="tx1"/>
                </a:solidFill>
              </a:rPr>
              <a:t>kapitalist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topluma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yönelik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bir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eleştiriden</a:t>
            </a:r>
            <a:r>
              <a:rPr lang="en-US" dirty="0" err="1">
                <a:solidFill>
                  <a:schemeClr val="tx1"/>
                </a:solidFill>
              </a:rPr>
              <a:t>meydana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gelir</a:t>
            </a:r>
            <a:r>
              <a:rPr lang="en-US" dirty="0">
                <a:solidFill>
                  <a:schemeClr val="tx1"/>
                </a:solidFill>
              </a:rPr>
              <a:t>. </a:t>
            </a:r>
            <a:endParaRPr lang="tr-TR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•</a:t>
            </a:r>
            <a:r>
              <a:rPr lang="en-US" dirty="0" err="1">
                <a:solidFill>
                  <a:schemeClr val="tx1"/>
                </a:solidFill>
              </a:rPr>
              <a:t>Marksizmin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analizi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toplumsal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değişme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gelişmeyi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açıklarken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varolan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tüm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etkenler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arasında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b="1" dirty="0" err="1">
                <a:solidFill>
                  <a:schemeClr val="tx1"/>
                </a:solidFill>
              </a:rPr>
              <a:t>ekonomi</a:t>
            </a:r>
            <a:r>
              <a:rPr lang="en-US" dirty="0" err="1">
                <a:solidFill>
                  <a:schemeClr val="tx1"/>
                </a:solidFill>
              </a:rPr>
              <a:t>etkenine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özel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bir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önem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ağırlık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verir</a:t>
            </a:r>
            <a:r>
              <a:rPr lang="en-US" dirty="0">
                <a:solidFill>
                  <a:schemeClr val="tx1"/>
                </a:solidFill>
              </a:rPr>
              <a:t>. </a:t>
            </a:r>
            <a:endParaRPr lang="tr-TR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•</a:t>
            </a:r>
            <a:r>
              <a:rPr lang="en-US" dirty="0" err="1">
                <a:solidFill>
                  <a:schemeClr val="tx1"/>
                </a:solidFill>
              </a:rPr>
              <a:t>Sömürüye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dayanan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sınıflara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ayrılmış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bir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toplum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düzenine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alternatif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olarak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sınıfsız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bir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toplum</a:t>
            </a:r>
            <a:r>
              <a:rPr lang="en-US" dirty="0" err="1">
                <a:solidFill>
                  <a:schemeClr val="tx1"/>
                </a:solidFill>
              </a:rPr>
              <a:t>modeli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önerisinde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bulunur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79341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413BE33-CDE1-2E76-56D7-ACDCDE158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482" y="737118"/>
            <a:ext cx="10898155" cy="5311130"/>
          </a:xfrm>
        </p:spPr>
        <p:txBody>
          <a:bodyPr/>
          <a:lstStyle/>
          <a:p>
            <a:endParaRPr lang="tr-TR" dirty="0"/>
          </a:p>
          <a:p>
            <a:r>
              <a:rPr lang="en-US" dirty="0"/>
              <a:t>Temel </a:t>
            </a:r>
            <a:r>
              <a:rPr lang="en-US" dirty="0" err="1"/>
              <a:t>Kavramlar</a:t>
            </a:r>
            <a:endParaRPr lang="tr-TR" dirty="0"/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•</a:t>
            </a:r>
            <a:r>
              <a:rPr lang="en-US" dirty="0" err="1">
                <a:solidFill>
                  <a:schemeClr val="tx1"/>
                </a:solidFill>
              </a:rPr>
              <a:t>Materyalizm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•</a:t>
            </a:r>
            <a:r>
              <a:rPr lang="en-US" dirty="0" err="1">
                <a:solidFill>
                  <a:schemeClr val="tx1"/>
                </a:solidFill>
              </a:rPr>
              <a:t>Proleterya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•</a:t>
            </a:r>
            <a:r>
              <a:rPr lang="en-US" dirty="0" err="1">
                <a:solidFill>
                  <a:schemeClr val="tx1"/>
                </a:solidFill>
              </a:rPr>
              <a:t>Burjuvazi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•</a:t>
            </a:r>
            <a:r>
              <a:rPr lang="en-US" dirty="0" err="1">
                <a:solidFill>
                  <a:schemeClr val="tx1"/>
                </a:solidFill>
              </a:rPr>
              <a:t>Diyalektik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•</a:t>
            </a:r>
            <a:r>
              <a:rPr lang="en-US" dirty="0" err="1">
                <a:solidFill>
                  <a:schemeClr val="tx1"/>
                </a:solidFill>
              </a:rPr>
              <a:t>Sınıf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çatışması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•Devlet</a:t>
            </a:r>
          </a:p>
          <a:p>
            <a:r>
              <a:rPr lang="en-US" dirty="0">
                <a:solidFill>
                  <a:schemeClr val="tx1"/>
                </a:solidFill>
              </a:rPr>
              <a:t>•</a:t>
            </a:r>
            <a:r>
              <a:rPr lang="en-US" dirty="0" err="1">
                <a:solidFill>
                  <a:schemeClr val="tx1"/>
                </a:solidFill>
              </a:rPr>
              <a:t>Sosyalizm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•</a:t>
            </a:r>
            <a:r>
              <a:rPr lang="en-US" dirty="0" err="1">
                <a:solidFill>
                  <a:schemeClr val="tx1"/>
                </a:solidFill>
              </a:rPr>
              <a:t>Komünizm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8732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A484A4-75D4-E03A-D09C-9BB82281F8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968" y="970384"/>
            <a:ext cx="10524930" cy="5617028"/>
          </a:xfrm>
        </p:spPr>
        <p:txBody>
          <a:bodyPr/>
          <a:lstStyle/>
          <a:p>
            <a:endParaRPr lang="tr-TR" b="1" dirty="0"/>
          </a:p>
          <a:p>
            <a:r>
              <a:rPr lang="tr-TR" b="1" dirty="0"/>
              <a:t>   </a:t>
            </a:r>
            <a:r>
              <a:rPr lang="en-US" b="1" dirty="0" err="1"/>
              <a:t>Materyalizm</a:t>
            </a:r>
            <a:endParaRPr lang="tr-TR" b="1" dirty="0"/>
          </a:p>
          <a:p>
            <a:endParaRPr lang="en-US" dirty="0"/>
          </a:p>
          <a:p>
            <a:r>
              <a:rPr lang="en-US" b="1" dirty="0">
                <a:solidFill>
                  <a:schemeClr val="tx1"/>
                </a:solidFill>
              </a:rPr>
              <a:t>* Doğru </a:t>
            </a:r>
            <a:r>
              <a:rPr lang="en-US" b="1" dirty="0" err="1">
                <a:solidFill>
                  <a:schemeClr val="tx1"/>
                </a:solidFill>
              </a:rPr>
              <a:t>bilginin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kaynağı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madde</a:t>
            </a:r>
            <a:r>
              <a:rPr lang="en-US" b="1" dirty="0">
                <a:solidFill>
                  <a:schemeClr val="tx1"/>
                </a:solidFill>
              </a:rPr>
              <a:t>, </a:t>
            </a:r>
            <a:r>
              <a:rPr lang="en-US" b="1" dirty="0" err="1">
                <a:solidFill>
                  <a:schemeClr val="tx1"/>
                </a:solidFill>
              </a:rPr>
              <a:t>çelişki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ve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değişme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*Doğru </a:t>
            </a:r>
            <a:r>
              <a:rPr lang="en-US" b="1" dirty="0" err="1">
                <a:solidFill>
                  <a:schemeClr val="tx1"/>
                </a:solidFill>
              </a:rPr>
              <a:t>bilgi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duyu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organlarıyla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elde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edilir</a:t>
            </a:r>
            <a:r>
              <a:rPr lang="en-US" b="1" dirty="0">
                <a:solidFill>
                  <a:schemeClr val="tx1"/>
                </a:solidFill>
              </a:rPr>
              <a:t>. 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*</a:t>
            </a:r>
            <a:r>
              <a:rPr lang="en-US" b="1" dirty="0" err="1">
                <a:solidFill>
                  <a:schemeClr val="tx1"/>
                </a:solidFill>
              </a:rPr>
              <a:t>Doğal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olguların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temel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nedeni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madde</a:t>
            </a:r>
            <a:r>
              <a:rPr lang="en-US" b="1" dirty="0">
                <a:solidFill>
                  <a:schemeClr val="tx1"/>
                </a:solidFill>
              </a:rPr>
              <a:t>, </a:t>
            </a:r>
            <a:r>
              <a:rPr lang="en-US" b="1" dirty="0" err="1">
                <a:solidFill>
                  <a:schemeClr val="tx1"/>
                </a:solidFill>
              </a:rPr>
              <a:t>maddedeki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çelişki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ve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onun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tr-TR" b="1" dirty="0">
                <a:solidFill>
                  <a:schemeClr val="tx1"/>
                </a:solidFill>
              </a:rPr>
              <a:t>  </a:t>
            </a:r>
            <a:r>
              <a:rPr lang="en-US" b="1" dirty="0" err="1">
                <a:solidFill>
                  <a:schemeClr val="tx1"/>
                </a:solidFill>
              </a:rPr>
              <a:t>doğurduğu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değişmedir</a:t>
            </a:r>
            <a:r>
              <a:rPr lang="en-US" b="1" dirty="0">
                <a:solidFill>
                  <a:schemeClr val="tx1"/>
                </a:solidFill>
              </a:rPr>
              <a:t>.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51105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E8B331B-BBA6-5AEF-3D61-CD949A5CF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3935" y="638141"/>
            <a:ext cx="10972800" cy="6051908"/>
          </a:xfrm>
        </p:spPr>
        <p:txBody>
          <a:bodyPr/>
          <a:lstStyle/>
          <a:p>
            <a:endParaRPr lang="tr-TR" sz="3200" b="1" i="0" u="none" strike="noStrike" baseline="0" dirty="0">
              <a:solidFill>
                <a:srgbClr val="000099"/>
              </a:solidFill>
              <a:latin typeface="Arial" panose="020B0604020202020204" pitchFamily="34" charset="0"/>
            </a:endParaRPr>
          </a:p>
          <a:p>
            <a:endParaRPr lang="tr-TR" sz="3200" b="1" i="0" u="none" strike="noStrike" baseline="0" dirty="0">
              <a:solidFill>
                <a:srgbClr val="000099"/>
              </a:solidFill>
              <a:latin typeface="Arial" panose="020B0604020202020204" pitchFamily="34" charset="0"/>
            </a:endParaRPr>
          </a:p>
          <a:p>
            <a:r>
              <a:rPr lang="en-US" sz="3200" b="1" i="0" u="none" strike="noStrike" baseline="0" dirty="0" err="1">
                <a:solidFill>
                  <a:srgbClr val="000099"/>
                </a:solidFill>
                <a:latin typeface="Arial" panose="020B0604020202020204" pitchFamily="34" charset="0"/>
              </a:rPr>
              <a:t>Proletarya</a:t>
            </a:r>
            <a:endParaRPr lang="tr-TR" sz="3200" b="1" dirty="0">
              <a:solidFill>
                <a:srgbClr val="000099"/>
              </a:solidFill>
              <a:latin typeface="Arial" panose="020B0604020202020204" pitchFamily="34" charset="0"/>
            </a:endParaRPr>
          </a:p>
          <a:p>
            <a:endParaRPr lang="en-US" sz="3200" b="0" i="0" u="none" strike="noStrike" baseline="0" dirty="0">
              <a:solidFill>
                <a:srgbClr val="000099"/>
              </a:solidFill>
              <a:latin typeface="Arial" panose="020B0604020202020204" pitchFamily="34" charset="0"/>
            </a:endParaRPr>
          </a:p>
          <a:p>
            <a:r>
              <a:rPr lang="en-US" sz="2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•</a:t>
            </a:r>
            <a:r>
              <a:rPr lang="en-US" sz="2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İşçi</a:t>
            </a:r>
            <a:r>
              <a:rPr lang="en-US" sz="2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sınıfını</a:t>
            </a:r>
            <a:r>
              <a:rPr lang="en-US" sz="2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tanımlamak</a:t>
            </a:r>
            <a:r>
              <a:rPr lang="en-US" sz="2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için</a:t>
            </a:r>
            <a:r>
              <a:rPr lang="en-US" sz="2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kullanılan</a:t>
            </a:r>
            <a:r>
              <a:rPr lang="en-US" sz="2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sosyolojik</a:t>
            </a:r>
            <a:r>
              <a:rPr lang="en-US" sz="2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terimdir</a:t>
            </a:r>
            <a:r>
              <a:rPr lang="en-US" sz="2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•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Proletarya</a:t>
            </a:r>
            <a:r>
              <a:rPr lang="tr-TR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üretim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araçlarına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sahip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olmayan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sınıfın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adıdır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•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Proleter</a:t>
            </a:r>
            <a:r>
              <a:rPr lang="tr-TR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ücret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karşılığı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çalışan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işçidir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60341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92AB0AC-5182-07F0-8ED7-E711F6085A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2596" y="550506"/>
            <a:ext cx="10300995" cy="5497742"/>
          </a:xfrm>
        </p:spPr>
        <p:txBody>
          <a:bodyPr/>
          <a:lstStyle/>
          <a:p>
            <a:endParaRPr lang="tr-TR" dirty="0"/>
          </a:p>
          <a:p>
            <a:r>
              <a:rPr lang="tr-TR" dirty="0"/>
              <a:t>   </a:t>
            </a:r>
            <a:r>
              <a:rPr lang="en-US" sz="3200" dirty="0" err="1"/>
              <a:t>Burjuvazi</a:t>
            </a:r>
            <a:endParaRPr lang="tr-TR" sz="3200" dirty="0"/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•</a:t>
            </a:r>
            <a:r>
              <a:rPr lang="en-US" dirty="0" err="1">
                <a:solidFill>
                  <a:schemeClr val="tx1"/>
                </a:solidFill>
              </a:rPr>
              <a:t>Üretim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araçlarını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ellerinde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bulunduranlarla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çıkarları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bunlarla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özdeş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olanların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oluşturduğu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toplumsal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sınıf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tr-TR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•</a:t>
            </a:r>
            <a:r>
              <a:rPr lang="en-US" dirty="0" err="1">
                <a:solidFill>
                  <a:schemeClr val="tx1"/>
                </a:solidFill>
              </a:rPr>
              <a:t>Burjuvazi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kapitalist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toplumun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egemen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sınıfıdır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tr-TR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•</a:t>
            </a:r>
            <a:r>
              <a:rPr lang="en-US" dirty="0" err="1">
                <a:solidFill>
                  <a:schemeClr val="tx1"/>
                </a:solidFill>
              </a:rPr>
              <a:t>İşçinin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emeğinden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başka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satacak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hiçbir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şeyi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olmamasına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karşın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burjuvazi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üretim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araçlarının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üretim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aletlerinin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fabrikaların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toprak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zenginliklerinin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sahibidir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92622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119BF99-B408-BA91-ED06-6D417B32B7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41" y="550506"/>
            <a:ext cx="8873412" cy="5497742"/>
          </a:xfrm>
        </p:spPr>
        <p:txBody>
          <a:bodyPr/>
          <a:lstStyle/>
          <a:p>
            <a:r>
              <a:rPr lang="tr-TR" dirty="0"/>
              <a:t>  </a:t>
            </a:r>
          </a:p>
          <a:p>
            <a:r>
              <a:rPr lang="tr-TR" dirty="0"/>
              <a:t> </a:t>
            </a:r>
            <a:r>
              <a:rPr lang="en-US" dirty="0" err="1">
                <a:solidFill>
                  <a:schemeClr val="tx1"/>
                </a:solidFill>
              </a:rPr>
              <a:t>Diyalektik</a:t>
            </a:r>
            <a:endParaRPr lang="tr-TR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•</a:t>
            </a:r>
            <a:r>
              <a:rPr lang="en-US" dirty="0" err="1">
                <a:solidFill>
                  <a:schemeClr val="tx1"/>
                </a:solidFill>
              </a:rPr>
              <a:t>Kavramlar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arasındaki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karşıtlık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ilişkisinden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yola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çıkarak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bunu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doğru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bilgiye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varmada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bir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ilke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olarak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kullanan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düşünme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araştırma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yolu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tr-TR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•</a:t>
            </a:r>
            <a:r>
              <a:rPr lang="en-US" b="1" dirty="0">
                <a:solidFill>
                  <a:schemeClr val="tx1"/>
                </a:solidFill>
              </a:rPr>
              <a:t>Herakleitos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 err="1">
                <a:solidFill>
                  <a:schemeClr val="tx1"/>
                </a:solidFill>
              </a:rPr>
              <a:t>Şeylerin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karşıtlarından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yola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çıkarak</a:t>
            </a:r>
            <a:r>
              <a:rPr lang="en-US" dirty="0">
                <a:solidFill>
                  <a:schemeClr val="tx1"/>
                </a:solidFill>
              </a:rPr>
              <a:t> var </a:t>
            </a:r>
            <a:r>
              <a:rPr lang="en-US" dirty="0" err="1">
                <a:solidFill>
                  <a:schemeClr val="tx1"/>
                </a:solidFill>
              </a:rPr>
              <a:t>olmaları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ve</a:t>
            </a:r>
            <a:r>
              <a:rPr lang="en-US" dirty="0">
                <a:solidFill>
                  <a:schemeClr val="tx1"/>
                </a:solidFill>
              </a:rPr>
              <a:t> gene </a:t>
            </a:r>
            <a:r>
              <a:rPr lang="en-US" dirty="0" err="1">
                <a:solidFill>
                  <a:schemeClr val="tx1"/>
                </a:solidFill>
              </a:rPr>
              <a:t>karşıtları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içinde</a:t>
            </a:r>
            <a:r>
              <a:rPr lang="en-US" dirty="0">
                <a:solidFill>
                  <a:schemeClr val="tx1"/>
                </a:solidFill>
              </a:rPr>
              <a:t> yok </a:t>
            </a:r>
            <a:r>
              <a:rPr lang="en-US" dirty="0" err="1">
                <a:solidFill>
                  <a:schemeClr val="tx1"/>
                </a:solidFill>
              </a:rPr>
              <a:t>olmaları</a:t>
            </a:r>
            <a:r>
              <a:rPr lang="en-US" dirty="0">
                <a:solidFill>
                  <a:schemeClr val="tx1"/>
                </a:solidFill>
              </a:rPr>
              <a:t>. </a:t>
            </a:r>
            <a:r>
              <a:rPr lang="en-US" dirty="0" err="1">
                <a:solidFill>
                  <a:schemeClr val="tx1"/>
                </a:solidFill>
              </a:rPr>
              <a:t>Değişmeyen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tek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şey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değişimdir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tr-TR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•</a:t>
            </a:r>
            <a:r>
              <a:rPr lang="en-US" b="1" dirty="0">
                <a:solidFill>
                  <a:schemeClr val="tx1"/>
                </a:solidFill>
              </a:rPr>
              <a:t>Sokrates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 err="1">
                <a:solidFill>
                  <a:schemeClr val="tx1"/>
                </a:solidFill>
              </a:rPr>
              <a:t>Diyalektiği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bir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yöntem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olarak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kullandı</a:t>
            </a:r>
            <a:r>
              <a:rPr lang="en-US" dirty="0">
                <a:solidFill>
                  <a:schemeClr val="tx1"/>
                </a:solidFill>
              </a:rPr>
              <a:t>. Karşılıklı </a:t>
            </a:r>
            <a:r>
              <a:rPr lang="en-US" dirty="0" err="1">
                <a:solidFill>
                  <a:schemeClr val="tx1"/>
                </a:solidFill>
              </a:rPr>
              <a:t>soru-yanıt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yoluyla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kavramlara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açıklık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getirme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yöntemi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8761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A5B16B-3FAB-A288-6B2C-8BE2CC94BA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796" y="690465"/>
            <a:ext cx="10338317" cy="5812972"/>
          </a:xfrm>
        </p:spPr>
        <p:txBody>
          <a:bodyPr/>
          <a:lstStyle/>
          <a:p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</a:rPr>
              <a:t>Hegel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 err="1">
                <a:solidFill>
                  <a:schemeClr val="tx1"/>
                </a:solidFill>
              </a:rPr>
              <a:t>Gerçekleri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oluşturan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kavramların</a:t>
            </a:r>
            <a:r>
              <a:rPr lang="en-US" dirty="0">
                <a:solidFill>
                  <a:schemeClr val="tx1"/>
                </a:solidFill>
              </a:rPr>
              <a:t> her </a:t>
            </a:r>
            <a:r>
              <a:rPr lang="en-US" dirty="0" err="1">
                <a:solidFill>
                  <a:schemeClr val="tx1"/>
                </a:solidFill>
              </a:rPr>
              <a:t>biri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karşıtını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kendi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içinde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taşır</a:t>
            </a:r>
            <a:r>
              <a:rPr lang="en-US" dirty="0">
                <a:solidFill>
                  <a:schemeClr val="tx1"/>
                </a:solidFill>
              </a:rPr>
              <a:t>. </a:t>
            </a:r>
            <a:r>
              <a:rPr lang="en-US" dirty="0" err="1">
                <a:solidFill>
                  <a:schemeClr val="tx1"/>
                </a:solidFill>
              </a:rPr>
              <a:t>Düşünce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bir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kavramdan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en-US" dirty="0" err="1">
                <a:solidFill>
                  <a:schemeClr val="tx1"/>
                </a:solidFill>
              </a:rPr>
              <a:t>tez</a:t>
            </a:r>
            <a:r>
              <a:rPr lang="en-US" dirty="0">
                <a:solidFill>
                  <a:schemeClr val="tx1"/>
                </a:solidFill>
              </a:rPr>
              <a:t>) </a:t>
            </a:r>
            <a:r>
              <a:rPr lang="en-US" dirty="0" err="1">
                <a:solidFill>
                  <a:schemeClr val="tx1"/>
                </a:solidFill>
              </a:rPr>
              <a:t>onun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içindeki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karşıtına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en-US" dirty="0" err="1">
                <a:solidFill>
                  <a:schemeClr val="tx1"/>
                </a:solidFill>
              </a:rPr>
              <a:t>antitez</a:t>
            </a:r>
            <a:r>
              <a:rPr lang="en-US" dirty="0">
                <a:solidFill>
                  <a:schemeClr val="tx1"/>
                </a:solidFill>
              </a:rPr>
              <a:t>) </a:t>
            </a:r>
            <a:r>
              <a:rPr lang="en-US" dirty="0" err="1">
                <a:solidFill>
                  <a:schemeClr val="tx1"/>
                </a:solidFill>
              </a:rPr>
              <a:t>bundan</a:t>
            </a:r>
            <a:r>
              <a:rPr lang="en-US" dirty="0">
                <a:solidFill>
                  <a:schemeClr val="tx1"/>
                </a:solidFill>
              </a:rPr>
              <a:t> da </a:t>
            </a:r>
            <a:r>
              <a:rPr lang="en-US" dirty="0" err="1">
                <a:solidFill>
                  <a:schemeClr val="tx1"/>
                </a:solidFill>
              </a:rPr>
              <a:t>yeniden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karşıtına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en-US" dirty="0" err="1">
                <a:solidFill>
                  <a:schemeClr val="tx1"/>
                </a:solidFill>
              </a:rPr>
              <a:t>yani</a:t>
            </a:r>
            <a:r>
              <a:rPr lang="en-US" dirty="0">
                <a:solidFill>
                  <a:schemeClr val="tx1"/>
                </a:solidFill>
              </a:rPr>
              <a:t> ilk </a:t>
            </a:r>
            <a:r>
              <a:rPr lang="en-US" dirty="0" err="1">
                <a:solidFill>
                  <a:schemeClr val="tx1"/>
                </a:solidFill>
              </a:rPr>
              <a:t>kavrama</a:t>
            </a:r>
            <a:r>
              <a:rPr lang="en-US" dirty="0">
                <a:solidFill>
                  <a:schemeClr val="tx1"/>
                </a:solidFill>
              </a:rPr>
              <a:t>) </a:t>
            </a:r>
            <a:r>
              <a:rPr lang="en-US" dirty="0" err="1">
                <a:solidFill>
                  <a:schemeClr val="tx1"/>
                </a:solidFill>
              </a:rPr>
              <a:t>dönmekle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diyalektik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hareket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içinde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iki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kavramın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birliğini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oluşturan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üçüncü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kavrama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en-US" dirty="0" err="1">
                <a:solidFill>
                  <a:schemeClr val="tx1"/>
                </a:solidFill>
              </a:rPr>
              <a:t>sentez</a:t>
            </a:r>
            <a:r>
              <a:rPr lang="en-US" dirty="0">
                <a:solidFill>
                  <a:schemeClr val="tx1"/>
                </a:solidFill>
              </a:rPr>
              <a:t>) </a:t>
            </a:r>
            <a:r>
              <a:rPr lang="en-US" dirty="0" err="1">
                <a:solidFill>
                  <a:schemeClr val="tx1"/>
                </a:solidFill>
              </a:rPr>
              <a:t>ulaşır</a:t>
            </a:r>
            <a:r>
              <a:rPr lang="en-US" dirty="0">
                <a:solidFill>
                  <a:schemeClr val="tx1"/>
                </a:solidFill>
              </a:rPr>
              <a:t>. </a:t>
            </a:r>
            <a:endParaRPr lang="tr-TR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tr-TR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Bu </a:t>
            </a:r>
            <a:r>
              <a:rPr lang="en-US" dirty="0" err="1">
                <a:solidFill>
                  <a:schemeClr val="tx1"/>
                </a:solidFill>
              </a:rPr>
              <a:t>süreç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düşüncenin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kendisini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kavramasını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sağlayan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bilinç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içeriğini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artırır</a:t>
            </a:r>
            <a:r>
              <a:rPr lang="en-US" dirty="0">
                <a:solidFill>
                  <a:schemeClr val="tx1"/>
                </a:solidFill>
              </a:rPr>
              <a:t>. </a:t>
            </a:r>
            <a:r>
              <a:rPr lang="en-US" dirty="0" err="1">
                <a:solidFill>
                  <a:schemeClr val="tx1"/>
                </a:solidFill>
              </a:rPr>
              <a:t>Hegel’e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göre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diyalektik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varlığı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belirleyen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düşüncenin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kendi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süreci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olduğu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gibi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DÜNYA</a:t>
            </a:r>
            <a:r>
              <a:rPr lang="en-US" dirty="0" err="1">
                <a:solidFill>
                  <a:schemeClr val="tx1"/>
                </a:solidFill>
              </a:rPr>
              <a:t>tarihinin</a:t>
            </a:r>
            <a:r>
              <a:rPr lang="en-US" dirty="0">
                <a:solidFill>
                  <a:schemeClr val="tx1"/>
                </a:solidFill>
              </a:rPr>
              <a:t> de </a:t>
            </a:r>
            <a:r>
              <a:rPr lang="en-US" dirty="0" err="1">
                <a:solidFill>
                  <a:schemeClr val="tx1"/>
                </a:solidFill>
              </a:rPr>
              <a:t>oluşum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ilkesidir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43046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5BDCAFD-E59D-52B4-A3F8-3522FDFF65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765109"/>
            <a:ext cx="10562252" cy="5775649"/>
          </a:xfrm>
        </p:spPr>
        <p:txBody>
          <a:bodyPr/>
          <a:lstStyle/>
          <a:p>
            <a:endParaRPr lang="en-US" dirty="0"/>
          </a:p>
          <a:p>
            <a:endParaRPr lang="tr-TR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Marks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 err="1">
                <a:solidFill>
                  <a:schemeClr val="tx1"/>
                </a:solidFill>
              </a:rPr>
              <a:t>Diyalektik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tarihsel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bir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süreçtir</a:t>
            </a:r>
            <a:r>
              <a:rPr lang="en-US" dirty="0">
                <a:solidFill>
                  <a:schemeClr val="tx1"/>
                </a:solidFill>
              </a:rPr>
              <a:t>; </a:t>
            </a:r>
            <a:r>
              <a:rPr lang="en-US" dirty="0" err="1">
                <a:solidFill>
                  <a:schemeClr val="tx1"/>
                </a:solidFill>
              </a:rPr>
              <a:t>ekonomik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temelli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bazı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toplumsal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oluşumların</a:t>
            </a:r>
            <a:r>
              <a:rPr lang="en-US" dirty="0">
                <a:solidFill>
                  <a:schemeClr val="tx1"/>
                </a:solidFill>
              </a:rPr>
              <a:t> zaman </a:t>
            </a:r>
            <a:r>
              <a:rPr lang="en-US" dirty="0" err="1">
                <a:solidFill>
                  <a:schemeClr val="tx1"/>
                </a:solidFill>
              </a:rPr>
              <a:t>içinde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karşıtlarını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üretmeleri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karşıtların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giderek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çatışmaya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dönüşmesiyle</a:t>
            </a:r>
            <a:r>
              <a:rPr lang="en-US" dirty="0">
                <a:solidFill>
                  <a:schemeClr val="tx1"/>
                </a:solidFill>
              </a:rPr>
              <a:t> de yeni </a:t>
            </a:r>
            <a:r>
              <a:rPr lang="en-US" dirty="0" err="1">
                <a:solidFill>
                  <a:schemeClr val="tx1"/>
                </a:solidFill>
              </a:rPr>
              <a:t>oluşumun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etkisini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ortadan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kaldırması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biçiminde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yürür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tr-TR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•Hem </a:t>
            </a:r>
            <a:r>
              <a:rPr lang="en-US" dirty="0" err="1">
                <a:solidFill>
                  <a:schemeClr val="tx1"/>
                </a:solidFill>
              </a:rPr>
              <a:t>doğada</a:t>
            </a:r>
            <a:r>
              <a:rPr lang="en-US" dirty="0">
                <a:solidFill>
                  <a:schemeClr val="tx1"/>
                </a:solidFill>
              </a:rPr>
              <a:t>, hem de </a:t>
            </a:r>
            <a:r>
              <a:rPr lang="en-US" dirty="0" err="1">
                <a:solidFill>
                  <a:schemeClr val="tx1"/>
                </a:solidFill>
              </a:rPr>
              <a:t>sosyal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düzende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diyalektik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süreçler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hakimdir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86874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FF5922A-BA8C-305F-C652-1B995C841E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208" y="298580"/>
            <a:ext cx="10711543" cy="5749668"/>
          </a:xfrm>
        </p:spPr>
        <p:txBody>
          <a:bodyPr/>
          <a:lstStyle/>
          <a:p>
            <a:endParaRPr lang="tr-TR" dirty="0"/>
          </a:p>
          <a:p>
            <a:r>
              <a:rPr lang="tr-TR" dirty="0">
                <a:solidFill>
                  <a:schemeClr val="tx1"/>
                </a:solidFill>
              </a:rPr>
              <a:t>   </a:t>
            </a:r>
            <a:r>
              <a:rPr lang="en-US" sz="2800" b="1" dirty="0" err="1">
                <a:solidFill>
                  <a:schemeClr val="tx1"/>
                </a:solidFill>
              </a:rPr>
              <a:t>Diyalektiğin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Yasaları</a:t>
            </a:r>
            <a:endParaRPr lang="tr-TR" sz="2800" b="1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Yasa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 err="1">
                <a:solidFill>
                  <a:schemeClr val="tx1"/>
                </a:solidFill>
              </a:rPr>
              <a:t>Hiç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bir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şey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varken</a:t>
            </a:r>
            <a:r>
              <a:rPr lang="en-US" dirty="0">
                <a:solidFill>
                  <a:schemeClr val="tx1"/>
                </a:solidFill>
              </a:rPr>
              <a:t> yok </a:t>
            </a:r>
            <a:r>
              <a:rPr lang="en-US" dirty="0" err="1">
                <a:solidFill>
                  <a:schemeClr val="tx1"/>
                </a:solidFill>
              </a:rPr>
              <a:t>olamaz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yoktan</a:t>
            </a:r>
            <a:r>
              <a:rPr lang="en-US" dirty="0">
                <a:solidFill>
                  <a:schemeClr val="tx1"/>
                </a:solidFill>
              </a:rPr>
              <a:t> var </a:t>
            </a:r>
            <a:r>
              <a:rPr lang="en-US" dirty="0" err="1">
                <a:solidFill>
                  <a:schemeClr val="tx1"/>
                </a:solidFill>
              </a:rPr>
              <a:t>olamaz</a:t>
            </a:r>
            <a:r>
              <a:rPr lang="en-US" dirty="0">
                <a:solidFill>
                  <a:schemeClr val="tx1"/>
                </a:solidFill>
              </a:rPr>
              <a:t>. </a:t>
            </a:r>
            <a:endParaRPr lang="tr-TR" dirty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2. Yasa</a:t>
            </a:r>
            <a:r>
              <a:rPr lang="en-US" dirty="0">
                <a:solidFill>
                  <a:schemeClr val="tx1"/>
                </a:solidFill>
              </a:rPr>
              <a:t>: Her </a:t>
            </a:r>
            <a:r>
              <a:rPr lang="en-US" dirty="0" err="1">
                <a:solidFill>
                  <a:schemeClr val="tx1"/>
                </a:solidFill>
              </a:rPr>
              <a:t>şey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birbirine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bağlıdır</a:t>
            </a:r>
            <a:r>
              <a:rPr lang="en-US" dirty="0">
                <a:solidFill>
                  <a:schemeClr val="tx1"/>
                </a:solidFill>
              </a:rPr>
              <a:t>. </a:t>
            </a:r>
            <a:r>
              <a:rPr lang="en-US" dirty="0" err="1">
                <a:solidFill>
                  <a:schemeClr val="tx1"/>
                </a:solidFill>
              </a:rPr>
              <a:t>Gelişmeler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bir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zincirin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halkaları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gibidir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bu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gelişmeleri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kavramak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için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parçalara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bölmek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anlamaya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çalışmak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olanaklı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değildir</a:t>
            </a:r>
            <a:r>
              <a:rPr lang="en-US" dirty="0">
                <a:solidFill>
                  <a:schemeClr val="tx1"/>
                </a:solidFill>
              </a:rPr>
              <a:t>. </a:t>
            </a:r>
            <a:endParaRPr lang="tr-TR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3. Yasa</a:t>
            </a:r>
            <a:r>
              <a:rPr lang="en-US" dirty="0">
                <a:solidFill>
                  <a:schemeClr val="tx1"/>
                </a:solidFill>
              </a:rPr>
              <a:t>: Her </a:t>
            </a:r>
            <a:r>
              <a:rPr lang="en-US" dirty="0" err="1">
                <a:solidFill>
                  <a:schemeClr val="tx1"/>
                </a:solidFill>
              </a:rPr>
              <a:t>şey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değişme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halindedir</a:t>
            </a:r>
            <a:r>
              <a:rPr lang="en-US" dirty="0">
                <a:solidFill>
                  <a:schemeClr val="tx1"/>
                </a:solidFill>
              </a:rPr>
              <a:t>. </a:t>
            </a:r>
            <a:r>
              <a:rPr lang="en-US" dirty="0" err="1">
                <a:solidFill>
                  <a:schemeClr val="tx1"/>
                </a:solidFill>
              </a:rPr>
              <a:t>Hiç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bir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şey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durağan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olduğu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yerde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değildir</a:t>
            </a:r>
            <a:r>
              <a:rPr lang="en-US" dirty="0">
                <a:solidFill>
                  <a:schemeClr val="tx1"/>
                </a:solidFill>
              </a:rPr>
              <a:t>. </a:t>
            </a:r>
            <a:r>
              <a:rPr lang="en-US" dirty="0" err="1">
                <a:solidFill>
                  <a:schemeClr val="tx1"/>
                </a:solidFill>
              </a:rPr>
              <a:t>Değişme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evrenseldir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gelişme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ise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devamlıdır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288512304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99C0426-8A2E-2F5C-759D-4F2550DA66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894" y="615820"/>
            <a:ext cx="9946433" cy="5432428"/>
          </a:xfrm>
        </p:spPr>
        <p:txBody>
          <a:bodyPr/>
          <a:lstStyle/>
          <a:p>
            <a:endParaRPr lang="tr-TR" dirty="0"/>
          </a:p>
          <a:p>
            <a:endParaRPr lang="tr-TR" dirty="0"/>
          </a:p>
          <a:p>
            <a:r>
              <a:rPr lang="en-US" b="1" dirty="0" err="1"/>
              <a:t>Diyalektik</a:t>
            </a:r>
            <a:r>
              <a:rPr lang="en-US" b="1" dirty="0"/>
              <a:t> </a:t>
            </a:r>
            <a:r>
              <a:rPr lang="en-US" b="1" dirty="0" err="1"/>
              <a:t>Materyalizm</a:t>
            </a:r>
            <a:r>
              <a:rPr lang="en-US" b="1" dirty="0"/>
              <a:t> </a:t>
            </a:r>
            <a:endParaRPr lang="tr-TR" b="1" dirty="0"/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•</a:t>
            </a:r>
            <a:r>
              <a:rPr lang="en-US" dirty="0" err="1">
                <a:solidFill>
                  <a:schemeClr val="tx1"/>
                </a:solidFill>
              </a:rPr>
              <a:t>Tarihin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görünen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olaylarının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olgularının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arkasında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görünmeyen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yapı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mekanizmalar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vardır</a:t>
            </a:r>
            <a:r>
              <a:rPr lang="en-US" dirty="0">
                <a:solidFill>
                  <a:schemeClr val="tx1"/>
                </a:solidFill>
              </a:rPr>
              <a:t>. </a:t>
            </a:r>
            <a:endParaRPr lang="tr-TR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•</a:t>
            </a:r>
            <a:r>
              <a:rPr lang="en-US" dirty="0" err="1">
                <a:solidFill>
                  <a:schemeClr val="tx1"/>
                </a:solidFill>
              </a:rPr>
              <a:t>Yüzeysel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olguların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arkasında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yatan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asıl</a:t>
            </a:r>
            <a:r>
              <a:rPr lang="en-US" dirty="0">
                <a:solidFill>
                  <a:schemeClr val="tx1"/>
                </a:solidFill>
              </a:rPr>
              <a:t> “</a:t>
            </a:r>
            <a:r>
              <a:rPr lang="en-US" dirty="0" err="1">
                <a:solidFill>
                  <a:schemeClr val="tx1"/>
                </a:solidFill>
              </a:rPr>
              <a:t>gerçeği</a:t>
            </a:r>
            <a:r>
              <a:rPr lang="en-US" dirty="0">
                <a:solidFill>
                  <a:schemeClr val="tx1"/>
                </a:solidFill>
              </a:rPr>
              <a:t>” </a:t>
            </a:r>
            <a:r>
              <a:rPr lang="en-US" dirty="0" err="1">
                <a:solidFill>
                  <a:schemeClr val="tx1"/>
                </a:solidFill>
              </a:rPr>
              <a:t>ortaya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çıkaracak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olan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yöntem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b="1" dirty="0" err="1">
                <a:solidFill>
                  <a:schemeClr val="tx1"/>
                </a:solidFill>
              </a:rPr>
              <a:t>diyalektik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materyalizm</a:t>
            </a:r>
            <a:r>
              <a:rPr lang="en-US" dirty="0" err="1">
                <a:solidFill>
                  <a:schemeClr val="tx1"/>
                </a:solidFill>
              </a:rPr>
              <a:t>dir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33512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87E0A88-8485-DB52-6630-B14C73350A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401216"/>
            <a:ext cx="10319656" cy="5647032"/>
          </a:xfrm>
        </p:spPr>
        <p:txBody>
          <a:bodyPr/>
          <a:lstStyle/>
          <a:p>
            <a:endParaRPr lang="tr-TR" sz="3600" b="0" i="0" u="none" strike="noStrike" baseline="0" dirty="0">
              <a:solidFill>
                <a:srgbClr val="000099"/>
              </a:solidFill>
              <a:latin typeface="Arial" panose="020B0604020202020204" pitchFamily="34" charset="0"/>
            </a:endParaRPr>
          </a:p>
          <a:p>
            <a:r>
              <a:rPr lang="en-US" sz="36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SINIF ÇATIŞMASI</a:t>
            </a:r>
            <a:endParaRPr lang="tr-TR" sz="36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36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•Her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toplumun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tarihi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sınıflar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çatışması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tarihidir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Örneğin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özgür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insan-köle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çatışması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usta-çırak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çatışması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ezen-ezilen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çatışması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bugünkü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haliyle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işçi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sınıfı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burjuva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sınıfı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çatışması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•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Marks’a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göre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her zaman her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yerde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ezen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ezilen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sınıf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vardır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Bu durum,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üretim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araçlarının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özel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mülkiyette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olduğu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toplumlarda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hiçbir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zaman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değişmeyecektir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15185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037886D-1497-1EB2-C594-FD88CB4C37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858416"/>
            <a:ext cx="10179697" cy="5189832"/>
          </a:xfrm>
        </p:spPr>
        <p:txBody>
          <a:bodyPr/>
          <a:lstStyle/>
          <a:p>
            <a:endParaRPr lang="tr-TR" dirty="0"/>
          </a:p>
          <a:p>
            <a:endParaRPr lang="tr-TR" dirty="0"/>
          </a:p>
          <a:p>
            <a:r>
              <a:rPr lang="tr-TR" dirty="0">
                <a:solidFill>
                  <a:schemeClr val="tx1"/>
                </a:solidFill>
              </a:rPr>
              <a:t>  </a:t>
            </a:r>
            <a:r>
              <a:rPr lang="en-US" b="1" dirty="0">
                <a:solidFill>
                  <a:schemeClr val="tx1"/>
                </a:solidFill>
              </a:rPr>
              <a:t>DEVLET</a:t>
            </a:r>
          </a:p>
          <a:p>
            <a:r>
              <a:rPr lang="en-US" dirty="0">
                <a:solidFill>
                  <a:schemeClr val="tx1"/>
                </a:solidFill>
              </a:rPr>
              <a:t>•Devlet </a:t>
            </a:r>
            <a:r>
              <a:rPr lang="en-US" dirty="0" err="1">
                <a:solidFill>
                  <a:schemeClr val="tx1"/>
                </a:solidFill>
              </a:rPr>
              <a:t>bir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sınıfın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diğeri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üzerindeki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örgütlenmiş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baskı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aracıdır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r>
              <a:rPr lang="en-US" dirty="0">
                <a:solidFill>
                  <a:schemeClr val="tx1"/>
                </a:solidFill>
              </a:rPr>
              <a:t>•</a:t>
            </a:r>
            <a:r>
              <a:rPr lang="en-US" dirty="0" err="1">
                <a:solidFill>
                  <a:schemeClr val="tx1"/>
                </a:solidFill>
              </a:rPr>
              <a:t>Devleti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elinde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bulunduran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sınıf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yoldan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egemenliğini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sürdürür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r>
              <a:rPr lang="en-US" dirty="0">
                <a:solidFill>
                  <a:schemeClr val="tx1"/>
                </a:solidFill>
              </a:rPr>
              <a:t>•Bu </a:t>
            </a:r>
            <a:r>
              <a:rPr lang="en-US" dirty="0" err="1">
                <a:solidFill>
                  <a:schemeClr val="tx1"/>
                </a:solidFill>
              </a:rPr>
              <a:t>sınıf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genelde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üretim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araçlarını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elinde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bulunduran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varlıklı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sınıftır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r>
              <a:rPr lang="en-US" dirty="0">
                <a:solidFill>
                  <a:schemeClr val="tx1"/>
                </a:solidFill>
              </a:rPr>
              <a:t>•Egemen </a:t>
            </a:r>
            <a:r>
              <a:rPr lang="en-US" dirty="0" err="1">
                <a:solidFill>
                  <a:schemeClr val="tx1"/>
                </a:solidFill>
              </a:rPr>
              <a:t>sınıf</a:t>
            </a:r>
            <a:r>
              <a:rPr lang="en-US" dirty="0">
                <a:solidFill>
                  <a:schemeClr val="tx1"/>
                </a:solidFill>
              </a:rPr>
              <a:t>, hem </a:t>
            </a:r>
            <a:r>
              <a:rPr lang="en-US" dirty="0" err="1">
                <a:solidFill>
                  <a:schemeClr val="tx1"/>
                </a:solidFill>
              </a:rPr>
              <a:t>varlıklı</a:t>
            </a:r>
            <a:r>
              <a:rPr lang="en-US" dirty="0">
                <a:solidFill>
                  <a:schemeClr val="tx1"/>
                </a:solidFill>
              </a:rPr>
              <a:t> hem de </a:t>
            </a:r>
            <a:r>
              <a:rPr lang="en-US" dirty="0" err="1">
                <a:solidFill>
                  <a:schemeClr val="tx1"/>
                </a:solidFill>
              </a:rPr>
              <a:t>devleti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elinde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tutan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yönetici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sınıftır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1417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0D0DB0E-7C08-ADD8-0CCA-392BD1F08D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438539"/>
            <a:ext cx="10440954" cy="5609709"/>
          </a:xfrm>
        </p:spPr>
        <p:txBody>
          <a:bodyPr/>
          <a:lstStyle/>
          <a:p>
            <a:endParaRPr lang="tr-TR" dirty="0"/>
          </a:p>
          <a:p>
            <a:r>
              <a:rPr lang="en-US" b="1" dirty="0" err="1"/>
              <a:t>Sosyalist</a:t>
            </a:r>
            <a:r>
              <a:rPr lang="en-US" b="1" dirty="0"/>
              <a:t> </a:t>
            </a:r>
            <a:r>
              <a:rPr lang="en-US" b="1" dirty="0" err="1"/>
              <a:t>Toplum</a:t>
            </a:r>
            <a:endParaRPr lang="tr-TR" b="1" dirty="0"/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•Marks </a:t>
            </a:r>
            <a:r>
              <a:rPr lang="en-US" dirty="0" err="1">
                <a:solidFill>
                  <a:schemeClr val="tx1"/>
                </a:solidFill>
              </a:rPr>
              <a:t>bu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durumu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ortadan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kaldırmak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için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üretim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araçlarını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toplumsallaştırmak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sosyalist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toplumu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kurmak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gereklidir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demiştir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tr-TR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•</a:t>
            </a:r>
            <a:r>
              <a:rPr lang="en-US" dirty="0" err="1">
                <a:solidFill>
                  <a:schemeClr val="tx1"/>
                </a:solidFill>
              </a:rPr>
              <a:t>Sosyalizmde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çalışabilir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durumdaki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herkes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çalışmak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zorunda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olacak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çalışmasıyla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doğru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orantılı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olarak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zenginlikten</a:t>
            </a:r>
            <a:r>
              <a:rPr lang="en-US" dirty="0">
                <a:solidFill>
                  <a:schemeClr val="tx1"/>
                </a:solidFill>
              </a:rPr>
              <a:t> pay </a:t>
            </a:r>
            <a:r>
              <a:rPr lang="en-US" dirty="0" err="1">
                <a:solidFill>
                  <a:schemeClr val="tx1"/>
                </a:solidFill>
              </a:rPr>
              <a:t>alacaktır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tr-TR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nb-NO" dirty="0">
                <a:solidFill>
                  <a:schemeClr val="tx1"/>
                </a:solidFill>
              </a:rPr>
              <a:t>•Sosyalizmin ilkesi: "</a:t>
            </a:r>
            <a:r>
              <a:rPr lang="nb-NO" b="1" i="1" dirty="0">
                <a:solidFill>
                  <a:schemeClr val="tx1"/>
                </a:solidFill>
              </a:rPr>
              <a:t>herkesten yeteneğine göre, herkese emeğine göre</a:t>
            </a:r>
            <a:r>
              <a:rPr lang="nb-NO" dirty="0">
                <a:solidFill>
                  <a:schemeClr val="tx1"/>
                </a:solidFill>
              </a:rPr>
              <a:t>“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69976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1848224-15C8-A101-7BDE-7B87E26940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615820"/>
            <a:ext cx="10618236" cy="5432428"/>
          </a:xfrm>
        </p:spPr>
        <p:txBody>
          <a:bodyPr/>
          <a:lstStyle/>
          <a:p>
            <a:r>
              <a:rPr lang="en-US" sz="4400" b="0" i="0" u="none" strike="noStrike" baseline="0" dirty="0" err="1">
                <a:solidFill>
                  <a:srgbClr val="000099"/>
                </a:solidFill>
                <a:latin typeface="Arial" panose="020B0604020202020204" pitchFamily="34" charset="0"/>
              </a:rPr>
              <a:t>Komünist</a:t>
            </a:r>
            <a:r>
              <a:rPr lang="en-US" sz="4400" b="0" i="0" u="none" strike="noStrike" baseline="0" dirty="0">
                <a:solidFill>
                  <a:srgbClr val="000099"/>
                </a:solidFill>
                <a:latin typeface="Arial" panose="020B0604020202020204" pitchFamily="34" charset="0"/>
              </a:rPr>
              <a:t> </a:t>
            </a:r>
            <a:r>
              <a:rPr lang="en-US" sz="4400" b="0" i="0" u="none" strike="noStrike" baseline="0" dirty="0" err="1">
                <a:solidFill>
                  <a:srgbClr val="000099"/>
                </a:solidFill>
                <a:latin typeface="Arial" panose="020B0604020202020204" pitchFamily="34" charset="0"/>
              </a:rPr>
              <a:t>Toplum</a:t>
            </a:r>
            <a:endParaRPr lang="en-US" sz="4400" b="0" i="0" u="none" strike="noStrike" baseline="0" dirty="0">
              <a:solidFill>
                <a:srgbClr val="000099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•Bu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aşamada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üretici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güçler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o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denli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gelişmiş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olacaktır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ki,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bunun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doğuracağı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muazzam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bolluk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sayesinde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çalışma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zorunluluk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olmaktan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çıkarak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artık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sadece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zevk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halini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alacaktır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•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İnsanlar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büyük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oranda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zamanlarını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enerjilerini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kendilerini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nesillerini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özgürce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geliştirmeye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daha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yüksek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arayışlara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adayacaklardır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•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İşte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ancak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aşamada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insanların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toplumdan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aldığının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ona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verdiğiyle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orantılı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olması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ilkesi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son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bulacak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insanlar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verdiği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emekten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bağımsız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olarak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tüm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ihtiyaçlarını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ondan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alabilecektir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Böylece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herkesten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yeteneğine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göre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herkese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ihtiyacına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göre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hedefi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yaşama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geçirilmiş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olacaktır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14360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9031EBE-880A-5F41-E7D4-A29C9967A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4564" y="233265"/>
            <a:ext cx="11355354" cy="5814983"/>
          </a:xfrm>
        </p:spPr>
        <p:txBody>
          <a:bodyPr/>
          <a:lstStyle/>
          <a:p>
            <a:endParaRPr lang="tr-TR" dirty="0"/>
          </a:p>
          <a:p>
            <a:r>
              <a:rPr lang="en-US" dirty="0" err="1"/>
              <a:t>Kapitalist</a:t>
            </a:r>
            <a:r>
              <a:rPr lang="en-US" dirty="0"/>
              <a:t>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Kanunları</a:t>
            </a:r>
            <a:endParaRPr lang="tr-TR" dirty="0"/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•</a:t>
            </a:r>
            <a:r>
              <a:rPr lang="en-US" dirty="0" err="1">
                <a:solidFill>
                  <a:schemeClr val="tx1"/>
                </a:solidFill>
              </a:rPr>
              <a:t>Kapitalist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sistemin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Marx`a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göre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iki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hareket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kanunu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bulunmaktadır</a:t>
            </a:r>
            <a:r>
              <a:rPr lang="en-US" dirty="0">
                <a:solidFill>
                  <a:schemeClr val="tx1"/>
                </a:solidFill>
              </a:rPr>
              <a:t>. Bu </a:t>
            </a:r>
            <a:r>
              <a:rPr lang="en-US" dirty="0" err="1">
                <a:solidFill>
                  <a:schemeClr val="tx1"/>
                </a:solidFill>
              </a:rPr>
              <a:t>iki</a:t>
            </a:r>
            <a:r>
              <a:rPr lang="en-US" dirty="0">
                <a:solidFill>
                  <a:schemeClr val="tx1"/>
                </a:solidFill>
              </a:rPr>
              <a:t> kanun </a:t>
            </a:r>
            <a:r>
              <a:rPr lang="en-US" dirty="0" err="1">
                <a:solidFill>
                  <a:schemeClr val="tx1"/>
                </a:solidFill>
              </a:rPr>
              <a:t>kapitalizm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içindeki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sınıf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çatışmasının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gittikçe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şiddetlenmesine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sebep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olacaktır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1. </a:t>
            </a:r>
            <a:r>
              <a:rPr lang="en-US" b="1" dirty="0" err="1">
                <a:solidFill>
                  <a:schemeClr val="tx1"/>
                </a:solidFill>
              </a:rPr>
              <a:t>Sermayenin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birikmesi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ve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belirli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ellerde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toplanması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 err="1">
                <a:solidFill>
                  <a:schemeClr val="tx1"/>
                </a:solidFill>
              </a:rPr>
              <a:t>Fabrika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üretiminin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yani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büyük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işletmelerin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küçük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işletmeleri</a:t>
            </a:r>
            <a:r>
              <a:rPr lang="en-US" dirty="0">
                <a:solidFill>
                  <a:schemeClr val="tx1"/>
                </a:solidFill>
              </a:rPr>
              <a:t> yok </a:t>
            </a:r>
            <a:r>
              <a:rPr lang="en-US" dirty="0" err="1">
                <a:solidFill>
                  <a:schemeClr val="tx1"/>
                </a:solidFill>
              </a:rPr>
              <a:t>etmeleri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sonucunda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ortaya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çıkacaktır</a:t>
            </a:r>
            <a:r>
              <a:rPr lang="en-US" dirty="0">
                <a:solidFill>
                  <a:schemeClr val="tx1"/>
                </a:solidFill>
              </a:rPr>
              <a:t>. Daha </a:t>
            </a:r>
            <a:r>
              <a:rPr lang="en-US" dirty="0" err="1">
                <a:solidFill>
                  <a:schemeClr val="tx1"/>
                </a:solidFill>
              </a:rPr>
              <a:t>sonra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güçlü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büyük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şirketin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kalacağı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bir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mücadele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başlayacak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sermaye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tamamıyla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merkezileşecektir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8374695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6E12944-0EEF-287F-035E-32F7271FB3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6396" y="279919"/>
            <a:ext cx="10310326" cy="5581717"/>
          </a:xfrm>
        </p:spPr>
        <p:txBody>
          <a:bodyPr/>
          <a:lstStyle/>
          <a:p>
            <a:endParaRPr lang="tr-TR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2. </a:t>
            </a:r>
            <a:r>
              <a:rPr lang="en-US" b="1" dirty="0" err="1">
                <a:solidFill>
                  <a:schemeClr val="tx1"/>
                </a:solidFill>
              </a:rPr>
              <a:t>Sefilleştirme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kanunu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 err="1">
                <a:solidFill>
                  <a:schemeClr val="tx1"/>
                </a:solidFill>
              </a:rPr>
              <a:t>İş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basitleştikçe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insan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emeği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yerine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makineler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geçtikçe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acemi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işçiler</a:t>
            </a:r>
            <a:r>
              <a:rPr lang="en-US" dirty="0">
                <a:solidFill>
                  <a:schemeClr val="tx1"/>
                </a:solidFill>
              </a:rPr>
              <a:t> de her </a:t>
            </a:r>
            <a:r>
              <a:rPr lang="en-US" dirty="0" err="1">
                <a:solidFill>
                  <a:schemeClr val="tx1"/>
                </a:solidFill>
              </a:rPr>
              <a:t>tür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işi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yapabilecek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duruma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gelecek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ücretler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düşecektir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r>
              <a:rPr lang="en-US" dirty="0">
                <a:solidFill>
                  <a:schemeClr val="tx1"/>
                </a:solidFill>
              </a:rPr>
              <a:t>•</a:t>
            </a:r>
            <a:r>
              <a:rPr lang="en-US" b="1" dirty="0" err="1">
                <a:solidFill>
                  <a:schemeClr val="tx1"/>
                </a:solidFill>
              </a:rPr>
              <a:t>Bunların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sonucunda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toplum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kapitalistler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ve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işçiler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olarak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kutuplaşacaktır</a:t>
            </a:r>
            <a:r>
              <a:rPr lang="en-US" b="1" dirty="0">
                <a:solidFill>
                  <a:schemeClr val="tx1"/>
                </a:solidFill>
              </a:rPr>
              <a:t>. Bu </a:t>
            </a:r>
            <a:r>
              <a:rPr lang="en-US" b="1" dirty="0" err="1">
                <a:solidFill>
                  <a:schemeClr val="tx1"/>
                </a:solidFill>
              </a:rPr>
              <a:t>sınıflar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arasındaki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çatışma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sonunda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işçi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sınıfı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ayaklanacak</a:t>
            </a:r>
            <a:r>
              <a:rPr lang="en-US" b="1" dirty="0">
                <a:solidFill>
                  <a:schemeClr val="tx1"/>
                </a:solidFill>
              </a:rPr>
              <a:t>, </a:t>
            </a:r>
            <a:r>
              <a:rPr lang="en-US" b="1" dirty="0" err="1">
                <a:solidFill>
                  <a:schemeClr val="tx1"/>
                </a:solidFill>
              </a:rPr>
              <a:t>üretim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araçlarını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ele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geçireceklerdir</a:t>
            </a:r>
            <a:r>
              <a:rPr lang="en-US" b="1" dirty="0">
                <a:solidFill>
                  <a:schemeClr val="tx1"/>
                </a:solidFill>
              </a:rPr>
              <a:t>. Bu </a:t>
            </a:r>
            <a:r>
              <a:rPr lang="en-US" b="1" dirty="0" err="1">
                <a:solidFill>
                  <a:schemeClr val="tx1"/>
                </a:solidFill>
              </a:rPr>
              <a:t>devrim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sonunda</a:t>
            </a:r>
            <a:r>
              <a:rPr lang="en-US" b="1" dirty="0">
                <a:solidFill>
                  <a:schemeClr val="tx1"/>
                </a:solidFill>
              </a:rPr>
              <a:t>, </a:t>
            </a:r>
            <a:r>
              <a:rPr lang="en-US" b="1" dirty="0" err="1">
                <a:solidFill>
                  <a:schemeClr val="tx1"/>
                </a:solidFill>
              </a:rPr>
              <a:t>sınıfsız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toplum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hedefi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gerçekleşecektir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70912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01A139-5235-1723-0F3B-59DE3DDF82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438539"/>
            <a:ext cx="10179697" cy="5609709"/>
          </a:xfrm>
        </p:spPr>
        <p:txBody>
          <a:bodyPr/>
          <a:lstStyle/>
          <a:p>
            <a:endParaRPr lang="tr-TR" dirty="0"/>
          </a:p>
          <a:p>
            <a:r>
              <a:rPr lang="tr-TR" dirty="0"/>
              <a:t>  </a:t>
            </a:r>
            <a:r>
              <a:rPr lang="en-US" dirty="0" err="1"/>
              <a:t>Kapitalizmin</a:t>
            </a:r>
            <a:r>
              <a:rPr lang="en-US" dirty="0"/>
              <a:t> Kaderi</a:t>
            </a:r>
          </a:p>
          <a:p>
            <a:r>
              <a:rPr lang="en-US" dirty="0"/>
              <a:t>•</a:t>
            </a:r>
            <a:r>
              <a:rPr lang="en-US" dirty="0" err="1"/>
              <a:t>Marx'a</a:t>
            </a:r>
            <a:r>
              <a:rPr lang="en-US" dirty="0"/>
              <a:t> </a:t>
            </a:r>
            <a:r>
              <a:rPr lang="en-US" dirty="0" err="1"/>
              <a:t>göre</a:t>
            </a:r>
            <a:r>
              <a:rPr lang="en-US" dirty="0"/>
              <a:t>, </a:t>
            </a:r>
            <a:r>
              <a:rPr lang="en-US" dirty="0" err="1"/>
              <a:t>kapitalizmin</a:t>
            </a:r>
            <a:r>
              <a:rPr lang="en-US" dirty="0"/>
              <a:t> </a:t>
            </a:r>
            <a:r>
              <a:rPr lang="en-US" dirty="0" err="1"/>
              <a:t>kaçamayacağı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kaderi</a:t>
            </a:r>
            <a:r>
              <a:rPr lang="en-US" dirty="0"/>
              <a:t> </a:t>
            </a:r>
            <a:r>
              <a:rPr lang="en-US" dirty="0" err="1"/>
              <a:t>vardır</a:t>
            </a:r>
            <a:r>
              <a:rPr lang="en-US" dirty="0"/>
              <a:t>. </a:t>
            </a:r>
            <a:r>
              <a:rPr lang="en-US" dirty="0" err="1"/>
              <a:t>Kapitalizmde</a:t>
            </a:r>
            <a:r>
              <a:rPr lang="en-US" dirty="0"/>
              <a:t> </a:t>
            </a:r>
            <a:r>
              <a:rPr lang="en-US" dirty="0" err="1"/>
              <a:t>işçi</a:t>
            </a:r>
            <a:r>
              <a:rPr lang="en-US" dirty="0"/>
              <a:t> </a:t>
            </a:r>
            <a:r>
              <a:rPr lang="en-US" dirty="0" err="1"/>
              <a:t>sınıfı</a:t>
            </a:r>
            <a:r>
              <a:rPr lang="en-US" dirty="0"/>
              <a:t> </a:t>
            </a:r>
            <a:r>
              <a:rPr lang="en-US" dirty="0" err="1"/>
              <a:t>mensuplarının</a:t>
            </a:r>
            <a:r>
              <a:rPr lang="en-US" dirty="0"/>
              <a:t> </a:t>
            </a:r>
            <a:r>
              <a:rPr lang="en-US" dirty="0" err="1"/>
              <a:t>sayısı</a:t>
            </a:r>
            <a:r>
              <a:rPr lang="en-US" dirty="0"/>
              <a:t> </a:t>
            </a:r>
            <a:r>
              <a:rPr lang="en-US" dirty="0" err="1"/>
              <a:t>artacak</a:t>
            </a:r>
            <a:r>
              <a:rPr lang="en-US" dirty="0"/>
              <a:t>, </a:t>
            </a:r>
            <a:r>
              <a:rPr lang="en-US" dirty="0" err="1"/>
              <a:t>hayat</a:t>
            </a:r>
            <a:r>
              <a:rPr lang="en-US" dirty="0"/>
              <a:t> </a:t>
            </a:r>
            <a:r>
              <a:rPr lang="en-US" dirty="0" err="1"/>
              <a:t>şartları</a:t>
            </a:r>
            <a:r>
              <a:rPr lang="en-US" dirty="0"/>
              <a:t> </a:t>
            </a:r>
            <a:r>
              <a:rPr lang="en-US" dirty="0" err="1"/>
              <a:t>kötüleşecektir</a:t>
            </a:r>
            <a:r>
              <a:rPr lang="en-US" dirty="0"/>
              <a:t>; </a:t>
            </a:r>
          </a:p>
          <a:p>
            <a:r>
              <a:rPr lang="en-US" dirty="0"/>
              <a:t>•Bu durum </a:t>
            </a:r>
            <a:r>
              <a:rPr lang="en-US" dirty="0" err="1"/>
              <a:t>kapitalizmi</a:t>
            </a:r>
            <a:r>
              <a:rPr lang="en-US" dirty="0"/>
              <a:t> </a:t>
            </a:r>
            <a:r>
              <a:rPr lang="en-US" dirty="0" err="1"/>
              <a:t>kaçınılmaz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çöküşe</a:t>
            </a:r>
            <a:r>
              <a:rPr lang="en-US" dirty="0"/>
              <a:t> </a:t>
            </a:r>
            <a:r>
              <a:rPr lang="en-US" dirty="0" err="1"/>
              <a:t>sürükleyecek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çöküş</a:t>
            </a:r>
            <a:r>
              <a:rPr lang="en-US" dirty="0"/>
              <a:t> </a:t>
            </a:r>
            <a:r>
              <a:rPr lang="en-US" dirty="0" err="1"/>
              <a:t>insanlığın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ileri</a:t>
            </a:r>
            <a:r>
              <a:rPr lang="en-US" dirty="0"/>
              <a:t> </a:t>
            </a:r>
            <a:r>
              <a:rPr lang="en-US" dirty="0" err="1"/>
              <a:t>aşamalara</a:t>
            </a:r>
            <a:r>
              <a:rPr lang="en-US" dirty="0"/>
              <a:t> </a:t>
            </a:r>
            <a:r>
              <a:rPr lang="en-US" dirty="0" err="1"/>
              <a:t>ulaşmasının</a:t>
            </a:r>
            <a:r>
              <a:rPr lang="en-US" dirty="0"/>
              <a:t> </a:t>
            </a:r>
            <a:r>
              <a:rPr lang="en-US" dirty="0" err="1"/>
              <a:t>yolunu</a:t>
            </a:r>
            <a:r>
              <a:rPr lang="en-US" dirty="0"/>
              <a:t> </a:t>
            </a:r>
            <a:r>
              <a:rPr lang="en-US" dirty="0" err="1"/>
              <a:t>açacaktır</a:t>
            </a:r>
            <a:r>
              <a:rPr lang="en-US" dirty="0"/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82459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6A61D70-95DB-3CD1-6C50-2560210382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419877"/>
            <a:ext cx="9965093" cy="6186195"/>
          </a:xfrm>
        </p:spPr>
        <p:txBody>
          <a:bodyPr/>
          <a:lstStyle/>
          <a:p>
            <a:r>
              <a:rPr lang="tr-TR" dirty="0">
                <a:solidFill>
                  <a:schemeClr val="tx1"/>
                </a:solidFill>
                <a:latin typeface="Arial" panose="020B0604020202020204" pitchFamily="34" charset="0"/>
              </a:rPr>
              <a:t>			</a:t>
            </a:r>
          </a:p>
          <a:p>
            <a:r>
              <a:rPr lang="tr-TR" sz="32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		   </a:t>
            </a:r>
            <a:r>
              <a:rPr lang="en-US" sz="32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MAX WEBER (1864-1920) </a:t>
            </a:r>
            <a:endParaRPr lang="tr-TR" sz="3200" b="1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tr-TR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4D8290-4407-382A-BDA8-86C11E0FF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995" y="1438927"/>
            <a:ext cx="7193902" cy="4609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792526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F838235-39E7-8DE2-81B5-F2BEA618BE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91886"/>
            <a:ext cx="9918440" cy="5656362"/>
          </a:xfrm>
        </p:spPr>
        <p:txBody>
          <a:bodyPr>
            <a:normAutofit/>
          </a:bodyPr>
          <a:lstStyle/>
          <a:p>
            <a:r>
              <a:rPr lang="en-US" sz="4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MAX WEBER (1864-1920) </a:t>
            </a:r>
          </a:p>
          <a:p>
            <a:r>
              <a:rPr lang="en-US" sz="20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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Bir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bilim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olarak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sosyolojinin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genel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kavramsal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çerçevesini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çizmiştir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r>
              <a:rPr lang="en-US" sz="20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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Modern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toplumun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temel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özelliklerini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belirlemiştir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r>
              <a:rPr lang="en-US" sz="20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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Dünya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dinlerini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antik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toplumları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ekonomi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tarihini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hukuk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müzik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sosyolojisini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kapsayan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araştırmalar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yapmıştır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  <a:p>
            <a:r>
              <a:rPr lang="en-US" sz="20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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Bu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özelliklerinden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dolayı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Weber,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Durkheimile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birlikte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modern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sosyolojinin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kurucularından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kabul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edilir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979360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5EEC9C7-26B8-1CFB-73A1-ECE7DD9FAE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522514"/>
            <a:ext cx="9797142" cy="5525734"/>
          </a:xfrm>
        </p:spPr>
        <p:txBody>
          <a:bodyPr/>
          <a:lstStyle/>
          <a:p>
            <a:pPr algn="l"/>
            <a:endParaRPr lang="en-US" sz="105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Kant, Hegel,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Dilthey’denetkilenmiştir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r>
              <a:rPr lang="en-US" sz="20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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Weber’insosyolojisi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hem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evrimci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pozitivizmin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hem de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belirli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yönleri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ile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Marksizm’in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eleştirisine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dayanır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  <a:p>
            <a:r>
              <a:rPr lang="en-US" sz="20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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Weberde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toplumsal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değişme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nedenleri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ile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ilgilenmiş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insanların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değerleri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düşünceleri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inançları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üzerinde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durmuştur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105127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AE2173D-2799-69A3-D3C9-5BC0D83E3F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9918" y="326571"/>
            <a:ext cx="10403633" cy="5721677"/>
          </a:xfrm>
        </p:spPr>
        <p:txBody>
          <a:bodyPr/>
          <a:lstStyle/>
          <a:p>
            <a:endParaRPr lang="tr-TR" sz="36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36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Toplumsal</a:t>
            </a:r>
            <a:r>
              <a:rPr lang="en-US" sz="36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Eylem</a:t>
            </a:r>
          </a:p>
          <a:p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Weber’egöre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sosyolojinin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görevi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toplumsal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eylem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hareketleri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sebep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–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sonuç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ilişkileri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açısından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açıklamaktır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0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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eylem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tarihi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bulguları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kullanma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yolu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ile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zihinsel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olarak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kurulan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ideal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tipler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aracılığı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ile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incelenmelidir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977599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D1FF77B-3C22-FEAF-4B72-4B14951846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878" y="429209"/>
            <a:ext cx="9116007" cy="6074228"/>
          </a:xfrm>
        </p:spPr>
        <p:txBody>
          <a:bodyPr/>
          <a:lstStyle/>
          <a:p>
            <a:r>
              <a:rPr lang="en-US" sz="4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Pozitivizm</a:t>
            </a:r>
            <a:r>
              <a:rPr lang="en-US" sz="40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40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Eleştirisi</a:t>
            </a:r>
            <a:endParaRPr lang="en-US" sz="40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0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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“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Fiziksel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bilimlerin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konusu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olan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doğa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zihnin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faaliyetlerinden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bağımsız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biçimde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doğmuş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olan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gerçekliği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kucaklar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İnsanın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aktif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olarak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kendi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damgasını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vurduğu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her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şey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insani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incelemelerin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konusunu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oluşturur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İnsani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bilimlerin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gerçek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yöntemleri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anlama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ile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yorumlamadır</a:t>
            </a:r>
            <a:r>
              <a:rPr lang="en-US" sz="24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(HERMENEUTİK)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.” (D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ilthey)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99945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C23442B-5879-6916-6AC4-2B6C66153D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279918"/>
            <a:ext cx="10496938" cy="5768330"/>
          </a:xfrm>
        </p:spPr>
        <p:txBody>
          <a:bodyPr/>
          <a:lstStyle/>
          <a:p>
            <a:pPr algn="l"/>
            <a:endParaRPr lang="en-US" sz="900" b="0" i="0" u="none" strike="noStrike" baseline="0" dirty="0">
              <a:solidFill>
                <a:srgbClr val="000000"/>
              </a:solidFill>
              <a:latin typeface="Wingdings" panose="05000000000000000000" pitchFamily="2" charset="2"/>
            </a:endParaRPr>
          </a:p>
          <a:p>
            <a:r>
              <a:rPr lang="tr-TR" sz="4000" dirty="0">
                <a:solidFill>
                  <a:schemeClr val="tx1"/>
                </a:solidFill>
                <a:latin typeface="Times New Roman" panose="02020603050405020304" pitchFamily="18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4000" b="1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Öyleyse</a:t>
            </a:r>
            <a:r>
              <a:rPr lang="en-US" sz="4000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4000" b="1" i="0" u="none" strike="noStrike" baseline="0" dirty="0" err="1">
                <a:solidFill>
                  <a:schemeClr val="tx1"/>
                </a:solidFill>
                <a:latin typeface="Times New Roman" panose="02020603050405020304" pitchFamily="18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sosyoloji</a:t>
            </a:r>
            <a:r>
              <a:rPr lang="en-US" sz="4000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 </a:t>
            </a:r>
          </a:p>
          <a:p>
            <a:r>
              <a:rPr lang="en-US" sz="240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“</a:t>
            </a:r>
            <a:r>
              <a:rPr lang="en-US" sz="240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doğa</a:t>
            </a:r>
            <a:r>
              <a:rPr lang="en-US" sz="240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bilimlerininkine</a:t>
            </a:r>
            <a:r>
              <a:rPr lang="en-US" sz="240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benzer</a:t>
            </a:r>
            <a:r>
              <a:rPr lang="en-US" sz="240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genel</a:t>
            </a:r>
            <a:r>
              <a:rPr lang="en-US" sz="240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geçer</a:t>
            </a:r>
            <a:r>
              <a:rPr lang="en-US" sz="240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yasalara</a:t>
            </a:r>
            <a:r>
              <a:rPr lang="en-US" sz="240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ulaşamaz</a:t>
            </a:r>
            <a:r>
              <a:rPr lang="en-US" sz="240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insan</a:t>
            </a:r>
            <a:r>
              <a:rPr lang="en-US" sz="240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toplumları</a:t>
            </a:r>
            <a:r>
              <a:rPr lang="en-US" sz="240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söz</a:t>
            </a:r>
            <a:r>
              <a:rPr lang="en-US" sz="240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konusu</a:t>
            </a:r>
            <a:r>
              <a:rPr lang="en-US" sz="240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olduğunda</a:t>
            </a:r>
            <a:r>
              <a:rPr lang="en-US" sz="240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evrim</a:t>
            </a:r>
            <a:r>
              <a:rPr lang="en-US" sz="240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niteliği</a:t>
            </a:r>
            <a:r>
              <a:rPr lang="en-US" sz="240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taşıyan</a:t>
            </a:r>
            <a:r>
              <a:rPr lang="en-US" sz="240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gelişmeyi</a:t>
            </a:r>
            <a:r>
              <a:rPr lang="en-US" sz="240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doğrulayıp</a:t>
            </a:r>
            <a:r>
              <a:rPr lang="en-US" sz="240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temellendiremez</a:t>
            </a:r>
            <a:r>
              <a:rPr lang="en-US" sz="240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”.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4338043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F743C4D-6838-31D6-2577-C7C07C1D21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251927"/>
            <a:ext cx="10580913" cy="5796321"/>
          </a:xfrm>
        </p:spPr>
        <p:txBody>
          <a:bodyPr/>
          <a:lstStyle/>
          <a:p>
            <a:pPr algn="l"/>
            <a:endParaRPr lang="en-US" sz="105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Toplumun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belirleyici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unsurları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sürekli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yinelenen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yasa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benzeri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süreçler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değil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insan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özerkliği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özgürlüğüdür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r>
              <a:rPr lang="en-US" sz="20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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Bireylerin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eylemlerinden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bağımsız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kendi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başına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var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diye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şey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yoktur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r>
              <a:rPr lang="en-US" sz="20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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Bu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nedenle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doğa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bilimlerinin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yöntemleri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kültürel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incelemeler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açısından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uygun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değildir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80698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F6C7D51-530B-6301-AA3F-05533618AC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279918"/>
            <a:ext cx="9629191" cy="5768330"/>
          </a:xfrm>
        </p:spPr>
        <p:txBody>
          <a:bodyPr/>
          <a:lstStyle/>
          <a:p>
            <a:r>
              <a:rPr lang="en-US" sz="36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Yorumlayıcı</a:t>
            </a:r>
            <a:r>
              <a:rPr lang="en-US" sz="36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36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Sosyoloji</a:t>
            </a:r>
            <a:r>
              <a:rPr lang="en-US" sz="36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36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Yaklaşımı</a:t>
            </a:r>
            <a:endParaRPr lang="en-US" sz="36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0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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Weber’e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göre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;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sosyologlar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yalnızca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dinamiklerin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birbirlerini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nasıl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etkilediğini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değil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;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aynı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zamanda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olayların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insanlar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için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taşıdığı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anlamları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araştırmalıdır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***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Örneğin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dünya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insanlar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için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ne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ifade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etmektedir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? </a:t>
            </a:r>
          </a:p>
          <a:p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İnsanlar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dünyayı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nasıl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tanımlamaktadır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?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1766550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E5C7997-EA6E-1517-E749-5884B58E7F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07910"/>
            <a:ext cx="9769150" cy="5740338"/>
          </a:xfrm>
        </p:spPr>
        <p:txBody>
          <a:bodyPr/>
          <a:lstStyle/>
          <a:p>
            <a:pPr algn="l"/>
            <a:endParaRPr lang="en-US" sz="105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Sosyoloji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kavrayıcı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olmalı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yani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davranışların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anlamını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araştırmalı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yorumlamalıdır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0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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Örneğin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dinin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olayları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özellikle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de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ekonomiyi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nasıl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etkilediği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bürokrasinin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nasıl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hangi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ölçüde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şekillendirdiği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gibi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720504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8104FA8-1BA0-D6BC-3DEB-1B2350FC2C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186611"/>
            <a:ext cx="9498562" cy="6419461"/>
          </a:xfrm>
        </p:spPr>
        <p:txBody>
          <a:bodyPr/>
          <a:lstStyle/>
          <a:p>
            <a:pPr algn="l"/>
            <a:endParaRPr lang="en-US" sz="105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Weber,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bireylerin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eylemleri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bunların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içerdiği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anlamlar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üzerine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kurulu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sosyoloji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anlayışını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benimser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0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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Davranışların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perde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arkasını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kültürel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öğelere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bağlayarak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psikolojiyle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sosyolojiyi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birleştirmek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ister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06407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B1E3E8-4E07-E6BA-0CDA-40909FF09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382555"/>
            <a:ext cx="9442579" cy="5665693"/>
          </a:xfrm>
        </p:spPr>
        <p:txBody>
          <a:bodyPr/>
          <a:lstStyle/>
          <a:p>
            <a:r>
              <a:rPr lang="en-US" sz="36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Marksizmin</a:t>
            </a:r>
            <a:r>
              <a:rPr lang="en-US" sz="36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36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Eleştirisi</a:t>
            </a:r>
            <a:endParaRPr lang="en-US" sz="36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0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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Marksizm’e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göre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bütünüyle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üretim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tarzının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gelişme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yasalarının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egemen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olduğu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sistemdir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  <a:p>
            <a:r>
              <a:rPr lang="en-US" sz="20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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İnsan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özneler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kurucu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rol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oynamadıkları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gibi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tarihsel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evrim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geçiren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bütünün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pasif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nesneleridir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r>
              <a:rPr lang="en-US" sz="20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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Maddi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dünya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insan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düşüncesini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davranışını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belirler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21289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94162B4-E413-440F-3F96-FACAC3256E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261257"/>
            <a:ext cx="9116007" cy="5786991"/>
          </a:xfrm>
        </p:spPr>
        <p:txBody>
          <a:bodyPr/>
          <a:lstStyle/>
          <a:p>
            <a:pPr algn="l"/>
            <a:endParaRPr lang="en-US" sz="105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Weber,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insan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ilişkilerini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belirleyen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nedenlerin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yalnızca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ekonomik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çıkarlar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olmadığını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insanları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birbirine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bağlayan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gerçek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bağların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da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ekonomik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kökenli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olmadığını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savunur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  <a:p>
            <a:r>
              <a:rPr lang="en-US" sz="20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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Bu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yaklaşımıyla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tarihin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materyalist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açıklamasını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reddeder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Sınıf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çatışmalarına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Marx’ınverdiği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önemi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vermez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Ekonomik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gerçekler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önemlidir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fakat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fikir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değerler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daha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da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önemlidir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026957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A7AEBC6-7C82-09D2-55B6-3AE796C956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5110" y="354563"/>
            <a:ext cx="10683551" cy="5693685"/>
          </a:xfrm>
        </p:spPr>
        <p:txBody>
          <a:bodyPr/>
          <a:lstStyle/>
          <a:p>
            <a:pPr algn="l"/>
            <a:endParaRPr lang="en-US" sz="105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Weberbu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yöntemsel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yaklaşımı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ile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kapitalizmin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ortaya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çıkışını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da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açıklamıştır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“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Protestan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Ahlakı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1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Kapitalizmin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Ruhu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”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adlı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eserinde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dinsel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değerlerin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toplumsal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gelişmedeki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rolünügöstermiştir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r>
              <a:rPr lang="en-US" sz="20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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Kapitalizmi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doğuran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tek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neden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sosyal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sınıflar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arasındaki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ilişki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değildir.16.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17.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Yüzyıl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Avrupa’sında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kapitalizmin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ortaya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çıkışı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maddi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koşullara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ek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olarak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değer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tutumlar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dizisinin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de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etkisinde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olmuştur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907781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D8EAA8-F843-0EA9-6054-9B594B7B03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298580"/>
            <a:ext cx="9694505" cy="5749668"/>
          </a:xfrm>
        </p:spPr>
        <p:txBody>
          <a:bodyPr/>
          <a:lstStyle/>
          <a:p>
            <a:pPr algn="l"/>
            <a:endParaRPr lang="en-US" sz="105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tr-TR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tr-TR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Protestan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Ahlakı’nınkaynağının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Calvinistteoloji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olduğunu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saptamış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Calvin’inAsetizmöğretisini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çözümlemeye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çalışmıştır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850059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122BA64-A11C-0A15-B5E2-6DC03E9E6D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419878"/>
            <a:ext cx="9517223" cy="5628370"/>
          </a:xfrm>
        </p:spPr>
        <p:txBody>
          <a:bodyPr/>
          <a:lstStyle/>
          <a:p>
            <a:r>
              <a:rPr lang="en-US" sz="36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Asetizmöğretisinin</a:t>
            </a:r>
            <a:r>
              <a:rPr lang="en-US" sz="36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36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ilkeleri</a:t>
            </a:r>
            <a:endParaRPr lang="en-US" sz="3600" b="0" i="0" u="none" strike="noStrike" baseline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Tanrının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sevdiği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kul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olmak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için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şunlara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dikkat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etmek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gerekir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1. En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büyük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günah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veya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insan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onuruna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yakışmayan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büyük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davranış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insanın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vaktini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boşa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harcamasıdır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İnsanın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durmadan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çalışması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üretmesi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gerekir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2.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İnsan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ürettiklerini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har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vurup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harman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savurmamalı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çok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basit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sade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yaşam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geçirmelidir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Tüketimden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arta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kalanı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tasarruf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etmelidir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3.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Tasarruflar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yatırıma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dönüştürülmelidir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9081771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EE409F1-C1C3-0A78-E0B7-C154DA82BB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335902"/>
            <a:ext cx="10273003" cy="5712346"/>
          </a:xfrm>
        </p:spPr>
        <p:txBody>
          <a:bodyPr/>
          <a:lstStyle/>
          <a:p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Bu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çerçevede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Weber’egöre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; </a:t>
            </a:r>
          </a:p>
          <a:p>
            <a:r>
              <a:rPr lang="en-US" sz="20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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Asetizminbu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öğretilerini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birleştirince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girişimci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tanımı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ortaya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çıkmaktadır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r>
              <a:rPr lang="en-US" sz="20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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Protestan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ahlakını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Asetizmöğretisini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benimseyen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toplumlar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hızlı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gelişme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içine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girmişlerdir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  <a:p>
            <a:r>
              <a:rPr lang="en-US" sz="2000" b="0" i="0" u="none" strike="noStrike" baseline="0" dirty="0">
                <a:solidFill>
                  <a:schemeClr val="tx1"/>
                </a:solidFill>
                <a:latin typeface="Wingdings" panose="05000000000000000000" pitchFamily="2" charset="2"/>
              </a:rPr>
              <a:t>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Almanya’da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katolikve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protestanmezheplerini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kabul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eden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bölgeler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karşılaştırıldığında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büyük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gelişme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farkları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saptanabilir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Örneğin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katolikliğinyaygın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olduğu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Fransa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Almanya’dan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daha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geri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</a:rPr>
              <a:t>kalmıştır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2750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{0AA17D3B-7116-4E3C-B18B-DE400B654FB6}TF8a9b5915-b8c7-461e-8cdd-693d48b5e32371f7b7e2_win32-4bf0b9a2ea37</Template>
  <TotalTime>957</TotalTime>
  <Words>6230</Words>
  <Application>Microsoft Office PowerPoint</Application>
  <PresentationFormat>Widescreen</PresentationFormat>
  <Paragraphs>720</Paragraphs>
  <Slides>132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132</vt:i4>
      </vt:variant>
    </vt:vector>
  </HeadingPairs>
  <TitlesOfParts>
    <vt:vector size="141" baseType="lpstr">
      <vt:lpstr>Arial</vt:lpstr>
      <vt:lpstr>Arial Black</vt:lpstr>
      <vt:lpstr>Calibri</vt:lpstr>
      <vt:lpstr>Constantia</vt:lpstr>
      <vt:lpstr>Sabon Next LT</vt:lpstr>
      <vt:lpstr>Times New Roman</vt:lpstr>
      <vt:lpstr>Verdana</vt:lpstr>
      <vt:lpstr>Wingdings</vt:lpstr>
      <vt:lpstr>Custom</vt:lpstr>
      <vt:lpstr>   Klasik Sosyoloklar (Sosyoloji'nin Fikirbabaları) </vt:lpstr>
      <vt:lpstr>PowerPoint Presentation</vt:lpstr>
      <vt:lpstr>Sosyolojinin ilk fikir babaları,   Doğa bilimlerinin kendi alanlarında göstermiş oldukları başarıları örnek almak ve , doğa bilimsel yöntemleri topluma uygulayarak, topluma çeki düzen vermek amacındadır (pozitivist yaklaşım).  </vt:lpstr>
      <vt:lpstr>Auguste COMTE (1798-1857)</vt:lpstr>
      <vt:lpstr>Temel amacı;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SOLYALI TURİZM VE SEYHAT ACENTASI</dc:creator>
  <cp:lastModifiedBy>SOLYALI TURİZM VE SEYHAT ACENTASI</cp:lastModifiedBy>
  <cp:revision>15</cp:revision>
  <dcterms:created xsi:type="dcterms:W3CDTF">2025-10-18T19:52:40Z</dcterms:created>
  <dcterms:modified xsi:type="dcterms:W3CDTF">2025-10-21T10:19:38Z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